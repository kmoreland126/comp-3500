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270" r:id="rId3"/>
    <p:sldId id="335" r:id="rId4"/>
    <p:sldId id="500" r:id="rId5"/>
    <p:sldId id="507" r:id="rId6"/>
    <p:sldId id="518" r:id="rId7"/>
    <p:sldId id="509" r:id="rId8"/>
    <p:sldId id="510" r:id="rId9"/>
    <p:sldId id="520" r:id="rId10"/>
    <p:sldId id="522" r:id="rId11"/>
    <p:sldId id="512" r:id="rId12"/>
    <p:sldId id="521" r:id="rId13"/>
    <p:sldId id="523" r:id="rId14"/>
    <p:sldId id="524" r:id="rId15"/>
    <p:sldId id="525" r:id="rId16"/>
    <p:sldId id="527" r:id="rId17"/>
    <p:sldId id="513" r:id="rId18"/>
    <p:sldId id="514" r:id="rId19"/>
    <p:sldId id="515" r:id="rId20"/>
    <p:sldId id="516" r:id="rId21"/>
    <p:sldId id="526" r:id="rId22"/>
    <p:sldId id="487" r:id="rId23"/>
    <p:sldId id="488" r:id="rId24"/>
    <p:sldId id="489" r:id="rId25"/>
    <p:sldId id="490" r:id="rId26"/>
    <p:sldId id="491" r:id="rId27"/>
    <p:sldId id="492" r:id="rId28"/>
    <p:sldId id="493" r:id="rId29"/>
    <p:sldId id="494" r:id="rId30"/>
    <p:sldId id="468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F1F4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22266"/>
    <p:restoredTop sz="94661"/>
  </p:normalViewPr>
  <p:slideViewPr>
    <p:cSldViewPr snapToGrid="0" snapToObjects="1">
      <p:cViewPr>
        <p:scale>
          <a:sx n="100" d="100"/>
          <a:sy n="100" d="100"/>
        </p:scale>
        <p:origin x="-12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handoutMaster" Target="handoutMasters/handoutMaster1.xml"/><Relationship Id="rId34" Type="http://schemas.openxmlformats.org/officeDocument/2006/relationships/printerSettings" Target="printerSettings/printerSettings1.bin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4BA1F-1031-2C42-837A-C6DBAB340155}" type="datetimeFigureOut">
              <a:rPr lang="en-US" smtClean="0"/>
              <a:t>6/5/18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C20E3-FB14-7E48-9C5F-483662B93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42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9761D-73B9-1A4F-8555-48E06A216E40}" type="datetimeFigureOut">
              <a:rPr lang="en-US" smtClean="0"/>
              <a:t>6/5/18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9DADB-19AE-004E-8C71-97EB08DF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877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Video Module 4-01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63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AA262-1C51-46F4-B4E1-EF89941267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81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33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78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Video Module 4-02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31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Video Module 4-03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31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98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Video Module 4-04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82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67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Video Module 4-</a:t>
            </a:r>
            <a:r>
              <a:rPr lang="en-US" b="1" dirty="0" smtClean="0"/>
              <a:t>05</a:t>
            </a:r>
            <a:endParaRPr lang="en-US" b="1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31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Video Module 4-</a:t>
            </a:r>
            <a:r>
              <a:rPr lang="en-US" b="1" dirty="0" smtClean="0"/>
              <a:t>06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89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" y="983655"/>
            <a:ext cx="9143999" cy="4890691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" y="4488455"/>
            <a:ext cx="9143999" cy="777008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300" b="0" spc="-75" baseline="0">
                <a:solidFill>
                  <a:srgbClr val="F4812A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" y="5279800"/>
            <a:ext cx="9143999" cy="46595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500" b="0" i="0" cap="none" spc="0" baseline="0"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054" y="1984211"/>
            <a:ext cx="5581894" cy="2003756"/>
          </a:xfrm>
          <a:prstGeom prst="rect">
            <a:avLst/>
          </a:prstGeom>
        </p:spPr>
      </p:pic>
    </p:spTree>
    <p:extLst/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 Video">
    <p:bg>
      <p:bgPr>
        <a:blipFill dpi="0" rotWithShape="1">
          <a:blip r:embed="rId2">
            <a:alphaModFix amt="6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" y="0"/>
            <a:ext cx="2582693" cy="6858000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anchor="t"/>
          <a:lstStyle>
            <a:lvl1pPr marL="25717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56578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8658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2087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5516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89689" y="2"/>
            <a:ext cx="2210612" cy="6857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 b="0" baseline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 smtClean="0"/>
              <a:t>Add Title 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" y="2"/>
            <a:ext cx="1905119" cy="6857999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17872" y="171452"/>
            <a:ext cx="1660922" cy="20459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 smtClean="0"/>
              <a:t>Add Title Here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16996" y="1407555"/>
            <a:ext cx="5967413" cy="4910696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2616996" y="459263"/>
            <a:ext cx="5967413" cy="550227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300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 smtClean="0"/>
              <a:t>Add Secondary Title Here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70424" y="603843"/>
            <a:ext cx="6107907" cy="64228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700" b="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 smtClean="0"/>
              <a:t> Title Here</a:t>
            </a:r>
            <a:endParaRPr lang="en-US" dirty="0"/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1470425" y="1628774"/>
            <a:ext cx="6273403" cy="466725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0" i="0"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smtClean="0"/>
              <a:t>Click icon to add media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38928" y="1114427"/>
            <a:ext cx="4401476" cy="4954975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552668" y="504827"/>
            <a:ext cx="3751082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38928" y="459263"/>
            <a:ext cx="4401476" cy="550227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210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 smtClean="0"/>
              <a:t>Add Secondary Title Here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716893" y="2"/>
            <a:ext cx="4427108" cy="6857999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06581" y="504827"/>
            <a:ext cx="4418999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1559" y="504826"/>
            <a:ext cx="4108847" cy="5207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100" b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 smtClean="0"/>
              <a:t>Add Title Here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31559" y="1331056"/>
            <a:ext cx="4108847" cy="5095144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/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06581" y="504827"/>
            <a:ext cx="4418999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1559" y="504826"/>
            <a:ext cx="4108847" cy="5207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100" b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 smtClean="0"/>
              <a:t>Add Title Here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31559" y="1331056"/>
            <a:ext cx="4108847" cy="5095144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711551" y="688479"/>
            <a:ext cx="7781152" cy="541643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smtClean="0"/>
              <a:t>Click icon to add media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" y="5875009"/>
            <a:ext cx="9143999" cy="982993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87500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" y="6072190"/>
            <a:ext cx="9143999" cy="6127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2400" b="0" baseline="0">
                <a:solidFill>
                  <a:srgbClr val="F58420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 smtClean="0"/>
              <a:t>Add Text Here</a:t>
            </a:r>
            <a:endParaRPr lang="en-US" dirty="0"/>
          </a:p>
        </p:txBody>
      </p:sp>
    </p:spTree>
    <p:extLst/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" y="0"/>
            <a:ext cx="1739900" cy="6858000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300" y="864108"/>
            <a:ext cx="6565900" cy="5120640"/>
          </a:xfrm>
          <a:prstGeom prst="rect">
            <a:avLst/>
          </a:prstGeom>
        </p:spPr>
        <p:txBody>
          <a:bodyPr anchor="t"/>
          <a:lstStyle>
            <a:lvl1pPr marL="25717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56578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8658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2087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5516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38350" y="1123838"/>
            <a:ext cx="1601550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100" b="0">
                <a:solidFill>
                  <a:srgbClr val="E78734"/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1" y="1135571"/>
            <a:ext cx="8007350" cy="5120640"/>
          </a:xfrm>
          <a:prstGeom prst="rect">
            <a:avLst/>
          </a:prstGeom>
        </p:spPr>
        <p:txBody>
          <a:bodyPr anchor="t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  <p:sp>
        <p:nvSpPr>
          <p:cNvPr id="5" name="Content Placeholder 2"/>
          <p:cNvSpPr>
            <a:spLocks noGrp="1"/>
          </p:cNvSpPr>
          <p:nvPr>
            <p:ph idx="10" hasCustomPrompt="1"/>
          </p:nvPr>
        </p:nvSpPr>
        <p:spPr>
          <a:xfrm>
            <a:off x="185738" y="257175"/>
            <a:ext cx="8007350" cy="628652"/>
          </a:xfrm>
          <a:prstGeom prst="rect">
            <a:avLst/>
          </a:prstGeom>
        </p:spPr>
        <p:txBody>
          <a:bodyPr anchor="t"/>
          <a:lstStyle>
            <a:lvl1pPr marL="137160" indent="0">
              <a:spcBef>
                <a:spcPts val="900"/>
              </a:spcBef>
              <a:buClr>
                <a:srgbClr val="0B194E"/>
              </a:buClr>
              <a:buFont typeface="Arial" charset="0"/>
              <a:buNone/>
              <a:defRPr sz="2700">
                <a:solidFill>
                  <a:srgbClr val="000000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dirty="0" smtClean="0"/>
              <a:t>Click to add Slide Title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Imag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948" y="5378981"/>
            <a:ext cx="5743574" cy="917660"/>
          </a:xfrm>
          <a:prstGeom prst="rect">
            <a:avLst/>
          </a:prstGeom>
          <a:gradFill flip="none" rotWithShape="1">
            <a:gsLst>
              <a:gs pos="41000">
                <a:srgbClr val="01275D"/>
              </a:gs>
              <a:gs pos="100000">
                <a:srgbClr val="013D73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9" name="Rectangle 8"/>
          <p:cNvSpPr/>
          <p:nvPr/>
        </p:nvSpPr>
        <p:spPr>
          <a:xfrm flipV="1">
            <a:off x="6948" y="6261321"/>
            <a:ext cx="9148032" cy="56907"/>
          </a:xfrm>
          <a:prstGeom prst="rect">
            <a:avLst/>
          </a:prstGeom>
          <a:solidFill>
            <a:srgbClr val="DE5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46460" y="5607350"/>
            <a:ext cx="5300462" cy="51435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US" dirty="0"/>
          </a:p>
        </p:txBody>
      </p:sp>
    </p:spTree>
    <p:extLst/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111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B57850E7-7C6C-754D-81F8-C814130E13C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256454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4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416"/>
            <a:ext cx="8229600" cy="576263"/>
          </a:xfrm>
          <a:prstGeom prst="rect">
            <a:avLst/>
          </a:prstGeom>
        </p:spPr>
        <p:txBody>
          <a:bodyPr lIns="64008" tIns="32004" rIns="64008" bIns="32004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74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416"/>
            <a:ext cx="8229600" cy="576263"/>
          </a:xfrm>
          <a:prstGeom prst="rect">
            <a:avLst/>
          </a:prstGeom>
        </p:spPr>
        <p:txBody>
          <a:bodyPr lIns="64008" tIns="32004" rIns="64008" bIns="32004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9"/>
            <a:ext cx="4038600" cy="4530725"/>
          </a:xfrm>
          <a:prstGeom prst="rect">
            <a:avLst/>
          </a:prstGeom>
        </p:spPr>
        <p:txBody>
          <a:bodyPr lIns="64008" tIns="32004" rIns="64008" bIns="3200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9"/>
            <a:ext cx="4038600" cy="4530725"/>
          </a:xfrm>
          <a:prstGeom prst="rect">
            <a:avLst/>
          </a:prstGeom>
        </p:spPr>
        <p:txBody>
          <a:bodyPr lIns="64008" tIns="32004" rIns="64008" bIns="3200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5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Relationship Id="rId19" Type="http://schemas.microsoft.com/office/2007/relationships/hdphoto" Target="../media/hdphoto1.wdp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alphaModFix amt="67000"/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4000" contras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45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6" r:id="rId14"/>
    <p:sldLayoutId id="2147483677" r:id="rId15"/>
    <p:sldLayoutId id="2147483678" r:id="rId16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spc="-45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pos="144">
          <p15:clr>
            <a:srgbClr val="F26B43"/>
          </p15:clr>
        </p15:guide>
        <p15:guide id="2" pos="201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36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Process Synchronizatio</a:t>
            </a:r>
            <a:r>
              <a:rPr lang="en-US" dirty="0"/>
              <a:t>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86"/>
    </mc:Choice>
    <mc:Fallback xmlns="">
      <p:transition spd="slow" advTm="24686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14878" y="127432"/>
            <a:ext cx="4429125" cy="390525"/>
          </a:xfrm>
        </p:spPr>
        <p:txBody>
          <a:bodyPr/>
          <a:lstStyle/>
          <a:p>
            <a:r>
              <a:rPr lang="en-US" dirty="0" smtClean="0">
                <a:ea typeface="Century Gothic"/>
                <a:sym typeface="Questrial"/>
              </a:rPr>
              <a:t>Overview</a:t>
            </a:r>
            <a:endParaRPr lang="en-US" dirty="0"/>
          </a:p>
        </p:txBody>
      </p:sp>
      <p:pic>
        <p:nvPicPr>
          <p:cNvPr id="5" name="Picture 4" descr="heads.jp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01"/>
          <a:stretch/>
        </p:blipFill>
        <p:spPr>
          <a:xfrm>
            <a:off x="153716" y="1543300"/>
            <a:ext cx="4339459" cy="1921533"/>
          </a:xfrm>
          <a:prstGeom prst="rect">
            <a:avLst/>
          </a:prstGeom>
        </p:spPr>
      </p:pic>
      <p:pic>
        <p:nvPicPr>
          <p:cNvPr id="6" name="Picture 5" descr="heads.jp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01"/>
          <a:stretch/>
        </p:blipFill>
        <p:spPr>
          <a:xfrm>
            <a:off x="95536" y="2713644"/>
            <a:ext cx="4455814" cy="1973056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831557" y="754024"/>
            <a:ext cx="4215880" cy="5819181"/>
          </a:xfrm>
        </p:spPr>
        <p:txBody>
          <a:bodyPr/>
          <a:lstStyle/>
          <a:p>
            <a:pPr marL="137160" indent="0">
              <a:buNone/>
            </a:pPr>
            <a:r>
              <a:rPr lang="en-US" sz="2100" b="1" dirty="0"/>
              <a:t>Objectives</a:t>
            </a:r>
          </a:p>
          <a:p>
            <a:r>
              <a:rPr lang="en-US" dirty="0" smtClean="0"/>
              <a:t>State, understand, and discuss the </a:t>
            </a:r>
            <a:r>
              <a:rPr lang="en-US" dirty="0" smtClean="0">
                <a:solidFill>
                  <a:srgbClr val="FF6600"/>
                </a:solidFill>
              </a:rPr>
              <a:t>data-shared problem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Introduce a </a:t>
            </a:r>
            <a:r>
              <a:rPr lang="en-US" dirty="0" smtClean="0">
                <a:solidFill>
                  <a:srgbClr val="FF6600"/>
                </a:solidFill>
              </a:rPr>
              <a:t>solution </a:t>
            </a:r>
            <a:r>
              <a:rPr lang="en-US" dirty="0" smtClean="0"/>
              <a:t>to the data-shared problem: </a:t>
            </a:r>
            <a:r>
              <a:rPr lang="en-US" dirty="0" smtClean="0">
                <a:solidFill>
                  <a:srgbClr val="FF6600"/>
                </a:solidFill>
              </a:rPr>
              <a:t>mutual exclusio</a:t>
            </a:r>
            <a:r>
              <a:rPr lang="en-US" dirty="0">
                <a:solidFill>
                  <a:srgbClr val="FF6600"/>
                </a:solidFill>
              </a:rPr>
              <a:t>n</a:t>
            </a:r>
            <a:r>
              <a:rPr lang="en-US" dirty="0" smtClean="0"/>
              <a:t>.</a:t>
            </a:r>
            <a:endParaRPr lang="en-US" dirty="0" smtClean="0">
              <a:solidFill>
                <a:srgbClr val="FFFFFF"/>
              </a:solidFill>
            </a:endParaRPr>
          </a:p>
          <a:p>
            <a:r>
              <a:rPr lang="en-US" dirty="0" smtClean="0"/>
              <a:t>Learn and understand </a:t>
            </a:r>
            <a:r>
              <a:rPr lang="en-US" dirty="0" smtClean="0">
                <a:solidFill>
                  <a:srgbClr val="FF6600"/>
                </a:solidFill>
              </a:rPr>
              <a:t>process synchronization</a:t>
            </a:r>
            <a:r>
              <a:rPr lang="en-US" dirty="0" smtClean="0"/>
              <a:t> to implement mutual exclusion.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 smtClean="0"/>
              <a:t>Learn and understand different </a:t>
            </a:r>
            <a:r>
              <a:rPr lang="en-US" dirty="0" smtClean="0">
                <a:solidFill>
                  <a:srgbClr val="FF6600"/>
                </a:solidFill>
              </a:rPr>
              <a:t>tools</a:t>
            </a:r>
            <a:r>
              <a:rPr lang="en-US" dirty="0" smtClean="0"/>
              <a:t> to implement process synchronization.</a:t>
            </a:r>
            <a:endParaRPr lang="en-US" dirty="0">
              <a:solidFill>
                <a:srgbClr val="FFFFFF"/>
              </a:solidFill>
            </a:endParaRPr>
          </a:p>
          <a:p>
            <a:endParaRPr lang="en-US" dirty="0" smtClean="0"/>
          </a:p>
          <a:p>
            <a:endParaRPr lang="en-US" dirty="0"/>
          </a:p>
          <a:p>
            <a:pPr marL="137160" indent="0">
              <a:buNone/>
            </a:pPr>
            <a:r>
              <a:rPr lang="en-US" sz="2000" b="1" dirty="0" smtClean="0"/>
              <a:t>Requirements</a:t>
            </a:r>
          </a:p>
          <a:p>
            <a:r>
              <a:rPr lang="en-US" dirty="0" smtClean="0"/>
              <a:t>Review multithreaded processes</a:t>
            </a:r>
          </a:p>
        </p:txBody>
      </p:sp>
    </p:spTree>
    <p:extLst>
      <p:ext uri="{BB962C8B-B14F-4D97-AF65-F5344CB8AC3E}">
        <p14:creationId xmlns:p14="http://schemas.microsoft.com/office/powerpoint/2010/main" val="976595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the </a:t>
            </a:r>
            <a:r>
              <a:rPr lang="en-US" b="1" dirty="0" smtClean="0">
                <a:solidFill>
                  <a:srgbClr val="3366FF"/>
                </a:solidFill>
              </a:rPr>
              <a:t>data-shared problem</a:t>
            </a:r>
            <a:r>
              <a:rPr lang="en-US" b="1" dirty="0" smtClean="0">
                <a:solidFill>
                  <a:schemeClr val="tx1"/>
                </a:solidFill>
              </a:rPr>
              <a:t>?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Example</a:t>
            </a:r>
          </a:p>
          <a:p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endParaRPr lang="en-US" dirty="0" smtClean="0"/>
          </a:p>
          <a:p>
            <a:pPr lvl="2"/>
            <a:endParaRPr lang="en-US" dirty="0" smtClean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Data-Shared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0055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C75AF6A7-808E-394C-AAB6-172EA6149DC3}" type="slidenum">
              <a:rPr lang="en-US" sz="1300"/>
              <a:pPr/>
              <a:t>4</a:t>
            </a:fld>
            <a:endParaRPr lang="en-US" sz="130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Data-Shared Problem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Statement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300" y="1673231"/>
            <a:ext cx="8229600" cy="3800469"/>
          </a:xfrm>
        </p:spPr>
        <p:txBody>
          <a:bodyPr lIns="64008" tIns="32004" rIns="64008" bIns="32004"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When 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cooperating</a:t>
            </a: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threads of execution access 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shared</a:t>
            </a:r>
            <a:r>
              <a:rPr lang="en-US" dirty="0">
                <a:ea typeface="ＭＳ Ｐゴシック" charset="0"/>
                <a:cs typeface="ＭＳ Ｐゴシック" charset="0"/>
              </a:rPr>
              <a:t> variables, the integrity of these variables may be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violated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if the access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to data is </a:t>
            </a:r>
            <a:r>
              <a:rPr lang="en-US" dirty="0">
                <a:ea typeface="ＭＳ Ｐゴシック" charset="0"/>
                <a:cs typeface="ＭＳ Ｐゴシック" charset="0"/>
              </a:rPr>
              <a:t>not </a:t>
            </a:r>
            <a:r>
              <a:rPr lang="en-US" i="1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coordinated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.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endParaRPr lang="en-US" dirty="0" smtClean="0">
              <a:ea typeface="ＭＳ Ｐゴシック" charset="0"/>
              <a:cs typeface="ＭＳ Ｐゴシック" charset="0"/>
            </a:endParaRPr>
          </a:p>
          <a:p>
            <a:r>
              <a:rPr lang="en-US" dirty="0" smtClean="0">
                <a:ea typeface="ＭＳ Ｐゴシック" charset="0"/>
                <a:cs typeface="ＭＳ Ｐゴシック" charset="0"/>
              </a:rPr>
              <a:t>This definition raises some questions:</a:t>
            </a:r>
          </a:p>
          <a:p>
            <a:pPr lvl="1"/>
            <a:r>
              <a:rPr lang="en-US" dirty="0" smtClean="0">
                <a:ea typeface="ＭＳ Ｐゴシック" charset="0"/>
                <a:cs typeface="ＭＳ Ｐゴシック" charset="0"/>
              </a:rPr>
              <a:t>When do we get multiple/cooperating threads of executions?</a:t>
            </a:r>
          </a:p>
          <a:p>
            <a:pPr lvl="2"/>
            <a:r>
              <a:rPr lang="en-US" dirty="0" smtClean="0">
                <a:ea typeface="ＭＳ Ｐゴシック" charset="0"/>
                <a:cs typeface="ＭＳ Ｐゴシック" charset="0"/>
              </a:rPr>
              <a:t>interrupts</a:t>
            </a:r>
          </a:p>
          <a:p>
            <a:pPr lvl="2"/>
            <a:r>
              <a:rPr lang="en-US" dirty="0" smtClean="0">
                <a:ea typeface="ＭＳ Ｐゴシック" charset="0"/>
                <a:cs typeface="ＭＳ Ｐゴシック" charset="0"/>
              </a:rPr>
              <a:t>multithreaded process</a:t>
            </a:r>
          </a:p>
          <a:p>
            <a:pPr lvl="1"/>
            <a:r>
              <a:rPr lang="en-US" dirty="0" smtClean="0">
                <a:ea typeface="ＭＳ Ｐゴシック" charset="0"/>
                <a:cs typeface="ＭＳ Ｐゴシック" charset="0"/>
              </a:rPr>
              <a:t>How can variables be shared?</a:t>
            </a:r>
          </a:p>
          <a:p>
            <a:pPr lvl="2"/>
            <a:r>
              <a:rPr lang="en-US" dirty="0" smtClean="0">
                <a:ea typeface="ＭＳ Ｐゴシック" charset="0"/>
                <a:cs typeface="ＭＳ Ｐゴシック" charset="0"/>
              </a:rPr>
              <a:t>Look at multi threaded processes: the threads are sharing the data</a:t>
            </a:r>
          </a:p>
          <a:p>
            <a:pPr lvl="2"/>
            <a:r>
              <a:rPr lang="en-US" dirty="0" smtClean="0">
                <a:ea typeface="ＭＳ Ｐゴシック" charset="0"/>
                <a:cs typeface="ＭＳ Ｐゴシック" charset="0"/>
              </a:rPr>
              <a:t>With interrupts, data is within the same process</a:t>
            </a:r>
          </a:p>
          <a:p>
            <a:pPr lvl="1"/>
            <a:r>
              <a:rPr lang="en-US" dirty="0" smtClean="0">
                <a:ea typeface="ＭＳ Ｐゴシック" charset="0"/>
                <a:cs typeface="ＭＳ Ｐゴシック" charset="0"/>
              </a:rPr>
              <a:t>What does “coordinated” mean?</a:t>
            </a:r>
          </a:p>
          <a:p>
            <a:pPr lvl="2"/>
            <a:r>
              <a:rPr lang="en-US" dirty="0" smtClean="0">
                <a:ea typeface="ＭＳ Ｐゴシック" charset="0"/>
                <a:cs typeface="ＭＳ Ｐゴシック" charset="0"/>
              </a:rPr>
              <a:t>When one thread is accessing the shared data, the other thread should “</a:t>
            </a:r>
            <a:r>
              <a:rPr lang="en-US" b="1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wait</a:t>
            </a:r>
            <a:r>
              <a:rPr lang="en-US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the other thread to complete its access”.</a:t>
            </a:r>
          </a:p>
          <a:p>
            <a:pPr lvl="1"/>
            <a:r>
              <a:rPr lang="en-US" dirty="0" smtClean="0">
                <a:ea typeface="ＭＳ Ｐゴシック" charset="0"/>
                <a:cs typeface="ＭＳ Ｐゴシック" charset="0"/>
              </a:rPr>
              <a:t>What does “the integrity of these variables may be violated” mean?</a:t>
            </a:r>
          </a:p>
          <a:p>
            <a:pPr lvl="2"/>
            <a:r>
              <a:rPr lang="en-US" dirty="0" smtClean="0">
                <a:ea typeface="ＭＳ Ｐゴシック" charset="0"/>
                <a:cs typeface="ＭＳ Ｐゴシック" charset="0"/>
              </a:rPr>
              <a:t>these variables may take unintended/wrong values leading </a:t>
            </a:r>
            <a:r>
              <a:rPr lang="en-US" b="1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incorrect</a:t>
            </a:r>
            <a:r>
              <a:rPr lang="en-US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results.</a:t>
            </a:r>
          </a:p>
          <a:p>
            <a:pPr lvl="2"/>
            <a:r>
              <a:rPr lang="en-US" dirty="0" smtClean="0">
                <a:ea typeface="ＭＳ Ｐゴシック" charset="0"/>
                <a:cs typeface="ＭＳ Ｐゴシック" charset="0"/>
              </a:rPr>
              <a:t>See example in coming </a:t>
            </a:r>
            <a:r>
              <a:rPr lang="en-US" dirty="0" err="1" smtClean="0">
                <a:ea typeface="ＭＳ Ｐゴシック" charset="0"/>
                <a:cs typeface="ＭＳ Ｐゴシック" charset="0"/>
              </a:rPr>
              <a:t>slidesl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pic>
        <p:nvPicPr>
          <p:cNvPr id="7" name="Picture 6" descr="MultiThreadedProces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031" y="2222698"/>
            <a:ext cx="2348069" cy="2604889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6896100" y="2286198"/>
            <a:ext cx="1270000" cy="1180902"/>
            <a:chOff x="6896100" y="2286198"/>
            <a:chExt cx="1270000" cy="1180902"/>
          </a:xfrm>
        </p:grpSpPr>
        <p:sp>
          <p:nvSpPr>
            <p:cNvPr id="2" name="Rectangle 1"/>
            <p:cNvSpPr/>
            <p:nvPr/>
          </p:nvSpPr>
          <p:spPr>
            <a:xfrm>
              <a:off x="7251700" y="2286198"/>
              <a:ext cx="558800" cy="253802"/>
            </a:xfrm>
            <a:prstGeom prst="rect">
              <a:avLst/>
            </a:prstGeom>
            <a:noFill/>
            <a:ln w="28575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/>
            <p:cNvCxnSpPr/>
            <p:nvPr/>
          </p:nvCxnSpPr>
          <p:spPr>
            <a:xfrm flipV="1">
              <a:off x="6896100" y="2540000"/>
              <a:ext cx="482600" cy="914400"/>
            </a:xfrm>
            <a:prstGeom prst="straightConnector1">
              <a:avLst/>
            </a:prstGeom>
            <a:ln w="28575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7531100" y="2540000"/>
              <a:ext cx="0" cy="914400"/>
            </a:xfrm>
            <a:prstGeom prst="straightConnector1">
              <a:avLst/>
            </a:prstGeom>
            <a:ln w="28575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 flipV="1">
              <a:off x="7683500" y="2552700"/>
              <a:ext cx="482600" cy="914400"/>
            </a:xfrm>
            <a:prstGeom prst="straightConnector1">
              <a:avLst/>
            </a:prstGeom>
            <a:ln w="28575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61992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 bldLvl="3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defRPr/>
            </a:pPr>
            <a:fld id="{8ABD01A7-35BF-544F-812B-67754D2901AA}" type="slidenum">
              <a:rPr lang="en-US" smtClean="0"/>
              <a:pPr algn="r">
                <a:defRPr/>
              </a:pPr>
              <a:t>5</a:t>
            </a:fld>
            <a:endParaRPr lang="en-US" dirty="0" smtClean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077200" cy="4114800"/>
          </a:xfrm>
        </p:spPr>
        <p:txBody>
          <a:bodyPr/>
          <a:lstStyle/>
          <a:p>
            <a:r>
              <a:rPr lang="en-US" dirty="0"/>
              <a:t>Consider two </a:t>
            </a:r>
            <a:r>
              <a:rPr lang="en-US" dirty="0" smtClean="0"/>
              <a:t>routines (threads)</a:t>
            </a:r>
            <a:endParaRPr lang="en-US" dirty="0"/>
          </a:p>
          <a:p>
            <a:pPr lvl="1"/>
            <a:r>
              <a:rPr lang="en-US" dirty="0"/>
              <a:t>Withdrawal ($60) from your account on an ATM</a:t>
            </a:r>
          </a:p>
          <a:p>
            <a:pPr lvl="1"/>
            <a:r>
              <a:rPr lang="en-US" dirty="0"/>
              <a:t>Monthly payroll deposit of $1,000 on your account</a:t>
            </a:r>
          </a:p>
          <a:p>
            <a:pPr lvl="1"/>
            <a:endParaRPr lang="en-US" dirty="0"/>
          </a:p>
          <a:p>
            <a:r>
              <a:rPr lang="en-US" dirty="0"/>
              <a:t>Oversimplification</a:t>
            </a:r>
          </a:p>
          <a:p>
            <a:pPr lvl="1"/>
            <a:r>
              <a:rPr lang="en-US" dirty="0"/>
              <a:t>Let </a:t>
            </a:r>
            <a:r>
              <a:rPr lang="en-US" b="1" i="1" dirty="0">
                <a:solidFill>
                  <a:srgbClr val="3366FF"/>
                </a:solidFill>
              </a:rPr>
              <a:t>B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be your </a:t>
            </a:r>
            <a:r>
              <a:rPr lang="en-US" dirty="0" smtClean="0"/>
              <a:t>balance (shared variable)</a:t>
            </a:r>
            <a:endParaRPr lang="en-US" dirty="0"/>
          </a:p>
          <a:p>
            <a:pPr lvl="1"/>
            <a:r>
              <a:rPr lang="en-US" dirty="0"/>
              <a:t>Let </a:t>
            </a:r>
            <a:r>
              <a:rPr lang="en-US" b="1" i="1" dirty="0" err="1">
                <a:solidFill>
                  <a:srgbClr val="3366FF"/>
                </a:solidFill>
              </a:rPr>
              <a:t>Rg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be a register of the CPU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66700" y="325439"/>
            <a:ext cx="8229600" cy="611191"/>
          </a:xfrm>
          <a:prstGeom prst="rect">
            <a:avLst/>
          </a:prstGeom>
        </p:spPr>
        <p:txBody>
          <a:bodyPr lIns="64008" tIns="32004" rIns="64008" bIns="32004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spc="-45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Example : How Variable Integrity Can get Violated?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432800" y="6210300"/>
            <a:ext cx="495300" cy="4699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FC01B93-4275-5F48-8CD1-1BC8F61C9C3B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7F7F7F"/>
                </a:solidFill>
                <a:latin typeface="+mn-lt"/>
                <a:cs typeface="+mj-cs"/>
              </a:rPr>
              <a:t>Example (</a:t>
            </a:r>
            <a:r>
              <a:rPr lang="en-US" dirty="0" err="1" smtClean="0">
                <a:solidFill>
                  <a:srgbClr val="7F7F7F"/>
                </a:solidFill>
                <a:latin typeface="+mn-lt"/>
                <a:cs typeface="+mj-cs"/>
              </a:rPr>
              <a:t>cont</a:t>
            </a:r>
            <a:r>
              <a:rPr lang="ja-JP" altLang="en-US" dirty="0" smtClean="0">
                <a:solidFill>
                  <a:srgbClr val="7F7F7F"/>
                </a:solidFill>
                <a:latin typeface="+mn-lt"/>
                <a:cs typeface="+mj-cs"/>
              </a:rPr>
              <a:t>’</a:t>
            </a:r>
            <a:r>
              <a:rPr lang="en-US" dirty="0" smtClean="0">
                <a:solidFill>
                  <a:srgbClr val="7F7F7F"/>
                </a:solidFill>
                <a:latin typeface="+mn-lt"/>
                <a:cs typeface="+mj-cs"/>
              </a:rPr>
              <a:t>d)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68300" y="1962150"/>
            <a:ext cx="38100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Payroll Thread</a:t>
            </a:r>
          </a:p>
          <a:p>
            <a:pPr marL="377190" lvl="1" indent="0" eaLnBrk="1" hangingPunct="1">
              <a:buNone/>
              <a:defRPr/>
            </a:pPr>
            <a:r>
              <a:rPr lang="en-US" sz="1800" dirty="0" smtClean="0"/>
              <a:t>Load </a:t>
            </a:r>
            <a:r>
              <a:rPr lang="en-US" sz="1800" dirty="0" err="1" smtClean="0"/>
              <a:t>Rg,B</a:t>
            </a:r>
            <a:r>
              <a:rPr lang="en-US" sz="1800" dirty="0" smtClean="0"/>
              <a:t>         </a:t>
            </a:r>
            <a:r>
              <a:rPr lang="en-US" sz="1800" dirty="0" err="1" smtClean="0"/>
              <a:t>Rg</a:t>
            </a:r>
            <a:r>
              <a:rPr lang="en-US" sz="1800" dirty="0" smtClean="0"/>
              <a:t> </a:t>
            </a:r>
            <a:r>
              <a:rPr lang="en-US" sz="1800" dirty="0" smtClean="0">
                <a:sym typeface="Wingdings" charset="0"/>
              </a:rPr>
              <a:t>B</a:t>
            </a:r>
          </a:p>
          <a:p>
            <a:pPr marL="377190" lvl="1" indent="0" eaLnBrk="1" hangingPunct="1">
              <a:buNone/>
              <a:defRPr/>
            </a:pPr>
            <a:r>
              <a:rPr lang="en-US" sz="1800" dirty="0" smtClean="0">
                <a:sym typeface="Wingdings" charset="0"/>
              </a:rPr>
              <a:t>Add  </a:t>
            </a:r>
            <a:r>
              <a:rPr lang="en-US" sz="1800" dirty="0" err="1" smtClean="0">
                <a:sym typeface="Wingdings" charset="0"/>
              </a:rPr>
              <a:t>Rg</a:t>
            </a:r>
            <a:r>
              <a:rPr lang="en-US" sz="1800" dirty="0" smtClean="0">
                <a:sym typeface="Wingdings" charset="0"/>
              </a:rPr>
              <a:t>, 1000   </a:t>
            </a:r>
            <a:r>
              <a:rPr lang="en-US" sz="1800" i="1" dirty="0" err="1" smtClean="0">
                <a:sym typeface="Wingdings" charset="0"/>
              </a:rPr>
              <a:t>Rg</a:t>
            </a:r>
            <a:r>
              <a:rPr lang="en-US" sz="1800" i="1" dirty="0" smtClean="0">
                <a:sym typeface="Wingdings" charset="0"/>
              </a:rPr>
              <a:t>  </a:t>
            </a:r>
            <a:r>
              <a:rPr lang="en-US" sz="1800" i="1" dirty="0" err="1" smtClean="0">
                <a:sym typeface="Wingdings" charset="0"/>
              </a:rPr>
              <a:t>Rg</a:t>
            </a:r>
            <a:r>
              <a:rPr lang="en-US" sz="1800" i="1" dirty="0" smtClean="0">
                <a:sym typeface="Wingdings" charset="0"/>
              </a:rPr>
              <a:t> + 1000</a:t>
            </a:r>
          </a:p>
          <a:p>
            <a:pPr marL="377190" lvl="1" indent="0" eaLnBrk="1" hangingPunct="1">
              <a:buNone/>
              <a:defRPr/>
            </a:pPr>
            <a:r>
              <a:rPr lang="en-US" sz="1800" dirty="0" smtClean="0">
                <a:sym typeface="Wingdings" charset="0"/>
              </a:rPr>
              <a:t>Store </a:t>
            </a:r>
            <a:r>
              <a:rPr lang="en-US" sz="1800" dirty="0" err="1" smtClean="0">
                <a:sym typeface="Wingdings" charset="0"/>
              </a:rPr>
              <a:t>B,Rg</a:t>
            </a:r>
            <a:r>
              <a:rPr lang="en-US" sz="1800" dirty="0" smtClean="0">
                <a:sym typeface="Wingdings" charset="0"/>
              </a:rPr>
              <a:t>        B  </a:t>
            </a:r>
            <a:r>
              <a:rPr lang="en-US" sz="1800" dirty="0" err="1" smtClean="0">
                <a:sym typeface="Wingdings" charset="0"/>
              </a:rPr>
              <a:t>Rg</a:t>
            </a:r>
            <a:endParaRPr lang="en-US" sz="1800" dirty="0" smtClean="0"/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05300" y="1962150"/>
            <a:ext cx="43688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ATM Withdrawal Thread</a:t>
            </a:r>
          </a:p>
          <a:p>
            <a:pPr marL="377190" lvl="1" indent="0">
              <a:buNone/>
              <a:defRPr/>
            </a:pPr>
            <a:r>
              <a:rPr lang="en-US" sz="1800" dirty="0" smtClean="0"/>
              <a:t>Load </a:t>
            </a:r>
            <a:r>
              <a:rPr lang="en-US" sz="1800" dirty="0" err="1" smtClean="0"/>
              <a:t>Rg,B</a:t>
            </a:r>
            <a:r>
              <a:rPr lang="en-US" sz="1800" dirty="0" smtClean="0"/>
              <a:t>       </a:t>
            </a:r>
            <a:r>
              <a:rPr lang="en-US" sz="1800" dirty="0" err="1"/>
              <a:t>Rg</a:t>
            </a:r>
            <a:r>
              <a:rPr lang="en-US" sz="1800" dirty="0"/>
              <a:t> </a:t>
            </a:r>
            <a:r>
              <a:rPr lang="en-US" sz="1800" dirty="0">
                <a:sym typeface="Wingdings" charset="0"/>
              </a:rPr>
              <a:t>B</a:t>
            </a:r>
            <a:endParaRPr lang="en-US" sz="1800" dirty="0" smtClean="0"/>
          </a:p>
          <a:p>
            <a:pPr marL="377190" lvl="1" indent="0" eaLnBrk="1" hangingPunct="1">
              <a:buNone/>
              <a:defRPr/>
            </a:pPr>
            <a:r>
              <a:rPr lang="en-US" sz="1800" dirty="0" smtClean="0"/>
              <a:t>Sub   </a:t>
            </a:r>
            <a:r>
              <a:rPr lang="en-US" sz="1800" dirty="0" err="1" smtClean="0"/>
              <a:t>Rg</a:t>
            </a:r>
            <a:r>
              <a:rPr lang="en-US" sz="1800" dirty="0" smtClean="0"/>
              <a:t>, 60     </a:t>
            </a:r>
            <a:r>
              <a:rPr lang="en-US" sz="1800" i="1" dirty="0" err="1" smtClean="0">
                <a:sym typeface="Wingdings" charset="0"/>
              </a:rPr>
              <a:t>Rg</a:t>
            </a:r>
            <a:r>
              <a:rPr lang="en-US" sz="1800" i="1" dirty="0" smtClean="0">
                <a:sym typeface="Wingdings" charset="0"/>
              </a:rPr>
              <a:t>  </a:t>
            </a:r>
            <a:r>
              <a:rPr lang="en-US" sz="1800" i="1" dirty="0" err="1" smtClean="0">
                <a:sym typeface="Wingdings" charset="0"/>
              </a:rPr>
              <a:t>Rg</a:t>
            </a:r>
            <a:r>
              <a:rPr lang="en-US" sz="1800" i="1" dirty="0" smtClean="0">
                <a:sym typeface="Wingdings" charset="0"/>
              </a:rPr>
              <a:t> - 60</a:t>
            </a:r>
            <a:endParaRPr lang="en-US" sz="1800" dirty="0" smtClean="0"/>
          </a:p>
          <a:p>
            <a:pPr marL="377190" lvl="1" indent="0">
              <a:buNone/>
              <a:defRPr/>
            </a:pPr>
            <a:r>
              <a:rPr lang="en-US" sz="1800" dirty="0" smtClean="0"/>
              <a:t>Store </a:t>
            </a:r>
            <a:r>
              <a:rPr lang="en-US" sz="1800" dirty="0" err="1" smtClean="0"/>
              <a:t>B,Rg</a:t>
            </a:r>
            <a:r>
              <a:rPr lang="en-US" sz="1800" dirty="0" smtClean="0"/>
              <a:t>       </a:t>
            </a:r>
            <a:r>
              <a:rPr lang="en-US" sz="1800" dirty="0">
                <a:sym typeface="Wingdings" charset="0"/>
              </a:rPr>
              <a:t>B  </a:t>
            </a:r>
            <a:r>
              <a:rPr lang="en-US" sz="1800" dirty="0" err="1">
                <a:sym typeface="Wingdings" charset="0"/>
              </a:rPr>
              <a:t>Rg</a:t>
            </a:r>
            <a:endParaRPr lang="en-US" sz="1800" dirty="0"/>
          </a:p>
          <a:p>
            <a:pPr marL="377190" lvl="1" indent="0" eaLnBrk="1" hangingPunct="1">
              <a:buNone/>
              <a:defRPr/>
            </a:pPr>
            <a:endParaRPr lang="en-US" sz="1800" dirty="0" smtClean="0"/>
          </a:p>
        </p:txBody>
      </p:sp>
      <p:sp>
        <p:nvSpPr>
          <p:cNvPr id="8" name="Rectangle 7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0129083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 bldLvl="2" autoUpdateAnimBg="0"/>
      <p:bldP spid="67588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001000" y="6248400"/>
            <a:ext cx="4572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7079EBD-E2FF-7444-A3DB-31910A954F28}" type="slidenum">
              <a:rPr lang="en-US" smtClean="0"/>
              <a:pPr>
                <a:defRPr/>
              </a:pPr>
              <a:t>7</a:t>
            </a:fld>
            <a:endParaRPr lang="en-US" smtClean="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00"/>
                </a:solidFill>
                <a:latin typeface="+mn-lt"/>
              </a:rPr>
              <a:t>Example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+mn-lt"/>
              </a:rPr>
              <a:t>cont</a:t>
            </a:r>
            <a:r>
              <a:rPr lang="ja-JP" altLang="en-US" dirty="0">
                <a:solidFill>
                  <a:srgbClr val="000000"/>
                </a:solidFill>
                <a:latin typeface="+mn-lt"/>
              </a:rPr>
              <a:t>’</a:t>
            </a:r>
            <a:r>
              <a:rPr lang="en-US" altLang="ja-JP" dirty="0">
                <a:solidFill>
                  <a:srgbClr val="000000"/>
                </a:solidFill>
                <a:latin typeface="+mn-lt"/>
              </a:rPr>
              <a:t>d)</a:t>
            </a:r>
            <a:endParaRPr lang="en-US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536700"/>
            <a:ext cx="3810000" cy="4508500"/>
          </a:xfrm>
        </p:spPr>
        <p:txBody>
          <a:bodyPr/>
          <a:lstStyle/>
          <a:p>
            <a:r>
              <a:rPr lang="en-US" b="1" dirty="0"/>
              <a:t>Sequential </a:t>
            </a:r>
            <a:r>
              <a:rPr lang="en-US" dirty="0"/>
              <a:t>Execution</a:t>
            </a:r>
          </a:p>
          <a:p>
            <a:pPr lvl="1"/>
            <a:r>
              <a:rPr lang="en-US" dirty="0"/>
              <a:t>Load </a:t>
            </a:r>
            <a:r>
              <a:rPr lang="en-US" dirty="0" err="1"/>
              <a:t>Rg,B</a:t>
            </a:r>
            <a:r>
              <a:rPr lang="en-US" dirty="0"/>
              <a:t>      </a:t>
            </a:r>
          </a:p>
          <a:p>
            <a:pPr lvl="1"/>
            <a:r>
              <a:rPr lang="en-US" dirty="0">
                <a:sym typeface="Wingdings" charset="0"/>
              </a:rPr>
              <a:t>Sub  </a:t>
            </a:r>
            <a:r>
              <a:rPr lang="en-US" dirty="0" err="1">
                <a:sym typeface="Wingdings" charset="0"/>
              </a:rPr>
              <a:t>Rg</a:t>
            </a:r>
            <a:r>
              <a:rPr lang="en-US" dirty="0">
                <a:sym typeface="Wingdings" charset="0"/>
              </a:rPr>
              <a:t>, 60 </a:t>
            </a:r>
            <a:endParaRPr lang="en-US" i="1" dirty="0">
              <a:sym typeface="Wingdings" charset="0"/>
            </a:endParaRPr>
          </a:p>
          <a:p>
            <a:pPr lvl="1"/>
            <a:r>
              <a:rPr lang="en-US" dirty="0">
                <a:sym typeface="Wingdings" charset="0"/>
              </a:rPr>
              <a:t>Store </a:t>
            </a:r>
            <a:r>
              <a:rPr lang="en-US" dirty="0" err="1">
                <a:sym typeface="Wingdings" charset="0"/>
              </a:rPr>
              <a:t>B,Rg</a:t>
            </a:r>
            <a:r>
              <a:rPr lang="en-US" dirty="0">
                <a:sym typeface="Wingdings" charset="0"/>
              </a:rPr>
              <a:t>    </a:t>
            </a:r>
          </a:p>
          <a:p>
            <a:pPr lvl="1">
              <a:buFontTx/>
              <a:buNone/>
            </a:pPr>
            <a:r>
              <a:rPr lang="en-US" b="1" dirty="0">
                <a:sym typeface="Wingdings" charset="0"/>
              </a:rPr>
              <a:t>Interrupt ….</a:t>
            </a:r>
          </a:p>
          <a:p>
            <a:pPr lvl="1"/>
            <a:r>
              <a:rPr lang="en-US" dirty="0"/>
              <a:t>Load </a:t>
            </a:r>
            <a:r>
              <a:rPr lang="en-US" dirty="0" err="1"/>
              <a:t>Rg,B</a:t>
            </a:r>
            <a:endParaRPr lang="en-US" dirty="0"/>
          </a:p>
          <a:p>
            <a:pPr lvl="1"/>
            <a:r>
              <a:rPr lang="en-US" dirty="0"/>
              <a:t>Add   </a:t>
            </a:r>
            <a:r>
              <a:rPr lang="en-US" dirty="0" err="1"/>
              <a:t>Rg</a:t>
            </a:r>
            <a:r>
              <a:rPr lang="en-US" dirty="0"/>
              <a:t>, 1000</a:t>
            </a:r>
          </a:p>
          <a:p>
            <a:pPr lvl="1"/>
            <a:r>
              <a:rPr lang="en-US" dirty="0"/>
              <a:t>Store B</a:t>
            </a:r>
            <a:r>
              <a:rPr lang="en-US" dirty="0" smtClean="0"/>
              <a:t>, </a:t>
            </a:r>
            <a:r>
              <a:rPr lang="en-US" dirty="0" err="1" smtClean="0"/>
              <a:t>Rg</a:t>
            </a:r>
            <a:r>
              <a:rPr lang="en-US" dirty="0" smtClean="0"/>
              <a:t>  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089400" y="1511300"/>
            <a:ext cx="4368800" cy="4584700"/>
          </a:xfrm>
        </p:spPr>
        <p:txBody>
          <a:bodyPr/>
          <a:lstStyle/>
          <a:p>
            <a:r>
              <a:rPr lang="en-US" b="1" dirty="0"/>
              <a:t>Interleaved </a:t>
            </a:r>
            <a:r>
              <a:rPr lang="en-US" dirty="0"/>
              <a:t>Execution</a:t>
            </a:r>
          </a:p>
          <a:p>
            <a:pPr lvl="1"/>
            <a:r>
              <a:rPr lang="en-US" dirty="0"/>
              <a:t>Load </a:t>
            </a:r>
            <a:r>
              <a:rPr lang="en-US" dirty="0" err="1"/>
              <a:t>Rg</a:t>
            </a:r>
            <a:r>
              <a:rPr lang="en-US" dirty="0" smtClean="0"/>
              <a:t>, B</a:t>
            </a:r>
            <a:endParaRPr lang="en-US" dirty="0"/>
          </a:p>
          <a:p>
            <a:pPr lvl="1"/>
            <a:r>
              <a:rPr lang="en-US" dirty="0"/>
              <a:t>Sub   </a:t>
            </a:r>
            <a:r>
              <a:rPr lang="en-US" dirty="0" err="1"/>
              <a:t>Rg</a:t>
            </a:r>
            <a:r>
              <a:rPr lang="en-US" dirty="0"/>
              <a:t>, 60</a:t>
            </a:r>
          </a:p>
          <a:p>
            <a:pPr lvl="1">
              <a:buFontTx/>
              <a:buNone/>
            </a:pPr>
            <a:r>
              <a:rPr lang="en-US" b="1" dirty="0"/>
              <a:t>Interrupt ….</a:t>
            </a:r>
          </a:p>
          <a:p>
            <a:pPr lvl="1"/>
            <a:r>
              <a:rPr lang="en-US" dirty="0"/>
              <a:t>Load </a:t>
            </a:r>
            <a:r>
              <a:rPr lang="en-US" dirty="0" err="1"/>
              <a:t>Rg</a:t>
            </a:r>
            <a:r>
              <a:rPr lang="en-US" dirty="0" smtClean="0"/>
              <a:t>, B</a:t>
            </a:r>
            <a:endParaRPr lang="en-US" dirty="0"/>
          </a:p>
          <a:p>
            <a:pPr lvl="1"/>
            <a:r>
              <a:rPr lang="en-US" dirty="0"/>
              <a:t>Add   </a:t>
            </a:r>
            <a:r>
              <a:rPr lang="en-US" dirty="0" err="1"/>
              <a:t>Rg</a:t>
            </a:r>
            <a:r>
              <a:rPr lang="en-US" dirty="0"/>
              <a:t>, 1000</a:t>
            </a:r>
          </a:p>
          <a:p>
            <a:pPr lvl="1"/>
            <a:r>
              <a:rPr lang="en-US" dirty="0"/>
              <a:t>Store B</a:t>
            </a:r>
            <a:r>
              <a:rPr lang="en-US" dirty="0" smtClean="0"/>
              <a:t>, </a:t>
            </a:r>
            <a:r>
              <a:rPr lang="en-US" dirty="0" err="1" smtClean="0"/>
              <a:t>Rg</a:t>
            </a:r>
            <a:r>
              <a:rPr lang="en-US" dirty="0" smtClean="0"/>
              <a:t> </a:t>
            </a:r>
            <a:endParaRPr lang="en-US" dirty="0"/>
          </a:p>
          <a:p>
            <a:pPr lvl="1">
              <a:buFontTx/>
              <a:buNone/>
            </a:pPr>
            <a:r>
              <a:rPr lang="en-US" b="1" dirty="0" smtClean="0"/>
              <a:t>Return from int..</a:t>
            </a:r>
            <a:endParaRPr lang="en-US" b="1" dirty="0"/>
          </a:p>
          <a:p>
            <a:pPr lvl="1"/>
            <a:r>
              <a:rPr lang="en-US" dirty="0"/>
              <a:t>Store B</a:t>
            </a:r>
            <a:r>
              <a:rPr lang="en-US" dirty="0" smtClean="0"/>
              <a:t>, </a:t>
            </a:r>
            <a:r>
              <a:rPr lang="en-US" dirty="0" err="1" smtClean="0"/>
              <a:t>Rg</a:t>
            </a:r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495300" y="3498412"/>
            <a:ext cx="3124200" cy="1187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4508500" y="3115051"/>
            <a:ext cx="3124200" cy="112343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4517068" y="4597692"/>
            <a:ext cx="3124200" cy="4445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8616" name="Text Box 8"/>
          <p:cNvSpPr txBox="1">
            <a:spLocks noChangeArrowheads="1"/>
          </p:cNvSpPr>
          <p:nvPr/>
        </p:nvSpPr>
        <p:spPr bwMode="auto">
          <a:xfrm>
            <a:off x="492125" y="5489575"/>
            <a:ext cx="1952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No problem!!!</a:t>
            </a:r>
          </a:p>
        </p:txBody>
      </p:sp>
      <p:sp>
        <p:nvSpPr>
          <p:cNvPr id="68617" name="Text Box 9"/>
          <p:cNvSpPr txBox="1">
            <a:spLocks noChangeArrowheads="1"/>
          </p:cNvSpPr>
          <p:nvPr/>
        </p:nvSpPr>
        <p:spPr bwMode="auto">
          <a:xfrm>
            <a:off x="4632325" y="5578475"/>
            <a:ext cx="281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Oops! Lost my salary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28913" y="267358"/>
            <a:ext cx="1049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3366FF"/>
                </a:solidFill>
              </a:rPr>
              <a:t>B = $100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81313" y="1867943"/>
            <a:ext cx="1157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3366FF"/>
                </a:solidFill>
              </a:rPr>
              <a:t>Rg</a:t>
            </a:r>
            <a:r>
              <a:rPr lang="en-US" dirty="0" smtClean="0">
                <a:solidFill>
                  <a:srgbClr val="3366FF"/>
                </a:solidFill>
              </a:rPr>
              <a:t> = $100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81313" y="2304115"/>
            <a:ext cx="1041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3366FF"/>
                </a:solidFill>
              </a:rPr>
              <a:t>Rg</a:t>
            </a:r>
            <a:r>
              <a:rPr lang="en-US" dirty="0" smtClean="0">
                <a:solidFill>
                  <a:srgbClr val="3366FF"/>
                </a:solidFill>
              </a:rPr>
              <a:t> = $40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6941" y="2673447"/>
            <a:ext cx="1774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3366FF"/>
                </a:solidFill>
              </a:rPr>
              <a:t>Rg</a:t>
            </a:r>
            <a:r>
              <a:rPr lang="en-US" dirty="0" smtClean="0">
                <a:solidFill>
                  <a:srgbClr val="3366FF"/>
                </a:solidFill>
              </a:rPr>
              <a:t> = $40 </a:t>
            </a:r>
            <a:r>
              <a:rPr lang="en-US" dirty="0" smtClean="0">
                <a:solidFill>
                  <a:srgbClr val="008000"/>
                </a:solidFill>
              </a:rPr>
              <a:t>SAVED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56582" y="3051100"/>
            <a:ext cx="1157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3366FF"/>
                </a:solidFill>
              </a:rPr>
              <a:t>Rg</a:t>
            </a:r>
            <a:r>
              <a:rPr lang="en-US" dirty="0" smtClean="0">
                <a:solidFill>
                  <a:srgbClr val="3366FF"/>
                </a:solidFill>
              </a:rPr>
              <a:t> = $100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0645" y="3465597"/>
            <a:ext cx="1323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3366FF"/>
                </a:solidFill>
              </a:rPr>
              <a:t>Rg</a:t>
            </a:r>
            <a:r>
              <a:rPr lang="en-US" dirty="0" smtClean="0">
                <a:solidFill>
                  <a:srgbClr val="3366FF"/>
                </a:solidFill>
              </a:rPr>
              <a:t> = $1,100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17674" y="3807377"/>
            <a:ext cx="121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B</a:t>
            </a:r>
            <a:r>
              <a:rPr lang="en-US" dirty="0" smtClean="0">
                <a:solidFill>
                  <a:srgbClr val="3366FF"/>
                </a:solidFill>
              </a:rPr>
              <a:t> = $1,100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96026" y="4222656"/>
            <a:ext cx="220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3366FF"/>
                </a:solidFill>
              </a:rPr>
              <a:t>Rg</a:t>
            </a:r>
            <a:r>
              <a:rPr lang="en-US" dirty="0" smtClean="0">
                <a:solidFill>
                  <a:srgbClr val="3366FF"/>
                </a:solidFill>
              </a:rPr>
              <a:t> = $40 </a:t>
            </a:r>
            <a:r>
              <a:rPr lang="en-US" dirty="0" smtClean="0">
                <a:solidFill>
                  <a:srgbClr val="008000"/>
                </a:solidFill>
              </a:rPr>
              <a:t>RESTORED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7394" y="4606157"/>
            <a:ext cx="933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dirty="0" smtClean="0">
                <a:solidFill>
                  <a:srgbClr val="FF0000"/>
                </a:solidFill>
              </a:rPr>
              <a:t> = $40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28913" y="292874"/>
            <a:ext cx="121507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3366FF"/>
                </a:solidFill>
              </a:rPr>
              <a:t>B = $1,100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28912" y="304202"/>
            <a:ext cx="1194009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 = $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bldLvl="2" autoUpdateAnimBg="0"/>
      <p:bldP spid="68612" grpId="0" build="p" bldLvl="2" autoUpdateAnimBg="0"/>
      <p:bldP spid="68613" grpId="0" animBg="1"/>
      <p:bldP spid="68614" grpId="0" animBg="1"/>
      <p:bldP spid="68615" grpId="0" animBg="1"/>
      <p:bldP spid="68616" grpId="0" autoUpdateAnimBg="0"/>
      <p:bldP spid="68617" grpId="0" autoUpdateAnimBg="0"/>
      <p:bldP spid="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defRPr/>
            </a:pPr>
            <a:fld id="{991CF0B6-1B25-534E-881A-1C245EA08CCC}" type="slidenum">
              <a:rPr lang="en-US" smtClean="0"/>
              <a:pPr algn="r">
                <a:defRPr/>
              </a:pPr>
              <a:t>8</a:t>
            </a:fld>
            <a:endParaRPr lang="en-US" dirty="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Problem </a:t>
            </a:r>
            <a:r>
              <a:rPr lang="en-US" dirty="0" smtClean="0">
                <a:latin typeface="+mn-lt"/>
              </a:rPr>
              <a:t>Statement and Solution</a:t>
            </a:r>
            <a:endParaRPr lang="en-US" dirty="0">
              <a:latin typeface="+mn-lt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</a:t>
            </a:r>
            <a:r>
              <a:rPr lang="en-US" b="1" dirty="0" smtClean="0">
                <a:solidFill>
                  <a:srgbClr val="3366FF"/>
                </a:solidFill>
              </a:rPr>
              <a:t>concurrent</a:t>
            </a:r>
            <a:r>
              <a:rPr lang="en-US" b="1" dirty="0" smtClean="0"/>
              <a:t> </a:t>
            </a:r>
            <a:r>
              <a:rPr lang="en-US" dirty="0" smtClean="0"/>
              <a:t>routines </a:t>
            </a:r>
            <a:r>
              <a:rPr lang="en-US" dirty="0"/>
              <a:t>are </a:t>
            </a:r>
            <a:r>
              <a:rPr lang="en-US" b="1" dirty="0">
                <a:solidFill>
                  <a:srgbClr val="3366FF"/>
                </a:solidFill>
              </a:rPr>
              <a:t>cooperating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and are accessing </a:t>
            </a:r>
            <a:r>
              <a:rPr lang="en-US" b="1" dirty="0">
                <a:solidFill>
                  <a:srgbClr val="3366FF"/>
                </a:solidFill>
              </a:rPr>
              <a:t>shared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variables, the integrity of these variables may be violated if the access is not </a:t>
            </a:r>
            <a:r>
              <a:rPr lang="en-US" b="1" dirty="0" smtClean="0">
                <a:solidFill>
                  <a:srgbClr val="3366FF"/>
                </a:solidFill>
              </a:rPr>
              <a:t>coordinated</a:t>
            </a:r>
            <a:r>
              <a:rPr lang="en-US" b="1" dirty="0" smtClean="0"/>
              <a:t>.</a:t>
            </a:r>
          </a:p>
          <a:p>
            <a:endParaRPr lang="en-US" b="1" dirty="0"/>
          </a:p>
          <a:p>
            <a:r>
              <a:rPr lang="en-US" dirty="0" smtClean="0"/>
              <a:t>How to coordinate?</a:t>
            </a:r>
            <a:endParaRPr lang="en-US" dirty="0"/>
          </a:p>
          <a:p>
            <a:pPr lvl="1"/>
            <a:r>
              <a:rPr lang="en-US" b="1" dirty="0" smtClean="0">
                <a:solidFill>
                  <a:srgbClr val="3366FF"/>
                </a:solidFill>
              </a:rPr>
              <a:t>Solution</a:t>
            </a:r>
            <a:r>
              <a:rPr lang="en-US" dirty="0" smtClean="0"/>
              <a:t>: </a:t>
            </a:r>
            <a:r>
              <a:rPr lang="en-US" i="1" dirty="0">
                <a:solidFill>
                  <a:srgbClr val="3366FF"/>
                </a:solidFill>
              </a:rPr>
              <a:t>Mutual </a:t>
            </a:r>
            <a:r>
              <a:rPr lang="en-US" i="1" dirty="0" smtClean="0">
                <a:solidFill>
                  <a:srgbClr val="3366FF"/>
                </a:solidFill>
              </a:rPr>
              <a:t>Exclusion </a:t>
            </a:r>
            <a:r>
              <a:rPr lang="en-US" dirty="0" smtClean="0"/>
              <a:t>through </a:t>
            </a:r>
            <a:r>
              <a:rPr lang="en-US" i="1" dirty="0" smtClean="0">
                <a:solidFill>
                  <a:srgbClr val="3366FF"/>
                </a:solidFill>
              </a:rPr>
              <a:t>Process Synchronization</a:t>
            </a:r>
            <a:endParaRPr lang="en-US" i="1" dirty="0">
              <a:solidFill>
                <a:srgbClr val="3366FF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 bldLvl="2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pPr>
              <a:spcBef>
                <a:spcPct val="0"/>
              </a:spcBef>
              <a:buClrTx/>
            </a:pP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Mutual Exclusion</a:t>
            </a:r>
          </a:p>
          <a:p>
            <a:pPr>
              <a:spcBef>
                <a:spcPct val="0"/>
              </a:spcBef>
              <a:buClrTx/>
            </a:pP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Notion of </a:t>
            </a:r>
            <a:r>
              <a:rPr lang="en-US" dirty="0" smtClean="0">
                <a:solidFill>
                  <a:srgbClr val="3366FF"/>
                </a:solidFill>
                <a:latin typeface="+mn-lt"/>
                <a:ea typeface="ＭＳ Ｐゴシック" charset="0"/>
                <a:cs typeface="ＭＳ Ｐゴシック" charset="0"/>
              </a:rPr>
              <a:t>critical region</a:t>
            </a: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 (or </a:t>
            </a:r>
            <a:r>
              <a:rPr lang="en-US" dirty="0" smtClean="0">
                <a:solidFill>
                  <a:srgbClr val="3366FF"/>
                </a:solidFill>
                <a:latin typeface="+mn-lt"/>
                <a:ea typeface="ＭＳ Ｐゴシック" charset="0"/>
                <a:cs typeface="ＭＳ Ｐゴシック" charset="0"/>
              </a:rPr>
              <a:t>section</a:t>
            </a: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)</a:t>
            </a:r>
            <a:endParaRPr lang="en-US" dirty="0" smtClean="0">
              <a:latin typeface="+mn-lt"/>
            </a:endParaRPr>
          </a:p>
          <a:p>
            <a:pPr lvl="2"/>
            <a:endParaRPr lang="en-US" dirty="0" smtClean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Synchronization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9611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F794C63D-0156-1845-B284-AF72ABE5822C}" type="slidenum">
              <a:rPr lang="en-US" sz="1300"/>
              <a:pPr/>
              <a:t>10</a:t>
            </a:fld>
            <a:endParaRPr lang="en-US" sz="130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Mutual Exclusion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33500"/>
            <a:ext cx="7772400" cy="4762500"/>
          </a:xfrm>
        </p:spPr>
        <p:txBody>
          <a:bodyPr lIns="64008" tIns="32004" rIns="64008" bIns="32004"/>
          <a:lstStyle/>
          <a:p>
            <a:pPr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We must identify in each 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thread/process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the </a:t>
            </a:r>
            <a:r>
              <a:rPr lang="en-US" dirty="0">
                <a:solidFill>
                  <a:srgbClr val="3366FF"/>
                </a:solidFill>
                <a:latin typeface="Helvetica" charset="0"/>
                <a:ea typeface="ＭＳ Ｐゴシック" charset="0"/>
                <a:cs typeface="ＭＳ Ｐゴシック" charset="0"/>
              </a:rPr>
              <a:t>segment of code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which accesses  shared variable(s).</a:t>
            </a: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Then, make sure that 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ＭＳ Ｐゴシック" charset="0"/>
                <a:cs typeface="ＭＳ Ｐゴシック" charset="0"/>
              </a:rPr>
              <a:t>only one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process is in 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its respective segment: </a:t>
            </a: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  <a:p>
            <a:pPr marL="377190" lvl="1" indent="0">
              <a:buNone/>
            </a:pP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if one process is in its segment code, the other should not be in its own and </a:t>
            </a:r>
            <a:r>
              <a:rPr lang="en-US" i="1" dirty="0" smtClean="0">
                <a:latin typeface="Helvetica" charset="0"/>
                <a:ea typeface="ＭＳ Ｐゴシック" charset="0"/>
                <a:cs typeface="ＭＳ Ｐゴシック" charset="0"/>
              </a:rPr>
              <a:t>vice</a:t>
            </a:r>
            <a:r>
              <a:rPr lang="en-US" i="1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i="1" dirty="0" smtClean="0">
                <a:latin typeface="Helvetica" charset="0"/>
                <a:ea typeface="ＭＳ Ｐゴシック" charset="0"/>
                <a:cs typeface="ＭＳ Ｐゴシック" charset="0"/>
              </a:rPr>
              <a:t>versa 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  <a:sym typeface="Wingdings"/>
              </a:rPr>
              <a:t> </a:t>
            </a:r>
            <a:r>
              <a:rPr lang="en-US" b="1" dirty="0" smtClean="0">
                <a:solidFill>
                  <a:srgbClr val="3366FF"/>
                </a:solidFill>
                <a:latin typeface="Helvetica" charset="0"/>
                <a:ea typeface="ＭＳ Ｐゴシック" charset="0"/>
                <a:cs typeface="ＭＳ Ｐゴシック" charset="0"/>
                <a:sym typeface="Wingdings"/>
              </a:rPr>
              <a:t>Mutual Exclusion</a:t>
            </a:r>
            <a:r>
              <a:rPr lang="en-US" b="1" dirty="0" smtClean="0">
                <a:latin typeface="Helvetica" charset="0"/>
                <a:ea typeface="ＭＳ Ｐゴシック" charset="0"/>
                <a:cs typeface="ＭＳ Ｐゴシック" charset="0"/>
                <a:sym typeface="Wingdings"/>
              </a:rPr>
              <a:t>.</a:t>
            </a:r>
            <a:endParaRPr lang="en-US" b="1" dirty="0">
              <a:latin typeface="Helvetic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What is this 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segment code? </a:t>
            </a:r>
          </a:p>
          <a:p>
            <a:pPr lvl="1"/>
            <a:r>
              <a:rPr lang="en-US" b="1" dirty="0" smtClean="0">
                <a:solidFill>
                  <a:srgbClr val="3366FF"/>
                </a:solidFill>
                <a:latin typeface="Helvetica" charset="0"/>
                <a:ea typeface="ＭＳ Ｐゴシック" charset="0"/>
                <a:cs typeface="ＭＳ Ｐゴシック" charset="0"/>
              </a:rPr>
              <a:t>Answer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: We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call it the </a:t>
            </a:r>
            <a:r>
              <a:rPr lang="en-US" b="1" i="1" dirty="0">
                <a:solidFill>
                  <a:srgbClr val="3366FF"/>
                </a:solidFill>
                <a:latin typeface="Helvetica" charset="0"/>
                <a:ea typeface="ＭＳ Ｐゴシック" charset="0"/>
                <a:cs typeface="ＭＳ Ｐゴシック" charset="0"/>
              </a:rPr>
              <a:t>critical section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, or the </a:t>
            </a:r>
            <a:r>
              <a:rPr lang="en-US" b="1" i="1" dirty="0">
                <a:solidFill>
                  <a:srgbClr val="3366FF"/>
                </a:solidFill>
                <a:latin typeface="Helvetica" charset="0"/>
                <a:ea typeface="ＭＳ Ｐゴシック" charset="0"/>
                <a:cs typeface="ＭＳ Ｐゴシック" charset="0"/>
              </a:rPr>
              <a:t>critical region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79436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248400"/>
            <a:ext cx="4572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9BBC75AE-C268-474D-B438-9C3923F7A22F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31748" name="Rectangle 2"/>
          <p:cNvSpPr>
            <a:spLocks noChangeArrowheads="1"/>
          </p:cNvSpPr>
          <p:nvPr/>
        </p:nvSpPr>
        <p:spPr bwMode="auto">
          <a:xfrm>
            <a:off x="238125" y="-88900"/>
            <a:ext cx="36861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Region</a:t>
            </a:r>
          </a:p>
        </p:txBody>
      </p:sp>
      <p:pic>
        <p:nvPicPr>
          <p:cNvPr id="3174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1254125"/>
            <a:ext cx="8305800" cy="403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2730500" y="1816100"/>
            <a:ext cx="2723326" cy="495300"/>
            <a:chOff x="2730500" y="1816100"/>
            <a:chExt cx="2723326" cy="495300"/>
          </a:xfrm>
        </p:grpSpPr>
        <p:sp>
          <p:nvSpPr>
            <p:cNvPr id="2" name="TextBox 1"/>
            <p:cNvSpPr txBox="1"/>
            <p:nvPr/>
          </p:nvSpPr>
          <p:spPr>
            <a:xfrm>
              <a:off x="2781300" y="1816100"/>
              <a:ext cx="2672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Accessing Shared Data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2730500" y="2147332"/>
              <a:ext cx="2672526" cy="164068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428426" y="3207266"/>
            <a:ext cx="1544012" cy="746899"/>
            <a:chOff x="5428426" y="3207266"/>
            <a:chExt cx="1544012" cy="746899"/>
          </a:xfrm>
        </p:grpSpPr>
        <p:sp>
          <p:nvSpPr>
            <p:cNvPr id="6" name="TextBox 5"/>
            <p:cNvSpPr txBox="1"/>
            <p:nvPr/>
          </p:nvSpPr>
          <p:spPr>
            <a:xfrm>
              <a:off x="5428426" y="3207266"/>
              <a:ext cx="15440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Accessing </a:t>
              </a:r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Shared Data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453826" y="3790097"/>
              <a:ext cx="1518612" cy="164068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30500" y="1930400"/>
            <a:ext cx="2844800" cy="381000"/>
            <a:chOff x="2730500" y="1930400"/>
            <a:chExt cx="2844800" cy="381000"/>
          </a:xfrm>
        </p:grpSpPr>
        <p:sp>
          <p:nvSpPr>
            <p:cNvPr id="7" name="Rectangle 6"/>
            <p:cNvSpPr/>
            <p:nvPr/>
          </p:nvSpPr>
          <p:spPr>
            <a:xfrm>
              <a:off x="2730500" y="2147332"/>
              <a:ext cx="2844800" cy="164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870200" y="1930400"/>
              <a:ext cx="2532826" cy="2169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2451100" y="1143000"/>
            <a:ext cx="2951926" cy="1004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403026" y="1371600"/>
            <a:ext cx="2597974" cy="813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759200" y="2794000"/>
            <a:ext cx="1643826" cy="1059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759200" y="3890665"/>
            <a:ext cx="1643826" cy="1059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428426" y="2794000"/>
            <a:ext cx="1569412" cy="1160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021452" y="2794000"/>
            <a:ext cx="1569412" cy="1059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49400" y="2236232"/>
            <a:ext cx="7204075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549400" y="3853597"/>
            <a:ext cx="7204075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248400"/>
            <a:ext cx="4572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9BBC75AE-C268-474D-B438-9C3923F7A22F}" type="slidenum">
              <a:rPr lang="en-US" sz="1400"/>
              <a:pPr eaLnBrk="1" hangingPunct="1"/>
              <a:t>12</a:t>
            </a:fld>
            <a:endParaRPr lang="en-US" sz="1400"/>
          </a:p>
        </p:txBody>
      </p:sp>
      <p:pic>
        <p:nvPicPr>
          <p:cNvPr id="3174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1254125"/>
            <a:ext cx="8305800" cy="403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2730500" y="1816100"/>
            <a:ext cx="2723326" cy="495300"/>
            <a:chOff x="2730500" y="1816100"/>
            <a:chExt cx="2723326" cy="495300"/>
          </a:xfrm>
        </p:grpSpPr>
        <p:sp>
          <p:nvSpPr>
            <p:cNvPr id="2" name="TextBox 1"/>
            <p:cNvSpPr txBox="1"/>
            <p:nvPr/>
          </p:nvSpPr>
          <p:spPr>
            <a:xfrm>
              <a:off x="2781300" y="1816100"/>
              <a:ext cx="2672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Accessing Shared Data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2730500" y="2147332"/>
              <a:ext cx="2672526" cy="164068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428426" y="3207266"/>
            <a:ext cx="1544012" cy="746899"/>
            <a:chOff x="5428426" y="3207266"/>
            <a:chExt cx="1544012" cy="746899"/>
          </a:xfrm>
        </p:grpSpPr>
        <p:sp>
          <p:nvSpPr>
            <p:cNvPr id="6" name="TextBox 5"/>
            <p:cNvSpPr txBox="1"/>
            <p:nvPr/>
          </p:nvSpPr>
          <p:spPr>
            <a:xfrm>
              <a:off x="5428426" y="3207266"/>
              <a:ext cx="15440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Accessing </a:t>
              </a:r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Shared Data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453826" y="3790097"/>
              <a:ext cx="1518612" cy="164068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238125" y="-88900"/>
            <a:ext cx="36861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rgbClr val="7F7F7F"/>
                </a:solidFill>
              </a:rPr>
              <a:t>Critical Region</a:t>
            </a:r>
          </a:p>
        </p:txBody>
      </p:sp>
      <p:sp>
        <p:nvSpPr>
          <p:cNvPr id="16" name="Rectangle 15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2833423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B113EBBE-F14A-3B4D-A473-B3C4CB06B0DA}" type="slidenum">
              <a:rPr lang="en-US" sz="1300"/>
              <a:pPr/>
              <a:t>13</a:t>
            </a:fld>
            <a:endParaRPr lang="en-US" sz="130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Examples of Critical Regions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404100" cy="647700"/>
          </a:xfrm>
        </p:spPr>
        <p:txBody>
          <a:bodyPr lIns="64008" tIns="32004" rIns="64008" bIns="32004"/>
          <a:lstStyle/>
          <a:p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Case: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Payroll process and ATM Process</a:t>
            </a:r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152400" y="2813448"/>
            <a:ext cx="3810000" cy="3263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/>
          <a:lstStyle/>
          <a:p>
            <a:pPr marL="342883" indent="-342883">
              <a:spcBef>
                <a:spcPct val="20000"/>
              </a:spcBef>
              <a:buClr>
                <a:schemeClr val="accent2"/>
              </a:buClr>
              <a:buFontTx/>
              <a:buChar char="•"/>
              <a:defRPr/>
            </a:pPr>
            <a:r>
              <a:rPr lang="en-US" sz="2800">
                <a:solidFill>
                  <a:schemeClr val="accent2"/>
                </a:solidFill>
              </a:rPr>
              <a:t>Payroll Process</a:t>
            </a:r>
          </a:p>
          <a:p>
            <a:pPr marL="742913" lvl="1" indent="-285736">
              <a:spcBef>
                <a:spcPct val="20000"/>
              </a:spcBef>
              <a:buClr>
                <a:schemeClr val="accent2"/>
              </a:buClr>
              <a:buFontTx/>
              <a:buChar char="–"/>
              <a:defRPr/>
            </a:pPr>
            <a:r>
              <a:rPr lang="en-US"/>
              <a:t>Load Rg,B</a:t>
            </a:r>
            <a:endParaRPr lang="en-US">
              <a:sym typeface="Wingdings" charset="0"/>
            </a:endParaRPr>
          </a:p>
          <a:p>
            <a:pPr marL="742913" lvl="1" indent="-285736">
              <a:spcBef>
                <a:spcPct val="20000"/>
              </a:spcBef>
              <a:buClr>
                <a:schemeClr val="accent2"/>
              </a:buClr>
              <a:buFontTx/>
              <a:buChar char="–"/>
              <a:defRPr/>
            </a:pPr>
            <a:r>
              <a:rPr lang="en-US">
                <a:sym typeface="Wingdings" charset="0"/>
              </a:rPr>
              <a:t>Add  Rg, 1000 </a:t>
            </a:r>
          </a:p>
          <a:p>
            <a:pPr marL="742913" lvl="1" indent="-285736">
              <a:spcBef>
                <a:spcPct val="20000"/>
              </a:spcBef>
              <a:buClr>
                <a:schemeClr val="accent2"/>
              </a:buClr>
              <a:buFontTx/>
              <a:buChar char="–"/>
              <a:defRPr/>
            </a:pPr>
            <a:r>
              <a:rPr lang="en-US">
                <a:sym typeface="Wingdings" charset="0"/>
              </a:rPr>
              <a:t>Store B,Rg</a:t>
            </a:r>
            <a:endParaRPr lang="en-US"/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4089400" y="2813448"/>
            <a:ext cx="4368800" cy="3263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/>
          <a:lstStyle/>
          <a:p>
            <a:pPr marL="342883" indent="-342883">
              <a:spcBef>
                <a:spcPct val="20000"/>
              </a:spcBef>
              <a:buClr>
                <a:schemeClr val="accent2"/>
              </a:buClr>
              <a:buFontTx/>
              <a:buChar char="•"/>
              <a:defRPr/>
            </a:pPr>
            <a:r>
              <a:rPr lang="en-US" sz="2800">
                <a:solidFill>
                  <a:schemeClr val="accent2"/>
                </a:solidFill>
              </a:rPr>
              <a:t>ATM Withdrawal Process</a:t>
            </a:r>
          </a:p>
          <a:p>
            <a:pPr marL="742913" lvl="1" indent="-285736">
              <a:spcBef>
                <a:spcPct val="20000"/>
              </a:spcBef>
              <a:buClr>
                <a:schemeClr val="accent2"/>
              </a:buClr>
              <a:buFontTx/>
              <a:buChar char="–"/>
              <a:defRPr/>
            </a:pPr>
            <a:r>
              <a:rPr lang="en-US"/>
              <a:t>Load Rg,B</a:t>
            </a:r>
          </a:p>
          <a:p>
            <a:pPr marL="742913" lvl="1" indent="-285736">
              <a:spcBef>
                <a:spcPct val="20000"/>
              </a:spcBef>
              <a:buClr>
                <a:schemeClr val="accent2"/>
              </a:buClr>
              <a:buFontTx/>
              <a:buChar char="–"/>
              <a:defRPr/>
            </a:pPr>
            <a:r>
              <a:rPr lang="en-US"/>
              <a:t>Sub   Rg, 60</a:t>
            </a:r>
          </a:p>
          <a:p>
            <a:pPr marL="742913" lvl="1" indent="-285736">
              <a:spcBef>
                <a:spcPct val="20000"/>
              </a:spcBef>
              <a:buClr>
                <a:schemeClr val="accent2"/>
              </a:buClr>
              <a:buFontTx/>
              <a:buChar char="–"/>
              <a:defRPr/>
            </a:pPr>
            <a:r>
              <a:rPr lang="en-US"/>
              <a:t>Store B,Rg  </a:t>
            </a:r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557742" y="3300413"/>
            <a:ext cx="2578100" cy="1413272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>
              <a:defRPr/>
            </a:pPr>
            <a:endParaRPr lang="en-US"/>
          </a:p>
        </p:txBody>
      </p:sp>
      <p:sp>
        <p:nvSpPr>
          <p:cNvPr id="71687" name="Rectangle 7"/>
          <p:cNvSpPr>
            <a:spLocks noChangeArrowheads="1"/>
          </p:cNvSpPr>
          <p:nvPr/>
        </p:nvSpPr>
        <p:spPr bwMode="auto">
          <a:xfrm>
            <a:off x="4482042" y="3300413"/>
            <a:ext cx="2578100" cy="1400175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749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6" grpId="0" animBg="1"/>
      <p:bldP spid="7168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B550D2B2-93DE-A644-8955-966372A445D0}" type="slidenum">
              <a:rPr lang="en-US" sz="1300"/>
              <a:pPr/>
              <a:t>14</a:t>
            </a:fld>
            <a:endParaRPr lang="en-US" sz="130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 dirty="0">
                <a:solidFill>
                  <a:srgbClr val="3366FF"/>
                </a:solidFill>
                <a:latin typeface="+mn-lt"/>
                <a:ea typeface="ＭＳ Ｐゴシック" charset="0"/>
                <a:cs typeface="ＭＳ Ｐゴシック" charset="0"/>
              </a:rPr>
              <a:t>Requirements</a:t>
            </a:r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 for a Solution with Critical Regions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4368799"/>
          </a:xfrm>
        </p:spPr>
        <p:txBody>
          <a:bodyPr lIns="64008" tIns="32004" rIns="64008" bIns="32004"/>
          <a:lstStyle/>
          <a:p>
            <a:pPr marL="608965" indent="-608965"/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Mutual exclusion</a:t>
            </a:r>
            <a:r>
              <a:rPr lang="en-US" dirty="0">
                <a:ea typeface="ＭＳ Ｐゴシック" charset="0"/>
                <a:cs typeface="ＭＳ Ｐゴシック" charset="0"/>
              </a:rPr>
              <a:t>: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No two processes simultaneously in critical </a:t>
            </a:r>
            <a:r>
              <a:rPr lang="en-US" sz="2400" dirty="0" smtClean="0">
                <a:ea typeface="ＭＳ Ｐゴシック" charset="0"/>
                <a:cs typeface="ＭＳ Ｐゴシック" charset="0"/>
              </a:rPr>
              <a:t>region</a:t>
            </a:r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608965" indent="-608965"/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Progress</a:t>
            </a:r>
            <a:r>
              <a:rPr lang="en-US" dirty="0">
                <a:ea typeface="ＭＳ Ｐゴシック" charset="0"/>
                <a:cs typeface="ＭＳ Ｐゴシック" charset="0"/>
              </a:rPr>
              <a:t>: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No process running outside its critical region may block another </a:t>
            </a:r>
            <a:r>
              <a:rPr lang="en-US" sz="2400" dirty="0" smtClean="0">
                <a:ea typeface="ＭＳ Ｐゴシック" charset="0"/>
                <a:cs typeface="ＭＳ Ｐゴシック" charset="0"/>
              </a:rPr>
              <a:t>process to enter its own critical region</a:t>
            </a:r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608965" indent="-608965"/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Bounded waiting</a:t>
            </a:r>
            <a:r>
              <a:rPr lang="en-US" dirty="0">
                <a:ea typeface="ＭＳ Ｐゴシック" charset="0"/>
                <a:cs typeface="ＭＳ Ｐゴシック" charset="0"/>
              </a:rPr>
              <a:t>: 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No process must wait forever to enter its critical region</a:t>
            </a:r>
          </a:p>
          <a:p>
            <a:pPr marL="608965" indent="-608965"/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CPU speed independent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: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No assumptions made about speeds or numbers of </a:t>
            </a:r>
            <a:r>
              <a:rPr lang="en-US" sz="2400" dirty="0" smtClean="0">
                <a:ea typeface="ＭＳ Ｐゴシック" charset="0"/>
                <a:cs typeface="ＭＳ Ｐゴシック" charset="0"/>
              </a:rPr>
              <a:t>CPUs</a:t>
            </a:r>
          </a:p>
          <a:p>
            <a:pPr marL="0" indent="0">
              <a:buNone/>
            </a:pPr>
            <a:endParaRPr lang="en-US" sz="2400" dirty="0" smtClean="0">
              <a:ea typeface="ＭＳ Ｐゴシック" charset="0"/>
              <a:cs typeface="ＭＳ Ｐゴシック" charset="0"/>
            </a:endParaRPr>
          </a:p>
          <a:p>
            <a:pPr marL="0" indent="0">
              <a:buNone/>
            </a:pPr>
            <a:r>
              <a:rPr lang="en-US" sz="2400" dirty="0" smtClean="0">
                <a:ea typeface="ＭＳ Ｐゴシック" charset="0"/>
                <a:cs typeface="ＭＳ Ｐゴシック" charset="0"/>
              </a:rPr>
              <a:t>*</a:t>
            </a:r>
            <a:r>
              <a:rPr lang="en-US" sz="2400" i="1" dirty="0" smtClean="0">
                <a:ea typeface="ＭＳ Ｐゴシック" charset="0"/>
                <a:cs typeface="ＭＳ Ｐゴシック" charset="0"/>
              </a:rPr>
              <a:t>Critical </a:t>
            </a:r>
            <a:r>
              <a:rPr lang="en-US" sz="2400" i="1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region</a:t>
            </a:r>
            <a:r>
              <a:rPr lang="en-US" sz="2400" i="1" dirty="0" smtClean="0">
                <a:ea typeface="ＭＳ Ｐゴシック" charset="0"/>
                <a:cs typeface="ＭＳ Ｐゴシック" charset="0"/>
              </a:rPr>
              <a:t> is the same as critical </a:t>
            </a:r>
            <a:r>
              <a:rPr lang="en-US" sz="2400" i="1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section</a:t>
            </a:r>
            <a:endParaRPr lang="en-US" sz="2400" i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6615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CD57108B-B2ED-C14C-BFAE-A1CF3B660F61}" type="slidenum">
              <a:rPr lang="en-US" sz="1300"/>
              <a:pPr/>
              <a:t>15</a:t>
            </a:fld>
            <a:endParaRPr lang="en-US" sz="130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9"/>
            <a:ext cx="8229600" cy="611191"/>
          </a:xfrm>
        </p:spPr>
        <p:txBody>
          <a:bodyPr lIns="64008" tIns="32004" rIns="64008" bIns="32004"/>
          <a:lstStyle/>
          <a:p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Key </a:t>
            </a: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Components of </a:t>
            </a:r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a Solution to Mutual Exclusion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Initialization</a:t>
            </a:r>
            <a:r>
              <a:rPr lang="en-US" b="1" u="sng" dirty="0">
                <a:ea typeface="ＭＳ Ｐゴシック" charset="0"/>
                <a:cs typeface="ＭＳ Ｐゴシック" charset="0"/>
              </a:rPr>
              <a:t>:</a:t>
            </a:r>
            <a:r>
              <a:rPr lang="en-US" dirty="0">
                <a:ea typeface="ＭＳ Ｐゴシック" charset="0"/>
                <a:cs typeface="ＭＳ Ｐゴシック" charset="0"/>
              </a:rPr>
              <a:t> variables used to enforce mutual exclusion are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intialized</a:t>
            </a:r>
            <a:r>
              <a:rPr lang="en-US" dirty="0"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Entry</a:t>
            </a:r>
            <a:r>
              <a:rPr lang="en-US" dirty="0">
                <a:ea typeface="ＭＳ Ｐゴシック" charset="0"/>
                <a:cs typeface="ＭＳ Ｐゴシック" charset="0"/>
              </a:rPr>
              <a:t>: code which controls the entry to the critical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section. Acts as a </a:t>
            </a:r>
            <a:r>
              <a:rPr lang="en-US" b="1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gate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.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Exit</a:t>
            </a:r>
            <a:r>
              <a:rPr lang="en-US" b="1" u="sng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: code used to inform the other process that a process left the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3173634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pPr>
              <a:spcBef>
                <a:spcPct val="0"/>
              </a:spcBef>
              <a:buClrTx/>
            </a:pP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Building a </a:t>
            </a:r>
            <a:r>
              <a:rPr lang="en-US" dirty="0" smtClean="0">
                <a:solidFill>
                  <a:srgbClr val="3366FF"/>
                </a:solidFill>
                <a:latin typeface="+mn-lt"/>
                <a:ea typeface="ＭＳ Ｐゴシック" charset="0"/>
                <a:cs typeface="ＭＳ Ｐゴシック" charset="0"/>
              </a:rPr>
              <a:t>User Solution</a:t>
            </a: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 for Two Threads</a:t>
            </a:r>
            <a:endParaRPr lang="en-US" dirty="0" smtClean="0">
              <a:solidFill>
                <a:schemeClr val="tx1"/>
              </a:solidFill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pPr lvl="2"/>
            <a:endParaRPr lang="en-US" dirty="0" smtClean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Level Solution (Two Threads)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77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001000" y="6248400"/>
            <a:ext cx="4572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69CA129E-A9C7-DB45-A588-4A3F1C36143C}" type="slidenum">
              <a:rPr lang="en-US" sz="1400"/>
              <a:pPr eaLnBrk="1" hangingPunct="1"/>
              <a:t>17</a:t>
            </a:fld>
            <a:endParaRPr lang="en-US" sz="140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263530"/>
            <a:ext cx="3797300" cy="6223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A Typical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Thread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2773" name="Rectangle 3"/>
          <p:cNvSpPr>
            <a:spLocks noChangeArrowheads="1"/>
          </p:cNvSpPr>
          <p:nvPr/>
        </p:nvSpPr>
        <p:spPr bwMode="auto">
          <a:xfrm>
            <a:off x="4445000" y="977900"/>
            <a:ext cx="3784600" cy="52197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4441825" y="993775"/>
            <a:ext cx="143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while (1){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4441825" y="5743575"/>
            <a:ext cx="2655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} /* end while (1) */</a:t>
            </a: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5359400" y="1574800"/>
            <a:ext cx="2108200" cy="3683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3366FF"/>
                </a:solidFill>
              </a:rPr>
              <a:t>Entry</a:t>
            </a:r>
            <a:r>
              <a:rPr lang="en-US" dirty="0"/>
              <a:t> to Region</a:t>
            </a:r>
          </a:p>
        </p:txBody>
      </p:sp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5372100" y="3390900"/>
            <a:ext cx="2108200" cy="3683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3366FF"/>
                </a:solidFill>
              </a:rPr>
              <a:t>Exit</a:t>
            </a:r>
            <a:r>
              <a:rPr lang="en-US" dirty="0"/>
              <a:t> Region</a:t>
            </a: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5372100" y="2044700"/>
            <a:ext cx="2108200" cy="1244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3366FF"/>
                </a:solidFill>
              </a:rPr>
              <a:t>Critical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Region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5372100" y="3962400"/>
            <a:ext cx="2108200" cy="1739900"/>
          </a:xfrm>
          <a:prstGeom prst="rect">
            <a:avLst/>
          </a:prstGeom>
          <a:noFill/>
          <a:ln w="5715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3366FF"/>
                </a:solidFill>
              </a:rPr>
              <a:t>Remainder</a:t>
            </a:r>
          </a:p>
        </p:txBody>
      </p:sp>
      <p:sp>
        <p:nvSpPr>
          <p:cNvPr id="11" name="Rectangle 10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autoUpdateAnimBg="0"/>
      <p:bldP spid="60421" grpId="0" autoUpdateAnimBg="0"/>
      <p:bldP spid="60422" grpId="0" animBg="1" autoUpdateAnimBg="0"/>
      <p:bldP spid="60423" grpId="0" animBg="1" autoUpdateAnimBg="0"/>
      <p:bldP spid="60424" grpId="0" animBg="1" autoUpdateAnimBg="0"/>
      <p:bldP spid="60425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248400"/>
            <a:ext cx="4572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B008C758-9169-1642-8483-ED7F60539B25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33796" name="Rectangle 2"/>
          <p:cNvSpPr>
            <a:spLocks noChangeArrowheads="1"/>
          </p:cNvSpPr>
          <p:nvPr/>
        </p:nvSpPr>
        <p:spPr bwMode="auto">
          <a:xfrm>
            <a:off x="342900" y="0"/>
            <a:ext cx="8458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rgbClr val="7F7F7F"/>
                </a:solidFill>
              </a:rPr>
              <a:t>Mutual Exclusion with Busy Waiting (1)</a:t>
            </a:r>
          </a:p>
        </p:txBody>
      </p:sp>
      <p:pic>
        <p:nvPicPr>
          <p:cNvPr id="3379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81188"/>
            <a:ext cx="882015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304800" y="1066800"/>
            <a:ext cx="3149600" cy="406400"/>
          </a:xfrm>
          <a:prstGeom prst="rect">
            <a:avLst/>
          </a:prstGeom>
          <a:solidFill>
            <a:srgbClr val="0000FF"/>
          </a:solidFill>
          <a:ln w="57150">
            <a:solidFill>
              <a:srgbClr val="3366FF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Initialization: turn = 0</a:t>
            </a: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3022600" y="1689100"/>
            <a:ext cx="1371600" cy="317500"/>
          </a:xfrm>
          <a:prstGeom prst="rect">
            <a:avLst/>
          </a:prstGeom>
          <a:solidFill>
            <a:srgbClr val="0000FF"/>
          </a:solidFill>
          <a:ln w="57150">
            <a:solidFill>
              <a:srgbClr val="3366FF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Entry</a:t>
            </a:r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520700" y="2451100"/>
            <a:ext cx="3822700" cy="355600"/>
          </a:xfrm>
          <a:prstGeom prst="rect">
            <a:avLst/>
          </a:prstGeom>
          <a:noFill/>
          <a:ln w="38100" cmpd="sng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 flipH="1">
            <a:off x="2235200" y="1866900"/>
            <a:ext cx="711200" cy="520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3225800" y="3390900"/>
            <a:ext cx="1054100" cy="381000"/>
          </a:xfrm>
          <a:prstGeom prst="rect">
            <a:avLst/>
          </a:prstGeom>
          <a:solidFill>
            <a:srgbClr val="0000FF"/>
          </a:solidFill>
          <a:ln w="57150">
            <a:solidFill>
              <a:srgbClr val="3366FF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Exit</a:t>
            </a:r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533400" y="3136900"/>
            <a:ext cx="1130300" cy="330200"/>
          </a:xfrm>
          <a:prstGeom prst="rect">
            <a:avLst/>
          </a:prstGeom>
          <a:noFill/>
          <a:ln w="28575" cmpd="sng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0" name="Line 10"/>
          <p:cNvSpPr>
            <a:spLocks noChangeShapeType="1"/>
          </p:cNvSpPr>
          <p:nvPr/>
        </p:nvSpPr>
        <p:spPr bwMode="auto">
          <a:xfrm flipH="1" flipV="1">
            <a:off x="1765300" y="3314700"/>
            <a:ext cx="1295400" cy="10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5" name="Rectangle 11"/>
          <p:cNvSpPr>
            <a:spLocks noChangeArrowheads="1"/>
          </p:cNvSpPr>
          <p:nvPr/>
        </p:nvSpPr>
        <p:spPr bwMode="auto">
          <a:xfrm>
            <a:off x="152400" y="2044700"/>
            <a:ext cx="4432300" cy="24765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6" name="Rectangle 12"/>
          <p:cNvSpPr>
            <a:spLocks noChangeArrowheads="1"/>
          </p:cNvSpPr>
          <p:nvPr/>
        </p:nvSpPr>
        <p:spPr bwMode="auto">
          <a:xfrm>
            <a:off x="4724400" y="2044700"/>
            <a:ext cx="4419600" cy="25019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Rectangle 13"/>
          <p:cNvSpPr>
            <a:spLocks noChangeArrowheads="1"/>
          </p:cNvSpPr>
          <p:nvPr/>
        </p:nvSpPr>
        <p:spPr bwMode="auto">
          <a:xfrm>
            <a:off x="304800" y="4965700"/>
            <a:ext cx="30353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Mutual Exclusion ?</a:t>
            </a:r>
          </a:p>
        </p:txBody>
      </p:sp>
      <p:sp>
        <p:nvSpPr>
          <p:cNvPr id="33808" name="Rectangle 14"/>
          <p:cNvSpPr>
            <a:spLocks noChangeArrowheads="1"/>
          </p:cNvSpPr>
          <p:nvPr/>
        </p:nvSpPr>
        <p:spPr bwMode="auto">
          <a:xfrm>
            <a:off x="292100" y="5562600"/>
            <a:ext cx="30353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Progress ?</a:t>
            </a:r>
          </a:p>
        </p:txBody>
      </p:sp>
      <p:sp>
        <p:nvSpPr>
          <p:cNvPr id="33809" name="Rectangle 15"/>
          <p:cNvSpPr>
            <a:spLocks noChangeArrowheads="1"/>
          </p:cNvSpPr>
          <p:nvPr/>
        </p:nvSpPr>
        <p:spPr bwMode="auto">
          <a:xfrm>
            <a:off x="3530600" y="4965700"/>
            <a:ext cx="825500" cy="393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Yes</a:t>
            </a:r>
          </a:p>
        </p:txBody>
      </p:sp>
      <p:sp>
        <p:nvSpPr>
          <p:cNvPr id="33810" name="Rectangle 16"/>
          <p:cNvSpPr>
            <a:spLocks noChangeArrowheads="1"/>
          </p:cNvSpPr>
          <p:nvPr/>
        </p:nvSpPr>
        <p:spPr bwMode="auto">
          <a:xfrm>
            <a:off x="3543300" y="5575300"/>
            <a:ext cx="825500" cy="393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/>
              <a:t>No!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 animBg="1" autoUpdateAnimBg="0"/>
      <p:bldP spid="61445" grpId="0" animBg="1" autoUpdateAnimBg="0"/>
      <p:bldP spid="61446" grpId="0" animBg="1"/>
      <p:bldP spid="61447" grpId="0" animBg="1"/>
      <p:bldP spid="61448" grpId="0" animBg="1" autoUpdateAnimBg="0"/>
      <p:bldP spid="61449" grpId="0" animBg="1"/>
      <p:bldP spid="61450" grpId="0" animBg="1"/>
      <p:bldP spid="33807" grpId="0" animBg="1"/>
      <p:bldP spid="33808" grpId="0" animBg="1"/>
      <p:bldP spid="33809" grpId="0" animBg="1"/>
      <p:bldP spid="338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248400"/>
            <a:ext cx="4572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22047AA-C157-094C-8146-A561C3BFECCB}" type="slidenum">
              <a:rPr lang="en-US" sz="1400"/>
              <a:pPr eaLnBrk="1" hangingPunct="1"/>
              <a:t>19</a:t>
            </a:fld>
            <a:endParaRPr lang="en-US" sz="1400"/>
          </a:p>
        </p:txBody>
      </p:sp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7715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241300" y="1765300"/>
            <a:ext cx="3784600" cy="37719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4822" name="Text Box 4"/>
          <p:cNvSpPr txBox="1">
            <a:spLocks noChangeArrowheads="1"/>
          </p:cNvSpPr>
          <p:nvPr/>
        </p:nvSpPr>
        <p:spPr bwMode="auto">
          <a:xfrm>
            <a:off x="238125" y="1704975"/>
            <a:ext cx="143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while (1){</a:t>
            </a:r>
          </a:p>
        </p:txBody>
      </p:sp>
      <p:sp>
        <p:nvSpPr>
          <p:cNvPr id="34823" name="Text Box 5"/>
          <p:cNvSpPr txBox="1">
            <a:spLocks noChangeArrowheads="1"/>
          </p:cNvSpPr>
          <p:nvPr/>
        </p:nvSpPr>
        <p:spPr bwMode="auto">
          <a:xfrm>
            <a:off x="250825" y="5121275"/>
            <a:ext cx="2655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} /* end while (1) */</a:t>
            </a:r>
          </a:p>
        </p:txBody>
      </p:sp>
      <p:sp>
        <p:nvSpPr>
          <p:cNvPr id="62470" name="Rectangle 6"/>
          <p:cNvSpPr>
            <a:spLocks noChangeArrowheads="1"/>
          </p:cNvSpPr>
          <p:nvPr/>
        </p:nvSpPr>
        <p:spPr bwMode="auto">
          <a:xfrm>
            <a:off x="584200" y="2235200"/>
            <a:ext cx="2768600" cy="8128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/>
              <a:t>Interested[0] = true;</a:t>
            </a:r>
          </a:p>
          <a:p>
            <a:r>
              <a:rPr lang="en-US"/>
              <a:t>While (Interested[1]);</a:t>
            </a:r>
          </a:p>
        </p:txBody>
      </p:sp>
      <p:sp>
        <p:nvSpPr>
          <p:cNvPr id="62471" name="Rectangle 7"/>
          <p:cNvSpPr>
            <a:spLocks noChangeArrowheads="1"/>
          </p:cNvSpPr>
          <p:nvPr/>
        </p:nvSpPr>
        <p:spPr bwMode="auto">
          <a:xfrm>
            <a:off x="571500" y="4051300"/>
            <a:ext cx="2705100" cy="3683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Interested[0] = false;</a:t>
            </a:r>
          </a:p>
        </p:txBody>
      </p:sp>
      <p:sp>
        <p:nvSpPr>
          <p:cNvPr id="34826" name="Rectangle 8"/>
          <p:cNvSpPr>
            <a:spLocks noChangeArrowheads="1"/>
          </p:cNvSpPr>
          <p:nvPr/>
        </p:nvSpPr>
        <p:spPr bwMode="auto">
          <a:xfrm>
            <a:off x="596900" y="3111500"/>
            <a:ext cx="2679700" cy="838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Critical Region</a:t>
            </a:r>
          </a:p>
        </p:txBody>
      </p:sp>
      <p:sp>
        <p:nvSpPr>
          <p:cNvPr id="34827" name="Rectangle 9"/>
          <p:cNvSpPr>
            <a:spLocks noChangeArrowheads="1"/>
          </p:cNvSpPr>
          <p:nvPr/>
        </p:nvSpPr>
        <p:spPr bwMode="auto">
          <a:xfrm>
            <a:off x="1168400" y="4546600"/>
            <a:ext cx="2108200" cy="508000"/>
          </a:xfrm>
          <a:prstGeom prst="rect">
            <a:avLst/>
          </a:prstGeom>
          <a:noFill/>
          <a:ln w="5715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Remainder</a:t>
            </a:r>
          </a:p>
        </p:txBody>
      </p:sp>
      <p:sp>
        <p:nvSpPr>
          <p:cNvPr id="34828" name="Rectangle 10"/>
          <p:cNvSpPr>
            <a:spLocks noChangeArrowheads="1"/>
          </p:cNvSpPr>
          <p:nvPr/>
        </p:nvSpPr>
        <p:spPr bwMode="auto">
          <a:xfrm>
            <a:off x="342900" y="0"/>
            <a:ext cx="8458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rgbClr val="7F7F7F"/>
                </a:solidFill>
              </a:rPr>
              <a:t>Mutual Exclusion with Busy Waiting (2)</a:t>
            </a:r>
          </a:p>
        </p:txBody>
      </p:sp>
      <p:sp>
        <p:nvSpPr>
          <p:cNvPr id="62475" name="Rectangle 11"/>
          <p:cNvSpPr>
            <a:spLocks noChangeArrowheads="1"/>
          </p:cNvSpPr>
          <p:nvPr/>
        </p:nvSpPr>
        <p:spPr bwMode="auto">
          <a:xfrm>
            <a:off x="241300" y="1041400"/>
            <a:ext cx="8470900" cy="571500"/>
          </a:xfrm>
          <a:prstGeom prst="rect">
            <a:avLst/>
          </a:prstGeom>
          <a:noFill/>
          <a:ln w="28575" cmpd="sng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2000"/>
              <a:t>System variables: Interested[2] initialized as Interested[0] = Interested[1]  = false</a:t>
            </a:r>
          </a:p>
        </p:txBody>
      </p:sp>
      <p:sp>
        <p:nvSpPr>
          <p:cNvPr id="34830" name="Rectangle 12"/>
          <p:cNvSpPr>
            <a:spLocks noChangeArrowheads="1"/>
          </p:cNvSpPr>
          <p:nvPr/>
        </p:nvSpPr>
        <p:spPr bwMode="auto">
          <a:xfrm>
            <a:off x="4495800" y="1765300"/>
            <a:ext cx="3784600" cy="375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4831" name="Text Box 13"/>
          <p:cNvSpPr txBox="1">
            <a:spLocks noChangeArrowheads="1"/>
          </p:cNvSpPr>
          <p:nvPr/>
        </p:nvSpPr>
        <p:spPr bwMode="auto">
          <a:xfrm>
            <a:off x="4492625" y="1704975"/>
            <a:ext cx="143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while (1){</a:t>
            </a:r>
          </a:p>
        </p:txBody>
      </p:sp>
      <p:sp>
        <p:nvSpPr>
          <p:cNvPr id="34832" name="Text Box 14"/>
          <p:cNvSpPr txBox="1">
            <a:spLocks noChangeArrowheads="1"/>
          </p:cNvSpPr>
          <p:nvPr/>
        </p:nvSpPr>
        <p:spPr bwMode="auto">
          <a:xfrm>
            <a:off x="4530725" y="5006975"/>
            <a:ext cx="2655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} /* end while (1) */</a:t>
            </a:r>
          </a:p>
        </p:txBody>
      </p:sp>
      <p:sp>
        <p:nvSpPr>
          <p:cNvPr id="34833" name="Rectangle 15"/>
          <p:cNvSpPr>
            <a:spLocks noChangeArrowheads="1"/>
          </p:cNvSpPr>
          <p:nvPr/>
        </p:nvSpPr>
        <p:spPr bwMode="auto">
          <a:xfrm>
            <a:off x="5422900" y="4457700"/>
            <a:ext cx="2108200" cy="508000"/>
          </a:xfrm>
          <a:prstGeom prst="rect">
            <a:avLst/>
          </a:prstGeom>
          <a:noFill/>
          <a:ln w="5715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Remainder</a:t>
            </a:r>
          </a:p>
        </p:txBody>
      </p:sp>
      <p:sp>
        <p:nvSpPr>
          <p:cNvPr id="62480" name="Rectangle 16"/>
          <p:cNvSpPr>
            <a:spLocks noChangeArrowheads="1"/>
          </p:cNvSpPr>
          <p:nvPr/>
        </p:nvSpPr>
        <p:spPr bwMode="auto">
          <a:xfrm>
            <a:off x="304800" y="5702300"/>
            <a:ext cx="1930400" cy="29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1600" b="1"/>
              <a:t>Mutual Exclusion ?</a:t>
            </a:r>
          </a:p>
        </p:txBody>
      </p:sp>
      <p:sp>
        <p:nvSpPr>
          <p:cNvPr id="62481" name="Rectangle 17"/>
          <p:cNvSpPr>
            <a:spLocks noChangeArrowheads="1"/>
          </p:cNvSpPr>
          <p:nvPr/>
        </p:nvSpPr>
        <p:spPr bwMode="auto">
          <a:xfrm>
            <a:off x="2362200" y="5702300"/>
            <a:ext cx="558800" cy="29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1600" b="1"/>
              <a:t>Yes</a:t>
            </a:r>
          </a:p>
        </p:txBody>
      </p:sp>
      <p:sp>
        <p:nvSpPr>
          <p:cNvPr id="62482" name="Rectangle 18"/>
          <p:cNvSpPr>
            <a:spLocks noChangeArrowheads="1"/>
          </p:cNvSpPr>
          <p:nvPr/>
        </p:nvSpPr>
        <p:spPr bwMode="auto">
          <a:xfrm>
            <a:off x="304800" y="6045200"/>
            <a:ext cx="1930400" cy="29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1600" b="1"/>
              <a:t>Progress ?</a:t>
            </a:r>
          </a:p>
        </p:txBody>
      </p:sp>
      <p:sp>
        <p:nvSpPr>
          <p:cNvPr id="62483" name="Rectangle 19"/>
          <p:cNvSpPr>
            <a:spLocks noChangeArrowheads="1"/>
          </p:cNvSpPr>
          <p:nvPr/>
        </p:nvSpPr>
        <p:spPr bwMode="auto">
          <a:xfrm>
            <a:off x="2362200" y="6057900"/>
            <a:ext cx="558800" cy="29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1600" b="1"/>
              <a:t>No</a:t>
            </a:r>
          </a:p>
        </p:txBody>
      </p:sp>
      <p:sp>
        <p:nvSpPr>
          <p:cNvPr id="62484" name="Rectangle 20"/>
          <p:cNvSpPr>
            <a:spLocks noChangeArrowheads="1"/>
          </p:cNvSpPr>
          <p:nvPr/>
        </p:nvSpPr>
        <p:spPr bwMode="auto">
          <a:xfrm>
            <a:off x="5168900" y="2235200"/>
            <a:ext cx="2832100" cy="8128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/>
              <a:t>Interested[1] = true;</a:t>
            </a:r>
          </a:p>
          <a:p>
            <a:r>
              <a:rPr lang="en-US"/>
              <a:t>While (Interested[0]);</a:t>
            </a:r>
          </a:p>
        </p:txBody>
      </p:sp>
      <p:sp>
        <p:nvSpPr>
          <p:cNvPr id="62485" name="Rectangle 21"/>
          <p:cNvSpPr>
            <a:spLocks noChangeArrowheads="1"/>
          </p:cNvSpPr>
          <p:nvPr/>
        </p:nvSpPr>
        <p:spPr bwMode="auto">
          <a:xfrm>
            <a:off x="5156200" y="4051300"/>
            <a:ext cx="2705100" cy="3683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Interested[1] = false;</a:t>
            </a:r>
          </a:p>
        </p:txBody>
      </p:sp>
      <p:sp>
        <p:nvSpPr>
          <p:cNvPr id="34840" name="Rectangle 22"/>
          <p:cNvSpPr>
            <a:spLocks noChangeArrowheads="1"/>
          </p:cNvSpPr>
          <p:nvPr/>
        </p:nvSpPr>
        <p:spPr bwMode="auto">
          <a:xfrm>
            <a:off x="5181600" y="3111500"/>
            <a:ext cx="2679700" cy="838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Critical Region</a:t>
            </a:r>
          </a:p>
        </p:txBody>
      </p:sp>
      <p:sp>
        <p:nvSpPr>
          <p:cNvPr id="24" name="Rectangle 23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0" grpId="0" animBg="1" autoUpdateAnimBg="0"/>
      <p:bldP spid="62471" grpId="0" animBg="1" autoUpdateAnimBg="0"/>
      <p:bldP spid="62475" grpId="0" animBg="1" autoUpdateAnimBg="0"/>
      <p:bldP spid="62480" grpId="0" animBg="1" autoUpdateAnimBg="0"/>
      <p:bldP spid="62481" grpId="0" animBg="1" autoUpdateAnimBg="0"/>
      <p:bldP spid="62482" grpId="0" animBg="1" autoUpdateAnimBg="0"/>
      <p:bldP spid="62483" grpId="0" animBg="1" autoUpdateAnimBg="0"/>
      <p:bldP spid="62484" grpId="0" animBg="1" autoUpdateAnimBg="0"/>
      <p:bldP spid="62485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248400"/>
            <a:ext cx="4572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2F0F82E0-C1F2-864D-BDC9-5B40F731B3E2}" type="slidenum">
              <a:rPr lang="en-US" sz="1400">
                <a:latin typeface="+mn-lt"/>
              </a:rPr>
              <a:pPr eaLnBrk="1" hangingPunct="1"/>
              <a:t>20</a:t>
            </a:fld>
            <a:endParaRPr lang="en-US" sz="1400">
              <a:latin typeface="+mn-lt"/>
            </a:endParaRPr>
          </a:p>
        </p:txBody>
      </p:sp>
      <p:sp>
        <p:nvSpPr>
          <p:cNvPr id="35844" name="Rectangle 2"/>
          <p:cNvSpPr>
            <a:spLocks noChangeArrowheads="1"/>
          </p:cNvSpPr>
          <p:nvPr/>
        </p:nvSpPr>
        <p:spPr bwMode="auto">
          <a:xfrm>
            <a:off x="7715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5845" name="Rectangle 3"/>
          <p:cNvSpPr>
            <a:spLocks noChangeArrowheads="1"/>
          </p:cNvSpPr>
          <p:nvPr/>
        </p:nvSpPr>
        <p:spPr bwMode="auto">
          <a:xfrm>
            <a:off x="241300" y="1765300"/>
            <a:ext cx="3784600" cy="37719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5846" name="Text Box 4"/>
          <p:cNvSpPr txBox="1">
            <a:spLocks noChangeArrowheads="1"/>
          </p:cNvSpPr>
          <p:nvPr/>
        </p:nvSpPr>
        <p:spPr bwMode="auto">
          <a:xfrm>
            <a:off x="238125" y="1704975"/>
            <a:ext cx="13831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+mn-lt"/>
              </a:rPr>
              <a:t>while (1){</a:t>
            </a:r>
          </a:p>
        </p:txBody>
      </p:sp>
      <p:sp>
        <p:nvSpPr>
          <p:cNvPr id="35847" name="Text Box 5"/>
          <p:cNvSpPr txBox="1">
            <a:spLocks noChangeArrowheads="1"/>
          </p:cNvSpPr>
          <p:nvPr/>
        </p:nvSpPr>
        <p:spPr bwMode="auto">
          <a:xfrm>
            <a:off x="250825" y="5121275"/>
            <a:ext cx="2655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+mn-lt"/>
              </a:rPr>
              <a:t>} /* end while (1) */</a:t>
            </a:r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469900" y="2235200"/>
            <a:ext cx="3340100" cy="8128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1400" b="1" dirty="0"/>
              <a:t>Interested[0] = true; </a:t>
            </a:r>
            <a:r>
              <a:rPr lang="en-US" sz="1400" b="1" i="1" dirty="0">
                <a:solidFill>
                  <a:srgbClr val="3366FF"/>
                </a:solidFill>
              </a:rPr>
              <a:t>turn = 1</a:t>
            </a:r>
            <a:r>
              <a:rPr lang="en-US" sz="1400" b="1" dirty="0"/>
              <a:t>;</a:t>
            </a:r>
          </a:p>
          <a:p>
            <a:r>
              <a:rPr lang="en-US" sz="1400" b="1" dirty="0"/>
              <a:t>While (Interested[1] &amp;&amp; (</a:t>
            </a:r>
            <a:r>
              <a:rPr lang="en-US" sz="1400" b="1" i="1" dirty="0"/>
              <a:t>turn == 1</a:t>
            </a:r>
            <a:r>
              <a:rPr lang="en-US" sz="1400" b="1" dirty="0"/>
              <a:t>));</a:t>
            </a:r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571500" y="4051300"/>
            <a:ext cx="2705100" cy="3683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Interested[0] = false;</a:t>
            </a:r>
          </a:p>
        </p:txBody>
      </p:sp>
      <p:sp>
        <p:nvSpPr>
          <p:cNvPr id="35850" name="Rectangle 8"/>
          <p:cNvSpPr>
            <a:spLocks noChangeArrowheads="1"/>
          </p:cNvSpPr>
          <p:nvPr/>
        </p:nvSpPr>
        <p:spPr bwMode="auto">
          <a:xfrm>
            <a:off x="596900" y="3111500"/>
            <a:ext cx="2679700" cy="838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Critical Region</a:t>
            </a:r>
          </a:p>
        </p:txBody>
      </p:sp>
      <p:sp>
        <p:nvSpPr>
          <p:cNvPr id="35851" name="Rectangle 9"/>
          <p:cNvSpPr>
            <a:spLocks noChangeArrowheads="1"/>
          </p:cNvSpPr>
          <p:nvPr/>
        </p:nvSpPr>
        <p:spPr bwMode="auto">
          <a:xfrm>
            <a:off x="1168400" y="4546600"/>
            <a:ext cx="2108200" cy="508000"/>
          </a:xfrm>
          <a:prstGeom prst="rect">
            <a:avLst/>
          </a:prstGeom>
          <a:noFill/>
          <a:ln w="5715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Remainder</a:t>
            </a:r>
          </a:p>
        </p:txBody>
      </p:sp>
      <p:sp>
        <p:nvSpPr>
          <p:cNvPr id="35852" name="Rectangle 10"/>
          <p:cNvSpPr>
            <a:spLocks noChangeArrowheads="1"/>
          </p:cNvSpPr>
          <p:nvPr/>
        </p:nvSpPr>
        <p:spPr bwMode="auto">
          <a:xfrm>
            <a:off x="342900" y="0"/>
            <a:ext cx="8458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rgbClr val="7F7F7F"/>
                </a:solidFill>
              </a:rPr>
              <a:t>Peterson</a:t>
            </a:r>
            <a:r>
              <a:rPr lang="ja-JP" altLang="en-US" sz="3600" dirty="0">
                <a:solidFill>
                  <a:srgbClr val="7F7F7F"/>
                </a:solidFill>
              </a:rPr>
              <a:t>’</a:t>
            </a:r>
            <a:r>
              <a:rPr lang="en-US" altLang="ja-JP" sz="3600" dirty="0">
                <a:solidFill>
                  <a:srgbClr val="7F7F7F"/>
                </a:solidFill>
              </a:rPr>
              <a:t>s Solution (3)</a:t>
            </a:r>
            <a:endParaRPr lang="en-US" sz="3600" dirty="0">
              <a:solidFill>
                <a:srgbClr val="7F7F7F"/>
              </a:solidFill>
            </a:endParaRPr>
          </a:p>
        </p:txBody>
      </p:sp>
      <p:sp>
        <p:nvSpPr>
          <p:cNvPr id="35853" name="Rectangle 11"/>
          <p:cNvSpPr>
            <a:spLocks noChangeArrowheads="1"/>
          </p:cNvSpPr>
          <p:nvPr/>
        </p:nvSpPr>
        <p:spPr bwMode="auto">
          <a:xfrm>
            <a:off x="241300" y="1041400"/>
            <a:ext cx="8470900" cy="571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2000"/>
              <a:t>System variables: Interested[2] initialized as Interested[0] = Interested[1]  = false</a:t>
            </a:r>
          </a:p>
        </p:txBody>
      </p:sp>
      <p:sp>
        <p:nvSpPr>
          <p:cNvPr id="63500" name="Rectangle 12"/>
          <p:cNvSpPr>
            <a:spLocks noChangeArrowheads="1"/>
          </p:cNvSpPr>
          <p:nvPr/>
        </p:nvSpPr>
        <p:spPr bwMode="auto">
          <a:xfrm>
            <a:off x="304800" y="5702300"/>
            <a:ext cx="1930400" cy="29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1600" b="1"/>
              <a:t>Mutual Exclusion ?</a:t>
            </a:r>
          </a:p>
        </p:txBody>
      </p:sp>
      <p:sp>
        <p:nvSpPr>
          <p:cNvPr id="63501" name="Rectangle 13"/>
          <p:cNvSpPr>
            <a:spLocks noChangeArrowheads="1"/>
          </p:cNvSpPr>
          <p:nvPr/>
        </p:nvSpPr>
        <p:spPr bwMode="auto">
          <a:xfrm>
            <a:off x="2362200" y="5702300"/>
            <a:ext cx="558800" cy="29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1600" b="1"/>
              <a:t>Yes</a:t>
            </a:r>
          </a:p>
        </p:txBody>
      </p:sp>
      <p:sp>
        <p:nvSpPr>
          <p:cNvPr id="63502" name="Rectangle 14"/>
          <p:cNvSpPr>
            <a:spLocks noChangeArrowheads="1"/>
          </p:cNvSpPr>
          <p:nvPr/>
        </p:nvSpPr>
        <p:spPr bwMode="auto">
          <a:xfrm>
            <a:off x="304800" y="6045200"/>
            <a:ext cx="1930400" cy="29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1600" b="1"/>
              <a:t>Progress ?</a:t>
            </a:r>
          </a:p>
        </p:txBody>
      </p:sp>
      <p:sp>
        <p:nvSpPr>
          <p:cNvPr id="63503" name="Rectangle 15"/>
          <p:cNvSpPr>
            <a:spLocks noChangeArrowheads="1"/>
          </p:cNvSpPr>
          <p:nvPr/>
        </p:nvSpPr>
        <p:spPr bwMode="auto">
          <a:xfrm>
            <a:off x="2362200" y="6057900"/>
            <a:ext cx="558800" cy="29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1600" b="1"/>
              <a:t>Yes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492625" y="1704975"/>
            <a:ext cx="3787775" cy="3819525"/>
            <a:chOff x="2830" y="1074"/>
            <a:chExt cx="2386" cy="2406"/>
          </a:xfrm>
        </p:grpSpPr>
        <p:sp>
          <p:nvSpPr>
            <p:cNvPr id="35859" name="Rectangle 17"/>
            <p:cNvSpPr>
              <a:spLocks noChangeArrowheads="1"/>
            </p:cNvSpPr>
            <p:nvPr/>
          </p:nvSpPr>
          <p:spPr bwMode="auto">
            <a:xfrm>
              <a:off x="2832" y="1112"/>
              <a:ext cx="2384" cy="23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5860" name="Text Box 18"/>
            <p:cNvSpPr txBox="1">
              <a:spLocks noChangeArrowheads="1"/>
            </p:cNvSpPr>
            <p:nvPr/>
          </p:nvSpPr>
          <p:spPr bwMode="auto">
            <a:xfrm>
              <a:off x="2830" y="1074"/>
              <a:ext cx="87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while (1){</a:t>
              </a:r>
            </a:p>
          </p:txBody>
        </p:sp>
        <p:sp>
          <p:nvSpPr>
            <p:cNvPr id="35861" name="Text Box 19"/>
            <p:cNvSpPr txBox="1">
              <a:spLocks noChangeArrowheads="1"/>
            </p:cNvSpPr>
            <p:nvPr/>
          </p:nvSpPr>
          <p:spPr bwMode="auto">
            <a:xfrm>
              <a:off x="2854" y="3154"/>
              <a:ext cx="16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} /* end while (1) */</a:t>
              </a:r>
            </a:p>
          </p:txBody>
        </p:sp>
        <p:sp>
          <p:nvSpPr>
            <p:cNvPr id="35862" name="Rectangle 20"/>
            <p:cNvSpPr>
              <a:spLocks noChangeArrowheads="1"/>
            </p:cNvSpPr>
            <p:nvPr/>
          </p:nvSpPr>
          <p:spPr bwMode="auto">
            <a:xfrm>
              <a:off x="3416" y="2808"/>
              <a:ext cx="1328" cy="320"/>
            </a:xfrm>
            <a:prstGeom prst="rect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Remainder</a:t>
              </a:r>
            </a:p>
          </p:txBody>
        </p:sp>
        <p:sp>
          <p:nvSpPr>
            <p:cNvPr id="35863" name="Rectangle 21"/>
            <p:cNvSpPr>
              <a:spLocks noChangeArrowheads="1"/>
            </p:cNvSpPr>
            <p:nvPr/>
          </p:nvSpPr>
          <p:spPr bwMode="auto">
            <a:xfrm>
              <a:off x="3248" y="2552"/>
              <a:ext cx="1704" cy="232"/>
            </a:xfrm>
            <a:prstGeom prst="rect">
              <a:avLst/>
            </a:prstGeom>
            <a:noFill/>
            <a:ln w="28575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Interested[1] = false;</a:t>
              </a:r>
            </a:p>
          </p:txBody>
        </p:sp>
        <p:sp>
          <p:nvSpPr>
            <p:cNvPr id="35864" name="Rectangle 22"/>
            <p:cNvSpPr>
              <a:spLocks noChangeArrowheads="1"/>
            </p:cNvSpPr>
            <p:nvPr/>
          </p:nvSpPr>
          <p:spPr bwMode="auto">
            <a:xfrm>
              <a:off x="3264" y="1960"/>
              <a:ext cx="1688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Critical Region</a:t>
              </a:r>
            </a:p>
          </p:txBody>
        </p:sp>
        <p:sp>
          <p:nvSpPr>
            <p:cNvPr id="35865" name="Rectangle 23"/>
            <p:cNvSpPr>
              <a:spLocks noChangeArrowheads="1"/>
            </p:cNvSpPr>
            <p:nvPr/>
          </p:nvSpPr>
          <p:spPr bwMode="auto">
            <a:xfrm>
              <a:off x="2992" y="1392"/>
              <a:ext cx="2104" cy="512"/>
            </a:xfrm>
            <a:prstGeom prst="rect">
              <a:avLst/>
            </a:prstGeom>
            <a:noFill/>
            <a:ln w="28575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r>
                <a:rPr lang="en-US" sz="1400" b="1" dirty="0"/>
                <a:t>Interested[1] = true; </a:t>
              </a:r>
              <a:r>
                <a:rPr lang="en-US" sz="1400" b="1" i="1" dirty="0">
                  <a:solidFill>
                    <a:srgbClr val="3366FF"/>
                  </a:solidFill>
                </a:rPr>
                <a:t>turn = 0</a:t>
              </a:r>
              <a:r>
                <a:rPr lang="en-US" sz="1400" b="1" i="1" dirty="0"/>
                <a:t>;</a:t>
              </a:r>
            </a:p>
            <a:p>
              <a:r>
                <a:rPr lang="en-US" sz="1400" b="1" dirty="0"/>
                <a:t>While (Interested[0] &amp;&amp; </a:t>
              </a:r>
              <a:r>
                <a:rPr lang="en-US" sz="1400" b="1" i="1" dirty="0"/>
                <a:t>(turn == 0));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 animBg="1" autoUpdateAnimBg="0"/>
      <p:bldP spid="63495" grpId="0" animBg="1" autoUpdateAnimBg="0"/>
      <p:bldP spid="63500" grpId="0" animBg="1" autoUpdateAnimBg="0"/>
      <p:bldP spid="63501" grpId="0" animBg="1" autoUpdateAnimBg="0"/>
      <p:bldP spid="63502" grpId="0" animBg="1" autoUpdateAnimBg="0"/>
      <p:bldP spid="63503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pPr>
              <a:spcBef>
                <a:spcPct val="0"/>
              </a:spcBef>
              <a:buClrTx/>
            </a:pP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Strategies </a:t>
            </a:r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(Different Levels)</a:t>
            </a:r>
          </a:p>
          <a:p>
            <a:pPr lvl="1">
              <a:spcBef>
                <a:spcPct val="0"/>
              </a:spcBef>
              <a:buClrTx/>
            </a:pPr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User Level</a:t>
            </a:r>
          </a:p>
          <a:p>
            <a:pPr lvl="1">
              <a:spcBef>
                <a:spcPct val="0"/>
              </a:spcBef>
              <a:buClrTx/>
            </a:pPr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Hardware support</a:t>
            </a:r>
          </a:p>
          <a:p>
            <a:pPr lvl="1">
              <a:spcBef>
                <a:spcPct val="0"/>
              </a:spcBef>
              <a:buClrTx/>
            </a:pPr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OS </a:t>
            </a: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support</a:t>
            </a:r>
          </a:p>
          <a:p>
            <a:pPr lvl="1">
              <a:spcBef>
                <a:spcPct val="0"/>
              </a:spcBef>
              <a:buClrTx/>
            </a:pP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Languages constructs (monitors/conditional variables)</a:t>
            </a:r>
          </a:p>
          <a:p>
            <a:pPr marL="308610" lvl="1" indent="0">
              <a:spcBef>
                <a:spcPct val="0"/>
              </a:spcBef>
              <a:buClrTx/>
              <a:buNone/>
            </a:pPr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  <a:p>
            <a:pPr marL="308610" lvl="1" indent="0">
              <a:buNone/>
            </a:pPr>
            <a:endParaRPr lang="en-US" dirty="0" smtClean="0">
              <a:solidFill>
                <a:schemeClr val="tx1"/>
              </a:solidFill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pPr lvl="2"/>
            <a:endParaRPr lang="en-US" dirty="0" smtClean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2"/>
            <a:ext cx="2565399" cy="6857999"/>
          </a:xfrm>
        </p:spPr>
        <p:txBody>
          <a:bodyPr/>
          <a:lstStyle/>
          <a:p>
            <a:r>
              <a:rPr lang="en-US" dirty="0" smtClean="0"/>
              <a:t>Strategies/Tools </a:t>
            </a:r>
            <a:br>
              <a:rPr lang="en-US" dirty="0" smtClean="0"/>
            </a:br>
            <a:r>
              <a:rPr lang="en-US" dirty="0" smtClean="0"/>
              <a:t>for </a:t>
            </a:r>
            <a:br>
              <a:rPr lang="en-US" dirty="0" smtClean="0"/>
            </a:br>
            <a:r>
              <a:rPr lang="en-US" dirty="0" smtClean="0"/>
              <a:t>Mutual Exclusion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3242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DA9DB112-EEA6-0045-9477-3214EA6623A3}" type="slidenum">
              <a:rPr lang="en-US" sz="1300"/>
              <a:pPr/>
              <a:t>22</a:t>
            </a:fld>
            <a:endParaRPr lang="en-US" sz="1300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" y="292100"/>
            <a:ext cx="8880475" cy="571500"/>
          </a:xfrm>
        </p:spPr>
        <p:txBody>
          <a:bodyPr lIns="64008" tIns="32004" rIns="64008" bIns="32004"/>
          <a:lstStyle/>
          <a:p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Strategies to Solve Mutual Exclusion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29903"/>
            <a:ext cx="7772400" cy="4966097"/>
          </a:xfrm>
        </p:spPr>
        <p:txBody>
          <a:bodyPr lIns="64008" tIns="32004" rIns="64008" bIns="32004"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User level (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algorithmic solution with </a:t>
            </a:r>
            <a:r>
              <a:rPr lang="en-US" sz="2400" i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no support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from hardware or OS</a:t>
            </a:r>
            <a:r>
              <a:rPr lang="en-US" dirty="0">
                <a:ea typeface="ＭＳ Ｐゴシック" charset="0"/>
                <a:cs typeface="ＭＳ Ｐゴシック" charset="0"/>
              </a:rPr>
              <a:t>) </a:t>
            </a:r>
          </a:p>
          <a:p>
            <a:pPr lvl="1"/>
            <a:r>
              <a:rPr lang="en-US" dirty="0">
                <a:ea typeface="ＭＳ Ｐゴシック" charset="0"/>
              </a:rPr>
              <a:t>Two </a:t>
            </a:r>
            <a:r>
              <a:rPr lang="en-US" dirty="0" smtClean="0">
                <a:ea typeface="ＭＳ Ｐゴシック" charset="0"/>
              </a:rPr>
              <a:t>threads (</a:t>
            </a:r>
            <a:r>
              <a:rPr lang="en-US" dirty="0">
                <a:ea typeface="ＭＳ Ｐゴシック" charset="0"/>
              </a:rPr>
              <a:t>covered)</a:t>
            </a:r>
          </a:p>
          <a:p>
            <a:pPr lvl="1"/>
            <a:r>
              <a:rPr lang="en-US" dirty="0">
                <a:ea typeface="ＭＳ Ｐゴシック" charset="0"/>
              </a:rPr>
              <a:t>Multiple </a:t>
            </a:r>
            <a:r>
              <a:rPr lang="en-US" dirty="0" smtClean="0">
                <a:ea typeface="ＭＳ Ｐゴシック" charset="0"/>
              </a:rPr>
              <a:t>threads (</a:t>
            </a:r>
            <a:r>
              <a:rPr lang="en-US" dirty="0">
                <a:ea typeface="ＭＳ Ｐゴシック" charset="0"/>
              </a:rPr>
              <a:t>Baker algorithm) 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Hardware support</a:t>
            </a:r>
          </a:p>
          <a:p>
            <a:pPr lvl="1"/>
            <a:r>
              <a:rPr lang="en-US" dirty="0">
                <a:ea typeface="ＭＳ Ｐゴシック" charset="0"/>
              </a:rPr>
              <a:t>Special instructions (Test-and-Set, Swap)</a:t>
            </a:r>
          </a:p>
          <a:p>
            <a:pPr lvl="1"/>
            <a:r>
              <a:rPr lang="en-US" dirty="0">
                <a:ea typeface="ＭＳ Ｐゴシック" charset="0"/>
              </a:rPr>
              <a:t>Disable interrupts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System Level:</a:t>
            </a:r>
          </a:p>
          <a:p>
            <a:pPr lvl="1"/>
            <a:r>
              <a:rPr lang="en-US" dirty="0">
                <a:ea typeface="ＭＳ Ｐゴシック" charset="0"/>
              </a:rPr>
              <a:t>OS services, language construct (monitors)</a:t>
            </a:r>
          </a:p>
          <a:p>
            <a:pPr lvl="1"/>
            <a:endParaRPr lang="en-US" dirty="0">
              <a:ea typeface="ＭＳ Ｐゴシック" charset="0"/>
            </a:endParaRPr>
          </a:p>
          <a:p>
            <a:pPr>
              <a:buFontTx/>
              <a:buNone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bldLvl="2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C5CD874B-66D6-8B47-A1D2-92112EB19FDE}" type="slidenum">
              <a:rPr lang="en-US" sz="1300"/>
              <a:pPr/>
              <a:t>23</a:t>
            </a:fld>
            <a:endParaRPr lang="en-US" sz="1300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>
                <a:latin typeface="+mn-lt"/>
                <a:ea typeface="ＭＳ Ｐゴシック" charset="0"/>
                <a:cs typeface="ＭＳ Ｐゴシック" charset="0"/>
              </a:rPr>
              <a:t>Baker Algorithm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Idea</a:t>
            </a:r>
            <a:r>
              <a:rPr lang="en-US" dirty="0">
                <a:ea typeface="ＭＳ Ｐゴシック" charset="0"/>
                <a:cs typeface="ＭＳ Ｐゴシック" charset="0"/>
              </a:rPr>
              <a:t>:</a:t>
            </a:r>
          </a:p>
          <a:p>
            <a:pPr lvl="1"/>
            <a:r>
              <a:rPr lang="en-US" dirty="0">
                <a:ea typeface="ＭＳ Ｐゴシック" charset="0"/>
              </a:rPr>
              <a:t>A process, when interested to get into the critical region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picks a number </a:t>
            </a:r>
            <a:r>
              <a:rPr lang="en-US" dirty="0" smtClean="0">
                <a:ea typeface="ＭＳ Ｐゴシック" charset="0"/>
              </a:rPr>
              <a:t>(higher </a:t>
            </a:r>
            <a:r>
              <a:rPr lang="en-US" dirty="0">
                <a:ea typeface="ＭＳ Ｐゴシック" charset="0"/>
              </a:rPr>
              <a:t>that all other processes who are </a:t>
            </a:r>
            <a:r>
              <a:rPr lang="en-US" dirty="0" smtClean="0">
                <a:ea typeface="ＭＳ Ｐゴシック" charset="0"/>
              </a:rPr>
              <a:t>already waiting </a:t>
            </a:r>
            <a:r>
              <a:rPr lang="en-US" dirty="0">
                <a:ea typeface="ＭＳ Ｐゴシック" charset="0"/>
              </a:rPr>
              <a:t>to </a:t>
            </a:r>
            <a:r>
              <a:rPr lang="en-US" dirty="0" smtClean="0">
                <a:ea typeface="ＭＳ Ｐゴシック" charset="0"/>
              </a:rPr>
              <a:t>enter).</a:t>
            </a:r>
            <a:endParaRPr lang="en-US" dirty="0">
              <a:ea typeface="ＭＳ Ｐゴシック" charset="0"/>
            </a:endParaRPr>
          </a:p>
          <a:p>
            <a:pPr lvl="1"/>
            <a:r>
              <a:rPr lang="en-US" dirty="0">
                <a:ea typeface="ＭＳ Ｐゴシック" charset="0"/>
              </a:rPr>
              <a:t>A process does not enter the critical region until all processes with </a:t>
            </a:r>
            <a:r>
              <a:rPr lang="en-US" dirty="0" smtClean="0">
                <a:ea typeface="ＭＳ Ｐゴシック" charset="0"/>
              </a:rPr>
              <a:t>smaller numbers </a:t>
            </a:r>
            <a:r>
              <a:rPr lang="en-US" dirty="0">
                <a:ea typeface="ＭＳ Ｐゴシック" charset="0"/>
              </a:rPr>
              <a:t>leave the critical region.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build="p" bldLvl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73012DC5-E917-7241-AF81-FEFC51B7B21F}" type="slidenum">
              <a:rPr lang="en-US" sz="1300"/>
              <a:pPr/>
              <a:t>24</a:t>
            </a:fld>
            <a:endParaRPr lang="en-US" sz="130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Hardware </a:t>
            </a: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Support (1)</a:t>
            </a:r>
            <a:endParaRPr lang="en-US" dirty="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0200" y="1981200"/>
            <a:ext cx="8432800" cy="4114800"/>
          </a:xfrm>
        </p:spPr>
        <p:txBody>
          <a:bodyPr lIns="64008" tIns="32004" rIns="64008" bIns="32004"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Implementation of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Test-And-Set </a:t>
            </a:r>
            <a:r>
              <a:rPr lang="en-US" dirty="0">
                <a:ea typeface="ＭＳ Ｐゴシック" charset="0"/>
                <a:cs typeface="ＭＳ Ｐゴシック" charset="0"/>
              </a:rPr>
              <a:t>Instruction</a:t>
            </a:r>
          </a:p>
          <a:p>
            <a:pPr lvl="1"/>
            <a:r>
              <a:rPr lang="en-US" dirty="0">
                <a:ea typeface="ＭＳ Ｐゴシック" charset="0"/>
              </a:rPr>
              <a:t>Test-and Set must be an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atomic</a:t>
            </a:r>
            <a:r>
              <a:rPr lang="en-US" dirty="0">
                <a:solidFill>
                  <a:srgbClr val="3366FF"/>
                </a:solidFill>
                <a:ea typeface="ＭＳ Ｐゴシック" charset="0"/>
              </a:rPr>
              <a:t> </a:t>
            </a:r>
            <a:r>
              <a:rPr lang="en-US" dirty="0">
                <a:ea typeface="ＭＳ Ｐゴシック" charset="0"/>
              </a:rPr>
              <a:t>operation </a:t>
            </a:r>
            <a:r>
              <a:rPr lang="en-US" dirty="0">
                <a:solidFill>
                  <a:srgbClr val="3366FF"/>
                </a:solidFill>
                <a:ea typeface="ＭＳ Ｐゴシック" charset="0"/>
              </a:rPr>
              <a:t>(</a:t>
            </a:r>
            <a:r>
              <a:rPr lang="en-US" sz="2400" i="1" dirty="0">
                <a:solidFill>
                  <a:srgbClr val="3366FF"/>
                </a:solidFill>
                <a:ea typeface="ＭＳ Ｐゴシック" charset="0"/>
              </a:rPr>
              <a:t>either completely executed or not executed at al</a:t>
            </a:r>
            <a:r>
              <a:rPr lang="en-US" sz="2400" i="1" dirty="0">
                <a:ea typeface="ＭＳ Ｐゴシック" charset="0"/>
              </a:rPr>
              <a:t>l</a:t>
            </a:r>
            <a:r>
              <a:rPr lang="en-US" dirty="0">
                <a:ea typeface="ＭＳ Ｐゴシック" charset="0"/>
              </a:rPr>
              <a:t>)</a:t>
            </a:r>
          </a:p>
          <a:p>
            <a:pPr lvl="1">
              <a:buFontTx/>
              <a:buNone/>
            </a:pPr>
            <a:endParaRPr lang="en-US" dirty="0">
              <a:ea typeface="ＭＳ Ｐゴシック" charset="0"/>
            </a:endParaRPr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352426" y="3661173"/>
            <a:ext cx="3445051" cy="1754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defRPr/>
            </a:pPr>
            <a:r>
              <a:rPr lang="en-US"/>
              <a:t>Boolean  </a:t>
            </a:r>
            <a:r>
              <a:rPr lang="en-US" b="1"/>
              <a:t>Test-and-Set</a:t>
            </a:r>
            <a:r>
              <a:rPr lang="en-US"/>
              <a:t>(int *lock){</a:t>
            </a:r>
          </a:p>
          <a:p>
            <a:pPr>
              <a:defRPr/>
            </a:pPr>
            <a:r>
              <a:rPr lang="en-US"/>
              <a:t>	int register;</a:t>
            </a:r>
          </a:p>
          <a:p>
            <a:pPr>
              <a:defRPr/>
            </a:pPr>
            <a:r>
              <a:rPr lang="en-US"/>
              <a:t>	register = *lock;</a:t>
            </a:r>
          </a:p>
          <a:p>
            <a:pPr>
              <a:defRPr/>
            </a:pPr>
            <a:r>
              <a:rPr lang="en-US"/>
              <a:t>	lock = 1;</a:t>
            </a:r>
          </a:p>
          <a:p>
            <a:pPr>
              <a:defRPr/>
            </a:pPr>
            <a:r>
              <a:rPr lang="en-US"/>
              <a:t>	return(register = = 0);</a:t>
            </a:r>
          </a:p>
          <a:p>
            <a:pPr>
              <a:defRPr/>
            </a:pPr>
            <a:r>
              <a:rPr lang="en-US"/>
              <a:t>}</a:t>
            </a:r>
          </a:p>
        </p:txBody>
      </p:sp>
      <p:sp>
        <p:nvSpPr>
          <p:cNvPr id="83973" name="Text Box 5"/>
          <p:cNvSpPr txBox="1">
            <a:spLocks noChangeArrowheads="1"/>
          </p:cNvSpPr>
          <p:nvPr/>
        </p:nvSpPr>
        <p:spPr bwMode="auto">
          <a:xfrm>
            <a:off x="6016626" y="3596879"/>
            <a:ext cx="184656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4924426" y="4165997"/>
            <a:ext cx="3845380" cy="923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 i="1" dirty="0"/>
              <a:t>Test-and-Set </a:t>
            </a:r>
            <a:r>
              <a:rPr lang="en-US" sz="1800" i="1" dirty="0">
                <a:solidFill>
                  <a:srgbClr val="3366FF"/>
                </a:solidFill>
              </a:rPr>
              <a:t>atomically</a:t>
            </a:r>
            <a:r>
              <a:rPr lang="en-US" sz="1800" i="1" dirty="0"/>
              <a:t>:</a:t>
            </a:r>
          </a:p>
          <a:p>
            <a:pPr>
              <a:buFontTx/>
              <a:buAutoNum type="arabicParenR"/>
              <a:defRPr/>
            </a:pPr>
            <a:r>
              <a:rPr lang="en-US" sz="1800" b="1" i="1" dirty="0"/>
              <a:t>Sets </a:t>
            </a:r>
            <a:r>
              <a:rPr lang="en-US" sz="1800" i="1" dirty="0"/>
              <a:t>lock to 1</a:t>
            </a:r>
          </a:p>
          <a:p>
            <a:pPr>
              <a:buFontTx/>
              <a:buAutoNum type="arabicParenR"/>
              <a:defRPr/>
            </a:pPr>
            <a:r>
              <a:rPr lang="en-US" sz="1800" b="1" i="1" dirty="0"/>
              <a:t>Tests</a:t>
            </a:r>
            <a:r>
              <a:rPr lang="en-US" sz="1800" i="1" dirty="0"/>
              <a:t> whether the lock was open (0)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 autoUpdateAnimBg="0"/>
      <p:bldP spid="83974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5FDDF592-A2B1-764D-B529-7BE06FC6CE80}" type="slidenum">
              <a:rPr lang="en-US" sz="1300"/>
              <a:pPr/>
              <a:t>25</a:t>
            </a:fld>
            <a:endParaRPr lang="en-US" sz="130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771525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 anchor="ctr"/>
          <a:lstStyle/>
          <a:p>
            <a:pPr algn="ctr">
              <a:defRPr/>
            </a:pP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241300" y="1765697"/>
            <a:ext cx="3784600" cy="37719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238125" y="1704975"/>
            <a:ext cx="1083527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defRPr/>
            </a:pPr>
            <a:r>
              <a:rPr lang="en-US"/>
              <a:t>while (1){</a:t>
            </a: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250826" y="5120879"/>
            <a:ext cx="2018491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defRPr/>
            </a:pPr>
            <a:r>
              <a:rPr lang="en-US"/>
              <a:t>} /* end while (1) */</a:t>
            </a:r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584200" y="2234803"/>
            <a:ext cx="3009900" cy="813197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>
              <a:defRPr/>
            </a:pPr>
            <a:r>
              <a:rPr lang="en-US" sz="1600" b="1"/>
              <a:t>While (!Test-And-Set(&amp;Lock));</a:t>
            </a:r>
          </a:p>
        </p:txBody>
      </p:sp>
      <p:sp>
        <p:nvSpPr>
          <p:cNvPr id="84999" name="Rectangle 7"/>
          <p:cNvSpPr>
            <a:spLocks noChangeArrowheads="1"/>
          </p:cNvSpPr>
          <p:nvPr/>
        </p:nvSpPr>
        <p:spPr bwMode="auto">
          <a:xfrm>
            <a:off x="571500" y="4051698"/>
            <a:ext cx="2705100" cy="367903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/>
              <a:t>Lock = 0;</a:t>
            </a:r>
          </a:p>
        </p:txBody>
      </p: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596900" y="3111104"/>
            <a:ext cx="2679700" cy="838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/>
              <a:t>Critical Region</a:t>
            </a:r>
          </a:p>
        </p:txBody>
      </p:sp>
      <p:sp>
        <p:nvSpPr>
          <p:cNvPr id="85001" name="Rectangle 9"/>
          <p:cNvSpPr>
            <a:spLocks noChangeArrowheads="1"/>
          </p:cNvSpPr>
          <p:nvPr/>
        </p:nvSpPr>
        <p:spPr bwMode="auto">
          <a:xfrm>
            <a:off x="1168400" y="4546998"/>
            <a:ext cx="2108200" cy="507206"/>
          </a:xfrm>
          <a:prstGeom prst="rect">
            <a:avLst/>
          </a:prstGeom>
          <a:noFill/>
          <a:ln w="5715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/>
              <a:t>Remainder</a:t>
            </a:r>
          </a:p>
        </p:txBody>
      </p:sp>
      <p:sp>
        <p:nvSpPr>
          <p:cNvPr id="85002" name="Rectangle 10"/>
          <p:cNvSpPr>
            <a:spLocks noChangeArrowheads="1"/>
          </p:cNvSpPr>
          <p:nvPr/>
        </p:nvSpPr>
        <p:spPr bwMode="auto">
          <a:xfrm>
            <a:off x="88900" y="0"/>
            <a:ext cx="8458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 anchor="ctr"/>
          <a:lstStyle/>
          <a:p>
            <a:pPr>
              <a:defRPr/>
            </a:pPr>
            <a:r>
              <a:rPr lang="en-US" sz="3600" dirty="0">
                <a:solidFill>
                  <a:srgbClr val="7F7F7F"/>
                </a:solidFill>
              </a:rPr>
              <a:t>Mutual Exclusion Using Test-And-Set</a:t>
            </a:r>
          </a:p>
        </p:txBody>
      </p:sp>
      <p:sp>
        <p:nvSpPr>
          <p:cNvPr id="85003" name="Rectangle 11"/>
          <p:cNvSpPr>
            <a:spLocks noChangeArrowheads="1"/>
          </p:cNvSpPr>
          <p:nvPr/>
        </p:nvSpPr>
        <p:spPr bwMode="auto">
          <a:xfrm>
            <a:off x="241300" y="1041797"/>
            <a:ext cx="8470900" cy="571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>
              <a:defRPr/>
            </a:pPr>
            <a:r>
              <a:rPr lang="en-US" sz="2000"/>
              <a:t>System variables: Lock = 0;</a:t>
            </a:r>
          </a:p>
        </p:txBody>
      </p:sp>
      <p:sp>
        <p:nvSpPr>
          <p:cNvPr id="85008" name="Rectangle 16"/>
          <p:cNvSpPr>
            <a:spLocks noChangeArrowheads="1"/>
          </p:cNvSpPr>
          <p:nvPr/>
        </p:nvSpPr>
        <p:spPr bwMode="auto">
          <a:xfrm>
            <a:off x="304800" y="5701904"/>
            <a:ext cx="1930400" cy="2928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 sz="1600" b="1"/>
              <a:t>Mutual Exclusion ?</a:t>
            </a:r>
          </a:p>
        </p:txBody>
      </p:sp>
      <p:sp>
        <p:nvSpPr>
          <p:cNvPr id="85009" name="Rectangle 17"/>
          <p:cNvSpPr>
            <a:spLocks noChangeArrowheads="1"/>
          </p:cNvSpPr>
          <p:nvPr/>
        </p:nvSpPr>
        <p:spPr bwMode="auto">
          <a:xfrm>
            <a:off x="2362200" y="5701904"/>
            <a:ext cx="558800" cy="2928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 sz="1600" b="1"/>
              <a:t>Yes</a:t>
            </a:r>
          </a:p>
        </p:txBody>
      </p:sp>
      <p:sp>
        <p:nvSpPr>
          <p:cNvPr id="85010" name="Rectangle 18"/>
          <p:cNvSpPr>
            <a:spLocks noChangeArrowheads="1"/>
          </p:cNvSpPr>
          <p:nvPr/>
        </p:nvSpPr>
        <p:spPr bwMode="auto">
          <a:xfrm>
            <a:off x="304800" y="6044804"/>
            <a:ext cx="1930400" cy="2928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 sz="1600" b="1"/>
              <a:t>Progress ?</a:t>
            </a:r>
          </a:p>
        </p:txBody>
      </p:sp>
      <p:sp>
        <p:nvSpPr>
          <p:cNvPr id="85011" name="Rectangle 19"/>
          <p:cNvSpPr>
            <a:spLocks noChangeArrowheads="1"/>
          </p:cNvSpPr>
          <p:nvPr/>
        </p:nvSpPr>
        <p:spPr bwMode="auto">
          <a:xfrm>
            <a:off x="2362200" y="6057900"/>
            <a:ext cx="558800" cy="2917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 sz="1600" b="1"/>
              <a:t>Yes</a:t>
            </a:r>
          </a:p>
        </p:txBody>
      </p:sp>
      <p:grpSp>
        <p:nvGrpSpPr>
          <p:cNvPr id="85018" name="Group 26"/>
          <p:cNvGrpSpPr>
            <a:grpSpLocks/>
          </p:cNvGrpSpPr>
          <p:nvPr/>
        </p:nvGrpSpPr>
        <p:grpSpPr bwMode="auto">
          <a:xfrm>
            <a:off x="4492625" y="1704975"/>
            <a:ext cx="3787775" cy="3819525"/>
            <a:chOff x="2830" y="1074"/>
            <a:chExt cx="2386" cy="2406"/>
          </a:xfrm>
        </p:grpSpPr>
        <p:sp>
          <p:nvSpPr>
            <p:cNvPr id="85004" name="Rectangle 12"/>
            <p:cNvSpPr>
              <a:spLocks noChangeArrowheads="1"/>
            </p:cNvSpPr>
            <p:nvPr/>
          </p:nvSpPr>
          <p:spPr bwMode="auto">
            <a:xfrm>
              <a:off x="2832" y="1112"/>
              <a:ext cx="2384" cy="23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5005" name="Text Box 13"/>
            <p:cNvSpPr txBox="1">
              <a:spLocks noChangeArrowheads="1"/>
            </p:cNvSpPr>
            <p:nvPr/>
          </p:nvSpPr>
          <p:spPr bwMode="auto">
            <a:xfrm>
              <a:off x="2830" y="1074"/>
              <a:ext cx="68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/>
                <a:t>while (1){</a:t>
              </a:r>
            </a:p>
          </p:txBody>
        </p:sp>
        <p:sp>
          <p:nvSpPr>
            <p:cNvPr id="85006" name="Text Box 14"/>
            <p:cNvSpPr txBox="1">
              <a:spLocks noChangeArrowheads="1"/>
            </p:cNvSpPr>
            <p:nvPr/>
          </p:nvSpPr>
          <p:spPr bwMode="auto">
            <a:xfrm>
              <a:off x="2854" y="3154"/>
              <a:ext cx="12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/>
                <a:t>} /* end while (1) */</a:t>
              </a:r>
            </a:p>
          </p:txBody>
        </p:sp>
        <p:sp>
          <p:nvSpPr>
            <p:cNvPr id="85007" name="Rectangle 15"/>
            <p:cNvSpPr>
              <a:spLocks noChangeArrowheads="1"/>
            </p:cNvSpPr>
            <p:nvPr/>
          </p:nvSpPr>
          <p:spPr bwMode="auto">
            <a:xfrm>
              <a:off x="3416" y="2808"/>
              <a:ext cx="1328" cy="320"/>
            </a:xfrm>
            <a:prstGeom prst="rect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/>
                <a:t>Remainder</a:t>
              </a:r>
            </a:p>
          </p:txBody>
        </p:sp>
        <p:sp>
          <p:nvSpPr>
            <p:cNvPr id="85013" name="Rectangle 21"/>
            <p:cNvSpPr>
              <a:spLocks noChangeArrowheads="1"/>
            </p:cNvSpPr>
            <p:nvPr/>
          </p:nvSpPr>
          <p:spPr bwMode="auto">
            <a:xfrm>
              <a:off x="3248" y="2552"/>
              <a:ext cx="1704" cy="232"/>
            </a:xfrm>
            <a:prstGeom prst="rect">
              <a:avLst/>
            </a:prstGeom>
            <a:noFill/>
            <a:ln w="28575">
              <a:solidFill>
                <a:srgbClr val="3366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/>
                <a:t>Lock = 0</a:t>
              </a:r>
              <a:r>
                <a:rPr lang="en-US" dirty="0" smtClean="0"/>
                <a:t>; </a:t>
              </a:r>
              <a:endParaRPr lang="en-US" dirty="0"/>
            </a:p>
          </p:txBody>
        </p:sp>
        <p:sp>
          <p:nvSpPr>
            <p:cNvPr id="85014" name="Rectangle 22"/>
            <p:cNvSpPr>
              <a:spLocks noChangeArrowheads="1"/>
            </p:cNvSpPr>
            <p:nvPr/>
          </p:nvSpPr>
          <p:spPr bwMode="auto">
            <a:xfrm>
              <a:off x="3264" y="1960"/>
              <a:ext cx="1688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/>
                <a:t>Critical Region</a:t>
              </a:r>
            </a:p>
          </p:txBody>
        </p:sp>
        <p:sp>
          <p:nvSpPr>
            <p:cNvPr id="85015" name="Rectangle 23"/>
            <p:cNvSpPr>
              <a:spLocks noChangeArrowheads="1"/>
            </p:cNvSpPr>
            <p:nvPr/>
          </p:nvSpPr>
          <p:spPr bwMode="auto">
            <a:xfrm>
              <a:off x="3240" y="1360"/>
              <a:ext cx="1896" cy="512"/>
            </a:xfrm>
            <a:prstGeom prst="rect">
              <a:avLst/>
            </a:prstGeom>
            <a:noFill/>
            <a:ln w="28575">
              <a:solidFill>
                <a:srgbClr val="3366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600" b="1"/>
                <a:t>While (!Test-And-Set(&amp;Lock));</a:t>
              </a:r>
            </a:p>
          </p:txBody>
        </p:sp>
      </p:grpSp>
      <p:sp>
        <p:nvSpPr>
          <p:cNvPr id="85016" name="Rectangle 24"/>
          <p:cNvSpPr>
            <a:spLocks noChangeArrowheads="1"/>
          </p:cNvSpPr>
          <p:nvPr/>
        </p:nvSpPr>
        <p:spPr bwMode="auto">
          <a:xfrm>
            <a:off x="3543300" y="5854304"/>
            <a:ext cx="1930400" cy="2928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 sz="1600" b="1"/>
              <a:t>Bounded Waiting ?</a:t>
            </a:r>
          </a:p>
        </p:txBody>
      </p:sp>
      <p:sp>
        <p:nvSpPr>
          <p:cNvPr id="85017" name="Rectangle 25"/>
          <p:cNvSpPr>
            <a:spLocks noChangeArrowheads="1"/>
          </p:cNvSpPr>
          <p:nvPr/>
        </p:nvSpPr>
        <p:spPr bwMode="auto">
          <a:xfrm>
            <a:off x="5600700" y="5854304"/>
            <a:ext cx="558800" cy="2928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 sz="1600" b="1"/>
              <a:t>Yes</a:t>
            </a:r>
          </a:p>
        </p:txBody>
      </p:sp>
      <p:sp>
        <p:nvSpPr>
          <p:cNvPr id="29" name="Rectangle 28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8" grpId="0" animBg="1" autoUpdateAnimBg="0"/>
      <p:bldP spid="84999" grpId="0" animBg="1" autoUpdateAnimBg="0"/>
      <p:bldP spid="85008" grpId="0" animBg="1" autoUpdateAnimBg="0"/>
      <p:bldP spid="85009" grpId="0" animBg="1" autoUpdateAnimBg="0"/>
      <p:bldP spid="85010" grpId="0" animBg="1" autoUpdateAnimBg="0"/>
      <p:bldP spid="85011" grpId="0" animBg="1" autoUpdateAnimBg="0"/>
      <p:bldP spid="85016" grpId="0" animBg="1" autoUpdateAnimBg="0"/>
      <p:bldP spid="85017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9645F43D-DF97-C74A-ACFB-8B3A6BE5CBFA}" type="slidenum">
              <a:rPr lang="en-US" sz="1300"/>
              <a:pPr/>
              <a:t>26</a:t>
            </a:fld>
            <a:endParaRPr lang="en-US" sz="130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114300" y="165100"/>
            <a:ext cx="5305826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 anchor="ctr"/>
          <a:lstStyle/>
          <a:p>
            <a:pPr>
              <a:defRPr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Hardware Support </a:t>
            </a:r>
            <a:r>
              <a:rPr lang="en-US" sz="3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(2)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30200" y="1981200"/>
            <a:ext cx="8432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/>
          <a:lstStyle/>
          <a:p>
            <a:pPr marL="342883" indent="-342883">
              <a:spcBef>
                <a:spcPct val="20000"/>
              </a:spcBef>
              <a:buClr>
                <a:schemeClr val="accent2"/>
              </a:buClr>
              <a:buFontTx/>
              <a:buChar char="•"/>
              <a:defRPr/>
            </a:pPr>
            <a:r>
              <a:rPr lang="en-US" sz="2400" dirty="0">
                <a:solidFill>
                  <a:srgbClr val="7F7F7F"/>
                </a:solidFill>
              </a:rPr>
              <a:t>Implementation of Swap</a:t>
            </a:r>
          </a:p>
          <a:p>
            <a:pPr marL="742913" lvl="1" indent="-285736">
              <a:spcBef>
                <a:spcPct val="20000"/>
              </a:spcBef>
              <a:buClr>
                <a:schemeClr val="accent2"/>
              </a:buClr>
              <a:buFontTx/>
              <a:buChar char="–"/>
              <a:defRPr/>
            </a:pPr>
            <a:r>
              <a:rPr lang="en-US" sz="2400" b="1" dirty="0">
                <a:solidFill>
                  <a:srgbClr val="3366FF"/>
                </a:solidFill>
              </a:rPr>
              <a:t>Swap</a:t>
            </a:r>
            <a:r>
              <a:rPr lang="en-US" sz="2400" dirty="0">
                <a:solidFill>
                  <a:srgbClr val="3366FF"/>
                </a:solidFill>
              </a:rPr>
              <a:t> </a:t>
            </a:r>
            <a:r>
              <a:rPr lang="en-US" sz="2400" dirty="0"/>
              <a:t>must be an </a:t>
            </a:r>
            <a:r>
              <a:rPr lang="en-US" sz="2400" b="1" dirty="0">
                <a:solidFill>
                  <a:srgbClr val="3366FF"/>
                </a:solidFill>
              </a:rPr>
              <a:t>atomic</a:t>
            </a:r>
            <a:r>
              <a:rPr lang="en-US" sz="2400" dirty="0">
                <a:solidFill>
                  <a:srgbClr val="3366FF"/>
                </a:solidFill>
              </a:rPr>
              <a:t> </a:t>
            </a:r>
            <a:r>
              <a:rPr lang="en-US" sz="2400" dirty="0"/>
              <a:t>operation</a:t>
            </a:r>
            <a:r>
              <a:rPr lang="en-US" sz="2800" dirty="0"/>
              <a:t> </a:t>
            </a:r>
            <a:r>
              <a:rPr lang="en-US" i="1" dirty="0" smtClean="0">
                <a:solidFill>
                  <a:srgbClr val="3366FF"/>
                </a:solidFill>
              </a:rPr>
              <a:t>(either </a:t>
            </a:r>
            <a:r>
              <a:rPr lang="en-US" i="1" dirty="0">
                <a:solidFill>
                  <a:srgbClr val="3366FF"/>
                </a:solidFill>
              </a:rPr>
              <a:t>completely executed or not executed at </a:t>
            </a:r>
            <a:r>
              <a:rPr lang="en-US" i="1" dirty="0" smtClean="0">
                <a:solidFill>
                  <a:srgbClr val="3366FF"/>
                </a:solidFill>
              </a:rPr>
              <a:t>all)</a:t>
            </a:r>
            <a:endParaRPr lang="en-US" sz="2800" dirty="0">
              <a:solidFill>
                <a:srgbClr val="3366FF"/>
              </a:solidFill>
            </a:endParaRPr>
          </a:p>
          <a:p>
            <a:pPr marL="742913" lvl="1" indent="-285736">
              <a:spcBef>
                <a:spcPct val="20000"/>
              </a:spcBef>
              <a:buClr>
                <a:schemeClr val="accent2"/>
              </a:buClr>
              <a:defRPr/>
            </a:pPr>
            <a:endParaRPr lang="en-US" sz="2800" dirty="0"/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352426" y="3661173"/>
            <a:ext cx="2800757" cy="1754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defRPr/>
            </a:pPr>
            <a:r>
              <a:rPr lang="en-US" dirty="0"/>
              <a:t>void  </a:t>
            </a:r>
            <a:r>
              <a:rPr lang="en-US" b="1" dirty="0">
                <a:solidFill>
                  <a:srgbClr val="3366FF"/>
                </a:solidFill>
              </a:rPr>
              <a:t>Swap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*lock, *key){</a:t>
            </a:r>
          </a:p>
          <a:p>
            <a:pPr>
              <a:defRPr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register;</a:t>
            </a:r>
          </a:p>
          <a:p>
            <a:pPr>
              <a:defRPr/>
            </a:pPr>
            <a:r>
              <a:rPr lang="en-US" dirty="0"/>
              <a:t>	register = *lock;</a:t>
            </a:r>
          </a:p>
          <a:p>
            <a:pPr>
              <a:defRPr/>
            </a:pPr>
            <a:r>
              <a:rPr lang="en-US" dirty="0"/>
              <a:t>	*lock    = *key;</a:t>
            </a:r>
          </a:p>
          <a:p>
            <a:pPr>
              <a:defRPr/>
            </a:pPr>
            <a:r>
              <a:rPr lang="en-US" dirty="0"/>
              <a:t>	*key     = register;</a:t>
            </a:r>
          </a:p>
          <a:p>
            <a:pPr>
              <a:defRPr/>
            </a:pPr>
            <a:r>
              <a:rPr lang="en-US" dirty="0"/>
              <a:t>}</a:t>
            </a: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6016626" y="3596879"/>
            <a:ext cx="184656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4746626" y="4165997"/>
            <a:ext cx="3358142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 i="1"/>
              <a:t>Swap atomically </a:t>
            </a:r>
            <a:r>
              <a:rPr lang="en-US" sz="1800" b="1" i="1"/>
              <a:t>Swaps </a:t>
            </a:r>
            <a:r>
              <a:rPr lang="en-US" sz="1800" i="1"/>
              <a:t>the inputs</a:t>
            </a:r>
            <a:endParaRPr lang="en-US" smtClean="0"/>
          </a:p>
        </p:txBody>
      </p:sp>
      <p:sp>
        <p:nvSpPr>
          <p:cNvPr id="10" name="Rectangle 9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autoUpdateAnimBg="0"/>
      <p:bldP spid="8602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C2D15EB4-9793-5746-9A78-24AACC06E2B5}" type="slidenum">
              <a:rPr lang="en-US" sz="1300"/>
              <a:pPr/>
              <a:t>27</a:t>
            </a:fld>
            <a:endParaRPr lang="en-US" sz="130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771525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 anchor="ctr"/>
          <a:lstStyle/>
          <a:p>
            <a:pPr algn="ctr">
              <a:defRPr/>
            </a:pP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241300" y="1765697"/>
            <a:ext cx="3784600" cy="37719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238125" y="1704975"/>
            <a:ext cx="1083527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defRPr/>
            </a:pPr>
            <a:r>
              <a:rPr lang="en-US"/>
              <a:t>while (1){</a:t>
            </a:r>
          </a:p>
        </p:txBody>
      </p:sp>
      <p:sp>
        <p:nvSpPr>
          <p:cNvPr id="87045" name="Text Box 5"/>
          <p:cNvSpPr txBox="1">
            <a:spLocks noChangeArrowheads="1"/>
          </p:cNvSpPr>
          <p:nvPr/>
        </p:nvSpPr>
        <p:spPr bwMode="auto">
          <a:xfrm>
            <a:off x="250826" y="5120879"/>
            <a:ext cx="2018491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defRPr/>
            </a:pPr>
            <a:r>
              <a:rPr lang="en-US"/>
              <a:t>} /* end while (1) */</a:t>
            </a:r>
          </a:p>
        </p:txBody>
      </p:sp>
      <p:sp>
        <p:nvSpPr>
          <p:cNvPr id="87047" name="Rectangle 7"/>
          <p:cNvSpPr>
            <a:spLocks noChangeArrowheads="1"/>
          </p:cNvSpPr>
          <p:nvPr/>
        </p:nvSpPr>
        <p:spPr bwMode="auto">
          <a:xfrm>
            <a:off x="571500" y="4051698"/>
            <a:ext cx="2705100" cy="36790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596900" y="3111104"/>
            <a:ext cx="2679700" cy="838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/>
              <a:t>Critical Region</a:t>
            </a:r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1168400" y="4546998"/>
            <a:ext cx="2108200" cy="507206"/>
          </a:xfrm>
          <a:prstGeom prst="rect">
            <a:avLst/>
          </a:prstGeom>
          <a:noFill/>
          <a:ln w="5715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/>
              <a:t>Remainder</a:t>
            </a:r>
          </a:p>
        </p:txBody>
      </p: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203200" y="215900"/>
            <a:ext cx="56515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 anchor="ctr"/>
          <a:lstStyle/>
          <a:p>
            <a:pPr>
              <a:defRPr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Mutual Exclusion Using Swap</a:t>
            </a:r>
          </a:p>
        </p:txBody>
      </p:sp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241300" y="1041797"/>
            <a:ext cx="8470900" cy="571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>
              <a:defRPr/>
            </a:pPr>
            <a:r>
              <a:rPr lang="en-US" sz="2000"/>
              <a:t>System variables: </a:t>
            </a:r>
            <a:r>
              <a:rPr lang="en-US" sz="2000" b="1"/>
              <a:t>?</a:t>
            </a:r>
          </a:p>
        </p:txBody>
      </p:sp>
      <p:sp>
        <p:nvSpPr>
          <p:cNvPr id="87056" name="Rectangle 16"/>
          <p:cNvSpPr>
            <a:spLocks noChangeArrowheads="1"/>
          </p:cNvSpPr>
          <p:nvPr/>
        </p:nvSpPr>
        <p:spPr bwMode="auto">
          <a:xfrm>
            <a:off x="304800" y="5701904"/>
            <a:ext cx="1930400" cy="2928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 sz="1600" b="1"/>
              <a:t>Mutual Exclusion ?</a:t>
            </a:r>
          </a:p>
        </p:txBody>
      </p:sp>
      <p:sp>
        <p:nvSpPr>
          <p:cNvPr id="87058" name="Rectangle 18"/>
          <p:cNvSpPr>
            <a:spLocks noChangeArrowheads="1"/>
          </p:cNvSpPr>
          <p:nvPr/>
        </p:nvSpPr>
        <p:spPr bwMode="auto">
          <a:xfrm>
            <a:off x="304800" y="6044804"/>
            <a:ext cx="1930400" cy="2928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 sz="1600" b="1"/>
              <a:t>Progress ?</a:t>
            </a:r>
          </a:p>
        </p:txBody>
      </p:sp>
      <p:sp>
        <p:nvSpPr>
          <p:cNvPr id="87063" name="Rectangle 23"/>
          <p:cNvSpPr>
            <a:spLocks noChangeArrowheads="1"/>
          </p:cNvSpPr>
          <p:nvPr/>
        </p:nvSpPr>
        <p:spPr bwMode="auto">
          <a:xfrm>
            <a:off x="3543300" y="5854304"/>
            <a:ext cx="1930400" cy="2928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defRPr/>
            </a:pPr>
            <a:r>
              <a:rPr lang="en-US" sz="1600" b="1"/>
              <a:t>Bounded Waiting ?</a:t>
            </a:r>
          </a:p>
        </p:txBody>
      </p:sp>
      <p:grpSp>
        <p:nvGrpSpPr>
          <p:cNvPr id="28688" name="Group 29"/>
          <p:cNvGrpSpPr>
            <a:grpSpLocks/>
          </p:cNvGrpSpPr>
          <p:nvPr/>
        </p:nvGrpSpPr>
        <p:grpSpPr bwMode="auto">
          <a:xfrm>
            <a:off x="584200" y="2215753"/>
            <a:ext cx="3009900" cy="832247"/>
            <a:chOff x="368" y="1396"/>
            <a:chExt cx="1896" cy="524"/>
          </a:xfrm>
        </p:grpSpPr>
        <p:sp>
          <p:nvSpPr>
            <p:cNvPr id="87046" name="Rectangle 6"/>
            <p:cNvSpPr>
              <a:spLocks noChangeArrowheads="1"/>
            </p:cNvSpPr>
            <p:nvPr/>
          </p:nvSpPr>
          <p:spPr bwMode="auto">
            <a:xfrm>
              <a:off x="368" y="1408"/>
              <a:ext cx="1896" cy="5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 b="1"/>
            </a:p>
          </p:txBody>
        </p:sp>
        <p:sp>
          <p:nvSpPr>
            <p:cNvPr id="87068" name="Text Box 28"/>
            <p:cNvSpPr txBox="1">
              <a:spLocks noChangeArrowheads="1"/>
            </p:cNvSpPr>
            <p:nvPr/>
          </p:nvSpPr>
          <p:spPr bwMode="auto">
            <a:xfrm>
              <a:off x="1238" y="1396"/>
              <a:ext cx="21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200" b="1"/>
                <a:t>?</a:t>
              </a:r>
            </a:p>
          </p:txBody>
        </p:sp>
      </p:grpSp>
      <p:grpSp>
        <p:nvGrpSpPr>
          <p:cNvPr id="28689" name="Group 31"/>
          <p:cNvGrpSpPr>
            <a:grpSpLocks/>
          </p:cNvGrpSpPr>
          <p:nvPr/>
        </p:nvGrpSpPr>
        <p:grpSpPr bwMode="auto">
          <a:xfrm>
            <a:off x="4492625" y="1704975"/>
            <a:ext cx="3787775" cy="3819525"/>
            <a:chOff x="2830" y="1074"/>
            <a:chExt cx="2386" cy="2406"/>
          </a:xfrm>
        </p:grpSpPr>
        <p:sp>
          <p:nvSpPr>
            <p:cNvPr id="87052" name="Rectangle 12"/>
            <p:cNvSpPr>
              <a:spLocks noChangeArrowheads="1"/>
            </p:cNvSpPr>
            <p:nvPr/>
          </p:nvSpPr>
          <p:spPr bwMode="auto">
            <a:xfrm>
              <a:off x="2832" y="1112"/>
              <a:ext cx="2384" cy="23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7053" name="Text Box 13"/>
            <p:cNvSpPr txBox="1">
              <a:spLocks noChangeArrowheads="1"/>
            </p:cNvSpPr>
            <p:nvPr/>
          </p:nvSpPr>
          <p:spPr bwMode="auto">
            <a:xfrm>
              <a:off x="2830" y="1074"/>
              <a:ext cx="68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/>
                <a:t>while (1){</a:t>
              </a:r>
            </a:p>
          </p:txBody>
        </p:sp>
        <p:sp>
          <p:nvSpPr>
            <p:cNvPr id="87054" name="Text Box 14"/>
            <p:cNvSpPr txBox="1">
              <a:spLocks noChangeArrowheads="1"/>
            </p:cNvSpPr>
            <p:nvPr/>
          </p:nvSpPr>
          <p:spPr bwMode="auto">
            <a:xfrm>
              <a:off x="2854" y="3154"/>
              <a:ext cx="12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/>
                <a:t>} /* end while (1) */</a:t>
              </a:r>
            </a:p>
          </p:txBody>
        </p:sp>
        <p:sp>
          <p:nvSpPr>
            <p:cNvPr id="87055" name="Rectangle 15"/>
            <p:cNvSpPr>
              <a:spLocks noChangeArrowheads="1"/>
            </p:cNvSpPr>
            <p:nvPr/>
          </p:nvSpPr>
          <p:spPr bwMode="auto">
            <a:xfrm>
              <a:off x="3416" y="2808"/>
              <a:ext cx="1328" cy="320"/>
            </a:xfrm>
            <a:prstGeom prst="rect">
              <a:avLst/>
            </a:prstGeom>
            <a:noFill/>
            <a:ln w="5715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/>
                <a:t>Remainder</a:t>
              </a:r>
            </a:p>
          </p:txBody>
        </p:sp>
        <p:sp>
          <p:nvSpPr>
            <p:cNvPr id="87060" name="Rectangle 20"/>
            <p:cNvSpPr>
              <a:spLocks noChangeArrowheads="1"/>
            </p:cNvSpPr>
            <p:nvPr/>
          </p:nvSpPr>
          <p:spPr bwMode="auto">
            <a:xfrm>
              <a:off x="3248" y="2552"/>
              <a:ext cx="1704" cy="2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7061" name="Rectangle 21"/>
            <p:cNvSpPr>
              <a:spLocks noChangeArrowheads="1"/>
            </p:cNvSpPr>
            <p:nvPr/>
          </p:nvSpPr>
          <p:spPr bwMode="auto">
            <a:xfrm>
              <a:off x="3264" y="1960"/>
              <a:ext cx="1688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/>
                <a:t>Critical Region</a:t>
              </a:r>
            </a:p>
          </p:txBody>
        </p:sp>
        <p:sp>
          <p:nvSpPr>
            <p:cNvPr id="87062" name="Rectangle 22"/>
            <p:cNvSpPr>
              <a:spLocks noChangeArrowheads="1"/>
            </p:cNvSpPr>
            <p:nvPr/>
          </p:nvSpPr>
          <p:spPr bwMode="auto">
            <a:xfrm>
              <a:off x="3240" y="1360"/>
              <a:ext cx="1896" cy="5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 b="1"/>
            </a:p>
          </p:txBody>
        </p:sp>
        <p:sp>
          <p:nvSpPr>
            <p:cNvPr id="87070" name="Text Box 30"/>
            <p:cNvSpPr txBox="1">
              <a:spLocks noChangeArrowheads="1"/>
            </p:cNvSpPr>
            <p:nvPr/>
          </p:nvSpPr>
          <p:spPr bwMode="auto">
            <a:xfrm>
              <a:off x="4038" y="1356"/>
              <a:ext cx="21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200" b="1"/>
                <a:t>?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D0C89EF8-B3E3-F343-B26F-278F8A2208BD}" type="slidenum">
              <a:rPr lang="en-US" sz="1300"/>
              <a:pPr/>
              <a:t>28</a:t>
            </a:fld>
            <a:endParaRPr lang="en-US" sz="130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325439"/>
            <a:ext cx="8229600" cy="611191"/>
          </a:xfrm>
        </p:spPr>
        <p:txBody>
          <a:bodyPr lIns="64008" tIns="32004" rIns="64008" bIns="32004"/>
          <a:lstStyle/>
          <a:p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Semaphores : </a:t>
            </a:r>
            <a:r>
              <a:rPr lang="en-US" dirty="0" smtClean="0">
                <a:latin typeface="+mn-lt"/>
                <a:ea typeface="ＭＳ Ｐゴシック" charset="0"/>
                <a:cs typeface="ＭＳ Ｐゴシック" charset="0"/>
              </a:rPr>
              <a:t> An </a:t>
            </a:r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OS System Construct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A semaphore S is an 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integer variable </a:t>
            </a:r>
            <a:r>
              <a:rPr lang="en-US" dirty="0">
                <a:ea typeface="ＭＳ Ｐゴシック" charset="0"/>
                <a:cs typeface="ＭＳ Ｐゴシック" charset="0"/>
              </a:rPr>
              <a:t>which is accessed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exclusively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through two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atomic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operations</a:t>
            </a:r>
          </a:p>
          <a:p>
            <a:pPr lvl="1"/>
            <a:r>
              <a:rPr lang="en-US" b="1" i="1" dirty="0">
                <a:ea typeface="ＭＳ Ｐゴシック" charset="0"/>
              </a:rPr>
              <a:t>Down</a:t>
            </a:r>
            <a:r>
              <a:rPr lang="en-US" dirty="0">
                <a:ea typeface="ＭＳ Ｐゴシック" charset="0"/>
              </a:rPr>
              <a:t>(S)  (called also P </a:t>
            </a:r>
            <a:r>
              <a:rPr lang="en-US" dirty="0" smtClean="0">
                <a:ea typeface="ＭＳ Ｐゴシック" charset="0"/>
              </a:rPr>
              <a:t>primitive or </a:t>
            </a:r>
            <a:r>
              <a:rPr lang="en-US" b="1" dirty="0" smtClean="0">
                <a:solidFill>
                  <a:srgbClr val="3366FF"/>
                </a:solidFill>
                <a:ea typeface="ＭＳ Ｐゴシック" charset="0"/>
              </a:rPr>
              <a:t>wait</a:t>
            </a:r>
            <a:r>
              <a:rPr lang="en-US" dirty="0" smtClean="0">
                <a:ea typeface="ＭＳ Ｐゴシック" charset="0"/>
              </a:rPr>
              <a:t>)</a:t>
            </a:r>
            <a:endParaRPr lang="en-US" dirty="0">
              <a:ea typeface="ＭＳ Ｐゴシック" charset="0"/>
            </a:endParaRPr>
          </a:p>
          <a:p>
            <a:pPr lvl="1"/>
            <a:r>
              <a:rPr lang="en-US" b="1" i="1" dirty="0">
                <a:ea typeface="ＭＳ Ｐゴシック" charset="0"/>
              </a:rPr>
              <a:t>Up</a:t>
            </a:r>
            <a:r>
              <a:rPr lang="en-US" dirty="0">
                <a:ea typeface="ＭＳ Ｐゴシック" charset="0"/>
              </a:rPr>
              <a:t>(S)       (called also V </a:t>
            </a:r>
            <a:r>
              <a:rPr lang="en-US" dirty="0" smtClean="0">
                <a:ea typeface="ＭＳ Ｐゴシック" charset="0"/>
              </a:rPr>
              <a:t>primitive or </a:t>
            </a:r>
            <a:r>
              <a:rPr lang="en-US" b="1" dirty="0" smtClean="0">
                <a:solidFill>
                  <a:srgbClr val="3366FF"/>
                </a:solidFill>
                <a:ea typeface="ＭＳ Ｐゴシック" charset="0"/>
              </a:rPr>
              <a:t>signal</a:t>
            </a:r>
            <a:r>
              <a:rPr lang="en-US" dirty="0" smtClean="0">
                <a:ea typeface="ＭＳ Ｐゴシック" charset="0"/>
              </a:rPr>
              <a:t>)</a:t>
            </a:r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32800" y="6210301"/>
            <a:ext cx="495300" cy="4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D649E0BC-63D1-5645-B722-BE7BF0BE5139}" type="slidenum">
              <a:rPr lang="en-US" sz="1300"/>
              <a:pPr/>
              <a:t>29</a:t>
            </a:fld>
            <a:endParaRPr lang="en-US" sz="130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Semaphore (</a:t>
            </a:r>
            <a:r>
              <a:rPr lang="en-US" dirty="0" err="1">
                <a:latin typeface="+mn-lt"/>
                <a:ea typeface="ＭＳ Ｐゴシック" charset="0"/>
                <a:cs typeface="ＭＳ Ｐゴシック" charset="0"/>
              </a:rPr>
              <a:t>Cont</a:t>
            </a:r>
            <a:r>
              <a:rPr lang="ja-JP" altLang="en-US" dirty="0">
                <a:latin typeface="+mn-lt"/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dirty="0">
                <a:latin typeface="+mn-lt"/>
                <a:ea typeface="ＭＳ Ｐゴシック" charset="0"/>
                <a:cs typeface="ＭＳ Ｐゴシック" charset="0"/>
              </a:rPr>
              <a:t>d)</a:t>
            </a:r>
            <a:endParaRPr lang="en-US" dirty="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pPr>
              <a:lnSpc>
                <a:spcPct val="90000"/>
              </a:lnSpc>
            </a:pPr>
            <a:r>
              <a:rPr lang="en-US" sz="2800" dirty="0" smtClean="0">
                <a:ea typeface="ＭＳ Ｐゴシック" charset="0"/>
                <a:cs typeface="ＭＳ Ｐゴシック" charset="0"/>
              </a:rPr>
              <a:t>Down (</a:t>
            </a:r>
            <a:r>
              <a:rPr lang="en-US" sz="2800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wait(S)</a:t>
            </a:r>
            <a:r>
              <a:rPr lang="en-US" sz="2800" dirty="0" smtClean="0">
                <a:ea typeface="ＭＳ Ｐゴシック" charset="0"/>
                <a:cs typeface="ＭＳ Ｐゴシック" charset="0"/>
              </a:rPr>
              <a:t>) function (used as </a:t>
            </a:r>
            <a:r>
              <a:rPr lang="en-US" sz="2800" b="1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entry</a:t>
            </a:r>
            <a:r>
              <a:rPr lang="en-US" sz="2800" dirty="0" smtClean="0">
                <a:ea typeface="ＭＳ Ｐゴシック" charset="0"/>
                <a:cs typeface="ＭＳ Ｐゴシック" charset="0"/>
              </a:rPr>
              <a:t>):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	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>
                <a:ea typeface="ＭＳ Ｐゴシック" charset="0"/>
              </a:rPr>
              <a:t>    if (S &lt;= 0)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>
                <a:ea typeface="ＭＳ Ｐゴシック" charset="0"/>
              </a:rPr>
              <a:t>		   sleep();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>
                <a:ea typeface="ＭＳ Ｐゴシック" charset="0"/>
              </a:rPr>
              <a:t>    S = S – 1;</a:t>
            </a: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Up </a:t>
            </a:r>
            <a:r>
              <a:rPr lang="en-US" sz="2800" dirty="0" smtClean="0">
                <a:ea typeface="ＭＳ Ｐゴシック" charset="0"/>
                <a:cs typeface="ＭＳ Ｐゴシック" charset="0"/>
              </a:rPr>
              <a:t>(</a:t>
            </a:r>
            <a:r>
              <a:rPr lang="en-US" sz="2800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signal(S)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)function (used as </a:t>
            </a:r>
            <a:r>
              <a:rPr lang="en-US" sz="2800" b="1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exit</a:t>
            </a:r>
            <a:r>
              <a:rPr lang="en-US" sz="2800" dirty="0" smtClean="0">
                <a:ea typeface="ＭＳ Ｐゴシック" charset="0"/>
                <a:cs typeface="ＭＳ Ｐゴシック" charset="0"/>
              </a:rPr>
              <a:t>)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>
                <a:ea typeface="ＭＳ Ｐゴシック" charset="0"/>
              </a:rPr>
              <a:t>    S = S + 1;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>
                <a:ea typeface="ＭＳ Ｐゴシック" charset="0"/>
              </a:rPr>
              <a:t>	wake up some process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sz="2400" dirty="0">
              <a:ea typeface="ＭＳ Ｐゴシック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2400" dirty="0">
              <a:ea typeface="ＭＳ Ｐゴシック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i="1" dirty="0" err="1">
                <a:solidFill>
                  <a:srgbClr val="3366FF"/>
                </a:solidFill>
                <a:ea typeface="ＭＳ Ｐゴシック" charset="0"/>
              </a:rPr>
              <a:t>Mutexes</a:t>
            </a:r>
            <a:r>
              <a:rPr lang="en-US" sz="2400" i="1" dirty="0">
                <a:solidFill>
                  <a:srgbClr val="3366FF"/>
                </a:solidFill>
                <a:ea typeface="ＭＳ Ｐゴシック" charset="0"/>
              </a:rPr>
              <a:t> </a:t>
            </a:r>
            <a:r>
              <a:rPr lang="en-US" sz="2400" i="1" dirty="0">
                <a:ea typeface="ＭＳ Ｐゴシック" charset="0"/>
              </a:rPr>
              <a:t>are binary semaphores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build="p" bldLvl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  <a:latin typeface="Times New Roman" charset="0"/>
              </a:rPr>
              <a:t>Wrap Up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457200" y="1092200"/>
            <a:ext cx="8229600" cy="4114800"/>
          </a:xfrm>
        </p:spPr>
        <p:txBody>
          <a:bodyPr/>
          <a:lstStyle/>
          <a:p>
            <a:r>
              <a:rPr lang="en-US" dirty="0"/>
              <a:t>State, understand, and discuss the </a:t>
            </a:r>
            <a:r>
              <a:rPr lang="en-US" dirty="0">
                <a:solidFill>
                  <a:srgbClr val="FF6600"/>
                </a:solidFill>
              </a:rPr>
              <a:t>data-shared problem</a:t>
            </a:r>
            <a:r>
              <a:rPr lang="en-US" dirty="0"/>
              <a:t>. </a:t>
            </a:r>
          </a:p>
          <a:p>
            <a:r>
              <a:rPr lang="en-US" dirty="0"/>
              <a:t>Introduce a </a:t>
            </a:r>
            <a:r>
              <a:rPr lang="en-US" dirty="0">
                <a:solidFill>
                  <a:srgbClr val="FF6600"/>
                </a:solidFill>
              </a:rPr>
              <a:t>solution </a:t>
            </a:r>
            <a:r>
              <a:rPr lang="en-US" dirty="0"/>
              <a:t>to the data-shared problem: </a:t>
            </a:r>
            <a:r>
              <a:rPr lang="en-US" dirty="0">
                <a:solidFill>
                  <a:srgbClr val="FF6600"/>
                </a:solidFill>
              </a:rPr>
              <a:t>mutual exclusion</a:t>
            </a:r>
            <a:r>
              <a:rPr lang="en-US" dirty="0"/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process synchronization</a:t>
            </a:r>
            <a:r>
              <a:rPr lang="en-US" dirty="0"/>
              <a:t> to implement mutual exclusion.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Learn and understand different </a:t>
            </a:r>
            <a:r>
              <a:rPr lang="en-US" dirty="0">
                <a:solidFill>
                  <a:srgbClr val="FF6600"/>
                </a:solidFill>
              </a:rPr>
              <a:t>tools</a:t>
            </a:r>
            <a:r>
              <a:rPr lang="en-US" dirty="0"/>
              <a:t> to implement process </a:t>
            </a:r>
            <a:r>
              <a:rPr lang="en-US" dirty="0" smtClean="0"/>
              <a:t>synchronization</a:t>
            </a:r>
          </a:p>
          <a:p>
            <a:pPr lvl="1"/>
            <a:r>
              <a:rPr lang="en-US" dirty="0" smtClean="0">
                <a:solidFill>
                  <a:srgbClr val="3366FF"/>
                </a:solidFill>
              </a:rPr>
              <a:t>User level</a:t>
            </a:r>
          </a:p>
          <a:p>
            <a:pPr lvl="2"/>
            <a:r>
              <a:rPr lang="en-US" dirty="0" smtClean="0"/>
              <a:t>two processes/threads (Peterson, busy waiting)</a:t>
            </a:r>
          </a:p>
          <a:p>
            <a:pPr lvl="2"/>
            <a:r>
              <a:rPr lang="en-US" dirty="0" smtClean="0"/>
              <a:t>multiple processes/threads (Baker’s algorithm)</a:t>
            </a:r>
          </a:p>
          <a:p>
            <a:pPr lvl="1"/>
            <a:r>
              <a:rPr lang="en-US" dirty="0" smtClean="0">
                <a:solidFill>
                  <a:srgbClr val="3366FF"/>
                </a:solidFill>
              </a:rPr>
              <a:t>Hardware support </a:t>
            </a:r>
            <a:r>
              <a:rPr lang="en-US" dirty="0" smtClean="0"/>
              <a:t>(test-and-set, swap)</a:t>
            </a:r>
            <a:endParaRPr lang="en-US" dirty="0"/>
          </a:p>
          <a:p>
            <a:pPr lvl="1"/>
            <a:r>
              <a:rPr lang="en-US" dirty="0">
                <a:solidFill>
                  <a:srgbClr val="3366FF"/>
                </a:solidFill>
              </a:rPr>
              <a:t>Language </a:t>
            </a:r>
            <a:r>
              <a:rPr lang="en-US" dirty="0" smtClean="0">
                <a:solidFill>
                  <a:srgbClr val="3366FF"/>
                </a:solidFill>
              </a:rPr>
              <a:t>programming support </a:t>
            </a:r>
            <a:r>
              <a:rPr lang="en-US" dirty="0" smtClean="0"/>
              <a:t>(monitor, conditional variables)</a:t>
            </a:r>
          </a:p>
          <a:p>
            <a:pPr lvl="1"/>
            <a:r>
              <a:rPr lang="en-US" dirty="0" smtClean="0">
                <a:solidFill>
                  <a:srgbClr val="3366FF"/>
                </a:solidFill>
              </a:rPr>
              <a:t>OS support </a:t>
            </a:r>
            <a:r>
              <a:rPr lang="en-US" dirty="0" smtClean="0"/>
              <a:t>(semaphores, </a:t>
            </a:r>
            <a:r>
              <a:rPr lang="en-US" dirty="0" err="1" smtClean="0"/>
              <a:t>mutexes</a:t>
            </a:r>
            <a:r>
              <a:rPr lang="en-US" dirty="0" smtClean="0"/>
              <a:t>)</a:t>
            </a:r>
            <a:endParaRPr lang="en-US" sz="2400" dirty="0">
              <a:latin typeface="Times New Roman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7850E7-7C6C-754D-81F8-C814130E13C9}" type="slidenum">
              <a:rPr lang="en-US" smtClean="0"/>
              <a:pPr algn="r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8161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 bldLvl="2"/>
    </p:bldLst>
  </p:timing>
</p:sld>
</file>

<file path=ppt/theme/theme1.xml><?xml version="1.0" encoding="utf-8"?>
<a:theme xmlns:a="http://schemas.openxmlformats.org/drawingml/2006/main" name="WM_SlideTemplateA_Template">
  <a:themeElements>
    <a:clrScheme name="Custom 1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004065"/>
      </a:accent1>
      <a:accent2>
        <a:srgbClr val="9593B9"/>
      </a:accent2>
      <a:accent3>
        <a:srgbClr val="DEC258"/>
      </a:accent3>
      <a:accent4>
        <a:srgbClr val="96CBB2"/>
      </a:accent4>
      <a:accent5>
        <a:srgbClr val="88A8C2"/>
      </a:accent5>
      <a:accent6>
        <a:srgbClr val="E2BBA2"/>
      </a:accent6>
      <a:hlink>
        <a:srgbClr val="6A938A"/>
      </a:hlink>
      <a:folHlink>
        <a:srgbClr val="B2B2B2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Auburn_ExampleSlides_OptionA_Demo_ML" id="{4F358B03-E485-B847-841D-66421C1D2BD5}" vid="{44E32B64-2C70-EB4E-B445-56D689BF2F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Auburn_ExampleSlides_OptionA_Template</Template>
  <TotalTime>40111</TotalTime>
  <Words>1669</Words>
  <Application>Microsoft Macintosh PowerPoint</Application>
  <PresentationFormat>On-screen Show (4:3)</PresentationFormat>
  <Paragraphs>331</Paragraphs>
  <Slides>30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WM_SlideTemplateA_Template</vt:lpstr>
      <vt:lpstr> Process Synchronization</vt:lpstr>
      <vt:lpstr>PowerPoint Presentation</vt:lpstr>
      <vt:lpstr>Data-Shared Problem</vt:lpstr>
      <vt:lpstr>Data-Shared Problem Statement</vt:lpstr>
      <vt:lpstr>PowerPoint Presentation</vt:lpstr>
      <vt:lpstr>Example (cont’d)</vt:lpstr>
      <vt:lpstr>Example (cont’d)</vt:lpstr>
      <vt:lpstr>Problem Statement and Solution</vt:lpstr>
      <vt:lpstr>Process Synchronization</vt:lpstr>
      <vt:lpstr>Mutual Exclusion</vt:lpstr>
      <vt:lpstr>PowerPoint Presentation</vt:lpstr>
      <vt:lpstr>PowerPoint Presentation</vt:lpstr>
      <vt:lpstr>Examples of Critical Regions</vt:lpstr>
      <vt:lpstr>Requirements for a Solution with Critical Regions</vt:lpstr>
      <vt:lpstr>Key Components of a Solution to Mutual Exclusion</vt:lpstr>
      <vt:lpstr>User Level Solution (Two Threads)</vt:lpstr>
      <vt:lpstr>A Typical Thread</vt:lpstr>
      <vt:lpstr>PowerPoint Presentation</vt:lpstr>
      <vt:lpstr>PowerPoint Presentation</vt:lpstr>
      <vt:lpstr>PowerPoint Presentation</vt:lpstr>
      <vt:lpstr>Strategies/Tools  for  Mutual Exclusion</vt:lpstr>
      <vt:lpstr>Strategies to Solve Mutual Exclusion</vt:lpstr>
      <vt:lpstr>Baker Algorithm</vt:lpstr>
      <vt:lpstr>Hardware Support (1)</vt:lpstr>
      <vt:lpstr>PowerPoint Presentation</vt:lpstr>
      <vt:lpstr>PowerPoint Presentation</vt:lpstr>
      <vt:lpstr>PowerPoint Presentation</vt:lpstr>
      <vt:lpstr>Semaphores :  An OS System Construct</vt:lpstr>
      <vt:lpstr>Semaphore (Cont’d)</vt:lpstr>
      <vt:lpstr>Wrap Up</vt:lpstr>
    </vt:vector>
  </TitlesOfParts>
  <Company>Auburn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 Basics: Understanding the Computer’s Language 0s and 1s  </dc:title>
  <dc:creator>Saad Biaz</dc:creator>
  <cp:lastModifiedBy>Saad Biaz</cp:lastModifiedBy>
  <cp:revision>1073</cp:revision>
  <cp:lastPrinted>2018-06-04T14:28:11Z</cp:lastPrinted>
  <dcterms:created xsi:type="dcterms:W3CDTF">2017-11-05T19:40:43Z</dcterms:created>
  <dcterms:modified xsi:type="dcterms:W3CDTF">2018-06-05T23:02:06Z</dcterms:modified>
</cp:coreProperties>
</file>