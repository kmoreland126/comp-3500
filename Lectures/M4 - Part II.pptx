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520" r:id="rId2"/>
    <p:sldId id="521" r:id="rId3"/>
    <p:sldId id="522" r:id="rId4"/>
    <p:sldId id="502" r:id="rId5"/>
    <p:sldId id="504" r:id="rId6"/>
    <p:sldId id="523" r:id="rId7"/>
    <p:sldId id="503" r:id="rId8"/>
    <p:sldId id="505" r:id="rId9"/>
    <p:sldId id="524" r:id="rId10"/>
    <p:sldId id="508" r:id="rId11"/>
    <p:sldId id="509" r:id="rId12"/>
    <p:sldId id="510" r:id="rId13"/>
    <p:sldId id="511" r:id="rId14"/>
    <p:sldId id="512" r:id="rId15"/>
    <p:sldId id="513" r:id="rId16"/>
    <p:sldId id="514" r:id="rId17"/>
    <p:sldId id="525" r:id="rId18"/>
    <p:sldId id="515" r:id="rId19"/>
    <p:sldId id="516" r:id="rId20"/>
    <p:sldId id="517" r:id="rId21"/>
    <p:sldId id="518" r:id="rId22"/>
    <p:sldId id="519" r:id="rId23"/>
    <p:sldId id="46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1F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66"/>
    <p:restoredTop sz="94677"/>
  </p:normalViewPr>
  <p:slideViewPr>
    <p:cSldViewPr snapToGrid="0" snapToObjects="1">
      <p:cViewPr varScale="1">
        <p:scale>
          <a:sx n="101" d="100"/>
          <a:sy n="101" d="100"/>
        </p:scale>
        <p:origin x="10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4BA1F-1031-2C42-837A-C6DBAB340155}" type="datetimeFigureOut">
              <a:rPr lang="en-US" smtClean="0"/>
              <a:t>6/3/20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C20E3-FB14-7E48-9C5F-483662B93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42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9761D-73B9-1A4F-8555-48E06A216E40}" type="datetimeFigureOut">
              <a:rPr lang="en-US" smtClean="0"/>
              <a:t>6/3/20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9DADB-19AE-004E-8C71-97EB08DF0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87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Video Module 5-01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6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AA262-1C51-46F4-B4E1-EF89941267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8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55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18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40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55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33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73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Video Module 5-04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55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18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Video Module 5-05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9DADB-19AE-004E-8C71-97EB08DF0A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8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" y="983655"/>
            <a:ext cx="9143999" cy="4890691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" y="4488455"/>
            <a:ext cx="9143999" cy="77700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 b="0" spc="-75" baseline="0">
                <a:solidFill>
                  <a:srgbClr val="F4812A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" y="5279800"/>
            <a:ext cx="9143999" cy="46595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500" b="0" i="0" cap="none" spc="0" baseline="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54" y="1984211"/>
            <a:ext cx="5581894" cy="200375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 Video">
    <p:bg>
      <p:bgPr>
        <a:blipFill dpi="0" rotWithShape="1">
          <a:blip r:embed="rId2">
            <a:alphaModFix amt="6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" y="0"/>
            <a:ext cx="2582693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89689" y="2"/>
            <a:ext cx="2210612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 b="0" baseline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" y="2"/>
            <a:ext cx="1905119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7872" y="171452"/>
            <a:ext cx="1660922" cy="2045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16996" y="1407555"/>
            <a:ext cx="5967413" cy="4910696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616996" y="459263"/>
            <a:ext cx="5967413" cy="550227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30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70424" y="603843"/>
            <a:ext cx="6107907" cy="642283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700" b="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 Title Here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1470425" y="1628774"/>
            <a:ext cx="6273403" cy="4667251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0" i="0"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38928" y="1114427"/>
            <a:ext cx="4401476" cy="4954975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52668" y="504827"/>
            <a:ext cx="3751082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38928" y="459263"/>
            <a:ext cx="4401476" cy="550227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2100" baseline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Secondary Title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716893" y="2"/>
            <a:ext cx="4427108" cy="6857999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E78734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06581" y="504827"/>
            <a:ext cx="4418999" cy="59213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1559" y="504826"/>
            <a:ext cx="4108847" cy="5207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100" b="0"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31559" y="1331056"/>
            <a:ext cx="4108847" cy="5095144"/>
          </a:xfrm>
          <a:prstGeom prst="rect">
            <a:avLst/>
          </a:prstGeom>
        </p:spPr>
        <p:txBody>
          <a:bodyPr vert="horz"/>
          <a:lstStyle>
            <a:lvl1pPr marL="39433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Tx/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711551" y="688479"/>
            <a:ext cx="7781152" cy="541643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" y="5875009"/>
            <a:ext cx="9143999" cy="982993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587500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" y="6072190"/>
            <a:ext cx="9143999" cy="6127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400" b="0" baseline="0">
                <a:solidFill>
                  <a:srgbClr val="F5842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" y="0"/>
            <a:ext cx="1739900" cy="6858000"/>
          </a:xfrm>
          <a:prstGeom prst="rect">
            <a:avLst/>
          </a:prstGeom>
          <a:solidFill>
            <a:srgbClr val="01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864108"/>
            <a:ext cx="6565900" cy="5120640"/>
          </a:xfrm>
          <a:prstGeom prst="rect">
            <a:avLst/>
          </a:prstGeom>
        </p:spPr>
        <p:txBody>
          <a:bodyPr anchor="t"/>
          <a:lstStyle>
            <a:lvl1pPr marL="25717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56578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8658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2087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551623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38350" y="1123838"/>
            <a:ext cx="1601550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100" b="0">
                <a:solidFill>
                  <a:srgbClr val="E78734"/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w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1135571"/>
            <a:ext cx="8007350" cy="5120640"/>
          </a:xfrm>
          <a:prstGeom prst="rect">
            <a:avLst/>
          </a:prstGeom>
        </p:spPr>
        <p:txBody>
          <a:bodyPr anchor="t"/>
          <a:lstStyle>
            <a:lvl1pPr marL="39433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  <p:sp>
        <p:nvSpPr>
          <p:cNvPr id="5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85738" y="257175"/>
            <a:ext cx="8007350" cy="628652"/>
          </a:xfrm>
          <a:prstGeom prst="rect">
            <a:avLst/>
          </a:prstGeom>
        </p:spPr>
        <p:txBody>
          <a:bodyPr anchor="t"/>
          <a:lstStyle>
            <a:lvl1pPr marL="137160" indent="0">
              <a:spcBef>
                <a:spcPts val="900"/>
              </a:spcBef>
              <a:buClr>
                <a:srgbClr val="0B194E"/>
              </a:buClr>
              <a:buFont typeface="Arial" charset="0"/>
              <a:buNone/>
              <a:defRPr sz="2700">
                <a:solidFill>
                  <a:srgbClr val="000000"/>
                </a:solidFill>
                <a:latin typeface="Gill Sans MT" charset="0"/>
                <a:ea typeface="Gill Sans MT" charset="0"/>
                <a:cs typeface="Gill Sans MT" charset="0"/>
              </a:defRPr>
            </a:lvl1pPr>
            <a:lvl2pPr marL="771525" indent="-257175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2pPr>
            <a:lvl3pPr marL="9858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3pPr>
            <a:lvl4pPr marL="13287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4pPr>
            <a:lvl5pPr marL="1671638" indent="-214313">
              <a:spcBef>
                <a:spcPts val="900"/>
              </a:spcBef>
              <a:buClr>
                <a:srgbClr val="0B194E"/>
              </a:buClr>
              <a:buFont typeface="Arial" charset="0"/>
              <a:buChar char="•"/>
              <a:defRPr>
                <a:solidFill>
                  <a:srgbClr val="0B194E"/>
                </a:solidFill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add Slide Title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567" y="6338364"/>
            <a:ext cx="318097" cy="372801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948" y="5378981"/>
            <a:ext cx="5743574" cy="917660"/>
          </a:xfrm>
          <a:prstGeom prst="rect">
            <a:avLst/>
          </a:prstGeom>
          <a:gradFill flip="none" rotWithShape="1">
            <a:gsLst>
              <a:gs pos="41000">
                <a:srgbClr val="01275D"/>
              </a:gs>
              <a:gs pos="100000">
                <a:srgbClr val="013D73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9" name="Rectangle 8"/>
          <p:cNvSpPr/>
          <p:nvPr/>
        </p:nvSpPr>
        <p:spPr>
          <a:xfrm flipV="1">
            <a:off x="6948" y="6261321"/>
            <a:ext cx="9148032" cy="56907"/>
          </a:xfrm>
          <a:prstGeom prst="rect">
            <a:avLst/>
          </a:prstGeom>
          <a:solidFill>
            <a:srgbClr val="DE5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46460" y="5607350"/>
            <a:ext cx="5300462" cy="51435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111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B57850E7-7C6C-754D-81F8-C814130E13C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flipH="1">
            <a:off x="2" y="885830"/>
            <a:ext cx="4832749" cy="45719"/>
          </a:xfrm>
          <a:prstGeom prst="rect">
            <a:avLst/>
          </a:prstGeom>
          <a:solidFill>
            <a:srgbClr val="F481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25645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416"/>
            <a:ext cx="8229600" cy="576263"/>
          </a:xfrm>
          <a:prstGeom prst="rect">
            <a:avLst/>
          </a:prstGeom>
        </p:spPr>
        <p:txBody>
          <a:bodyPr lIns="64008" tIns="32004" rIns="64008" bIns="32004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277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alphaModFix amt="67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4000" contras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45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7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spc="-45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3716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188"/>
        </a:spcBef>
        <a:spcAft>
          <a:spcPts val="188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44">
          <p15:clr>
            <a:srgbClr val="F26B43"/>
          </p15:clr>
        </p15:guide>
        <p15:guide id="2" pos="201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36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Deadlocks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1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86"/>
    </mc:Choice>
    <mc:Fallback xmlns="">
      <p:transition spd="slow" advTm="246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14878" y="127432"/>
            <a:ext cx="4429125" cy="390525"/>
          </a:xfrm>
        </p:spPr>
        <p:txBody>
          <a:bodyPr/>
          <a:lstStyle/>
          <a:p>
            <a:r>
              <a:rPr lang="en-US" dirty="0">
                <a:ea typeface="Century Gothic"/>
                <a:sym typeface="Questrial"/>
              </a:rPr>
              <a:t>Overview</a:t>
            </a:r>
            <a:endParaRPr lang="en-US" dirty="0"/>
          </a:p>
        </p:txBody>
      </p:sp>
      <p:pic>
        <p:nvPicPr>
          <p:cNvPr id="5" name="Picture 4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153716" y="1543300"/>
            <a:ext cx="4339459" cy="1921533"/>
          </a:xfrm>
          <a:prstGeom prst="rect">
            <a:avLst/>
          </a:prstGeom>
        </p:spPr>
      </p:pic>
      <p:pic>
        <p:nvPicPr>
          <p:cNvPr id="6" name="Picture 5" descr="heads.jpg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01"/>
          <a:stretch/>
        </p:blipFill>
        <p:spPr>
          <a:xfrm>
            <a:off x="95536" y="2713644"/>
            <a:ext cx="4455814" cy="1973056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31557" y="754024"/>
            <a:ext cx="4215880" cy="5819181"/>
          </a:xfrm>
        </p:spPr>
        <p:txBody>
          <a:bodyPr/>
          <a:lstStyle/>
          <a:p>
            <a:pPr marL="137160" indent="0">
              <a:buNone/>
            </a:pPr>
            <a:r>
              <a:rPr lang="en-US" sz="2100" b="1" dirty="0"/>
              <a:t>Objectives</a:t>
            </a:r>
          </a:p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deadlocks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necessary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conditions of deadlocks</a:t>
            </a:r>
            <a:r>
              <a:rPr lang="en-US" dirty="0"/>
              <a:t>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three main strategies</a:t>
            </a:r>
            <a:r>
              <a:rPr lang="en-US" dirty="0"/>
              <a:t> to deal with deadlock.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Discuss </a:t>
            </a:r>
            <a:r>
              <a:rPr lang="en-US" dirty="0">
                <a:solidFill>
                  <a:srgbClr val="FF6600"/>
                </a:solidFill>
              </a:rPr>
              <a:t>deadlock prevention </a:t>
            </a:r>
            <a:r>
              <a:rPr lang="en-US" dirty="0"/>
              <a:t>strategy.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Discuss </a:t>
            </a:r>
            <a:r>
              <a:rPr lang="en-US" dirty="0">
                <a:solidFill>
                  <a:srgbClr val="FF6600"/>
                </a:solidFill>
              </a:rPr>
              <a:t>deadlock avoidance</a:t>
            </a:r>
            <a:r>
              <a:rPr lang="en-US" dirty="0"/>
              <a:t> strategy.</a:t>
            </a:r>
          </a:p>
          <a:p>
            <a:r>
              <a:rPr lang="en-US" dirty="0"/>
              <a:t>Discuss </a:t>
            </a:r>
            <a:r>
              <a:rPr lang="en-US" dirty="0">
                <a:solidFill>
                  <a:srgbClr val="FF6600"/>
                </a:solidFill>
              </a:rPr>
              <a:t>deadlock detection </a:t>
            </a:r>
            <a:r>
              <a:rPr lang="en-US" dirty="0"/>
              <a:t>and recovery strategy</a:t>
            </a:r>
          </a:p>
          <a:p>
            <a:endParaRPr lang="en-US" dirty="0"/>
          </a:p>
          <a:p>
            <a:pPr marL="137160" indent="0">
              <a:buNone/>
            </a:pPr>
            <a:r>
              <a:rPr lang="en-US" sz="2000" b="1" dirty="0"/>
              <a:t>Requirements</a:t>
            </a:r>
          </a:p>
          <a:p>
            <a:r>
              <a:rPr lang="en-US" dirty="0"/>
              <a:t>Read in Chapter </a:t>
            </a:r>
            <a:r>
              <a:rPr lang="en-US" b="1" i="1" dirty="0"/>
              <a:t>Process Synchronization</a:t>
            </a:r>
            <a:r>
              <a:rPr lang="en-US" dirty="0"/>
              <a:t> Section </a:t>
            </a:r>
            <a:r>
              <a:rPr lang="en-US" b="1" i="1" dirty="0"/>
              <a:t>Deadlocks</a:t>
            </a:r>
          </a:p>
        </p:txBody>
      </p:sp>
    </p:spTree>
    <p:extLst>
      <p:ext uri="{BB962C8B-B14F-4D97-AF65-F5344CB8AC3E}">
        <p14:creationId xmlns:p14="http://schemas.microsoft.com/office/powerpoint/2010/main" val="253089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are deadlocks?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Necessary conditions for deadlock to happen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Deadlocks</a:t>
            </a:r>
          </a:p>
        </p:txBody>
      </p:sp>
    </p:spTree>
    <p:extLst>
      <p:ext uri="{BB962C8B-B14F-4D97-AF65-F5344CB8AC3E}">
        <p14:creationId xmlns:p14="http://schemas.microsoft.com/office/powerpoint/2010/main" val="341895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C860AAC-1E45-8342-9A9B-2571D3FDD72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4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307181"/>
            <a:ext cx="7772400" cy="495300"/>
          </a:xfrm>
        </p:spPr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Deadlocks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724400"/>
          </a:xfrm>
        </p:spPr>
        <p:txBody>
          <a:bodyPr lIns="64008" tIns="32004" rIns="64008" bIns="32004"/>
          <a:lstStyle/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Definition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A 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set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 of processes is in a deadlock state when every process in the set is 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waiting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 for an event that can be caused 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only by another process in the set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.</a:t>
            </a:r>
          </a:p>
          <a:p>
            <a:endParaRPr lang="en-US" dirty="0">
              <a:solidFill>
                <a:srgbClr val="7F7F7F"/>
              </a:solidFill>
              <a:ea typeface="ＭＳ Ｐゴシック" charset="0"/>
              <a:cs typeface="ＭＳ Ｐゴシック" charset="0"/>
            </a:endParaRP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Example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P1 and P2 need both a disk and a printer to complete their job. P1 has the disk, and waits for the printer. P2 has the printer, and is waiting for the disk...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F6BAE9B2-A6AE-D545-BE23-978C79BC5CC3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5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 b="1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Necessary</a:t>
            </a:r>
            <a:r>
              <a:rPr lang="en-US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 Conditions of Deadlocks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Mutual exclusion</a:t>
            </a:r>
          </a:p>
          <a:p>
            <a:pPr lvl="1"/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Resources must be used exclusively</a:t>
            </a:r>
            <a:endParaRPr lang="en-US" dirty="0">
              <a:solidFill>
                <a:srgbClr val="7F7F7F"/>
              </a:solidFill>
              <a:ea typeface="ＭＳ Ｐゴシック" charset="0"/>
            </a:endParaRP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Hold and Wait</a:t>
            </a:r>
          </a:p>
          <a:p>
            <a:pPr lvl="1"/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Some process holds a resource while waiting for another resource</a:t>
            </a: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 preemption</a:t>
            </a:r>
          </a:p>
          <a:p>
            <a:pPr lvl="1"/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A process keeps a resource to it until it </a:t>
            </a:r>
            <a:r>
              <a:rPr lang="en-US" sz="2400" b="1" dirty="0">
                <a:solidFill>
                  <a:srgbClr val="7F7F7F"/>
                </a:solidFill>
                <a:ea typeface="ＭＳ Ｐゴシック" charset="0"/>
              </a:rPr>
              <a:t>voluntarily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 releases it.</a:t>
            </a: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Circular wait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Deadlock </a:t>
            </a:r>
            <a:r>
              <a:rPr lang="en-US" dirty="0">
                <a:solidFill>
                  <a:srgbClr val="3366FF"/>
                </a:solidFill>
              </a:rPr>
              <a:t>Prevention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Deadlock </a:t>
            </a:r>
            <a:r>
              <a:rPr lang="en-US" dirty="0">
                <a:solidFill>
                  <a:srgbClr val="3366FF"/>
                </a:solidFill>
              </a:rPr>
              <a:t>Avoidance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Deadlock </a:t>
            </a:r>
            <a:r>
              <a:rPr lang="en-US" dirty="0">
                <a:solidFill>
                  <a:srgbClr val="3366FF"/>
                </a:solidFill>
              </a:rPr>
              <a:t>Detection/Recovery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Against Deadlocks</a:t>
            </a:r>
          </a:p>
        </p:txBody>
      </p:sp>
    </p:spTree>
    <p:extLst>
      <p:ext uri="{BB962C8B-B14F-4D97-AF65-F5344CB8AC3E}">
        <p14:creationId xmlns:p14="http://schemas.microsoft.com/office/powerpoint/2010/main" val="55437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8A38CF68-246B-C146-ACA2-A246D25DE95C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7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Strategies Against Deadlocks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384301"/>
            <a:ext cx="8229600" cy="4525963"/>
          </a:xfrm>
        </p:spPr>
        <p:txBody>
          <a:bodyPr lIns="64008" tIns="32004" rIns="64008" bIns="32004"/>
          <a:lstStyle/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Deadlock prevention</a:t>
            </a:r>
          </a:p>
          <a:p>
            <a:pPr lvl="1"/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Intersection built using a bridge : the system is built in such a way that deadlocks will not happen.</a:t>
            </a:r>
          </a:p>
          <a:p>
            <a:pPr lvl="1"/>
            <a:endParaRPr lang="en-US" sz="2400" dirty="0">
              <a:solidFill>
                <a:srgbClr val="7F7F7F"/>
              </a:solidFill>
              <a:ea typeface="ＭＳ Ｐゴシック" charset="0"/>
            </a:endParaRP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Deadlock avoidance</a:t>
            </a:r>
          </a:p>
          <a:p>
            <a:pPr lvl="1"/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Use traffic lights and controller: carefully allocate resources to avoid deadlocks.</a:t>
            </a:r>
          </a:p>
          <a:p>
            <a:pPr lvl="1"/>
            <a:endParaRPr lang="en-US" sz="2400" dirty="0">
              <a:solidFill>
                <a:srgbClr val="7F7F7F"/>
              </a:solidFill>
              <a:ea typeface="ＭＳ Ｐゴシック" charset="0"/>
            </a:endParaRPr>
          </a:p>
          <a:p>
            <a:pPr lvl="1"/>
            <a:endParaRPr lang="en-US" sz="2400" dirty="0">
              <a:solidFill>
                <a:srgbClr val="7F7F7F"/>
              </a:solidFill>
              <a:ea typeface="ＭＳ Ｐゴシック" charset="0"/>
            </a:endParaRP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Deadlock detection/recovery</a:t>
            </a:r>
          </a:p>
          <a:p>
            <a:pPr lvl="1"/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Just let it happen anyway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921250" y="2500313"/>
            <a:ext cx="2286000" cy="685800"/>
            <a:chOff x="2976" y="1104"/>
            <a:chExt cx="2496" cy="624"/>
          </a:xfrm>
        </p:grpSpPr>
        <p:sp>
          <p:nvSpPr>
            <p:cNvPr id="42018" name="Line 4"/>
            <p:cNvSpPr>
              <a:spLocks noChangeShapeType="1"/>
            </p:cNvSpPr>
            <p:nvPr/>
          </p:nvSpPr>
          <p:spPr bwMode="auto">
            <a:xfrm>
              <a:off x="3120" y="1104"/>
              <a:ext cx="17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42019" name="Line 5"/>
            <p:cNvSpPr>
              <a:spLocks noChangeShapeType="1"/>
            </p:cNvSpPr>
            <p:nvPr/>
          </p:nvSpPr>
          <p:spPr bwMode="auto">
            <a:xfrm>
              <a:off x="3024" y="1200"/>
              <a:ext cx="16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42020" name="AutoShape 6"/>
            <p:cNvSpPr>
              <a:spLocks noChangeArrowheads="1"/>
            </p:cNvSpPr>
            <p:nvPr/>
          </p:nvSpPr>
          <p:spPr bwMode="auto">
            <a:xfrm>
              <a:off x="2976" y="1152"/>
              <a:ext cx="2496" cy="576"/>
            </a:xfrm>
            <a:custGeom>
              <a:avLst/>
              <a:gdLst>
                <a:gd name="T0" fmla="*/ 17 w 21600"/>
                <a:gd name="T1" fmla="*/ 0 h 21600"/>
                <a:gd name="T2" fmla="*/ 4 w 21600"/>
                <a:gd name="T3" fmla="*/ 0 h 21600"/>
                <a:gd name="T4" fmla="*/ 17 w 21600"/>
                <a:gd name="T5" fmla="*/ 0 h 21600"/>
                <a:gd name="T6" fmla="*/ 2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5181601" y="4876800"/>
            <a:ext cx="2136775" cy="1295400"/>
            <a:chOff x="3264" y="3072"/>
            <a:chExt cx="1346" cy="816"/>
          </a:xfrm>
        </p:grpSpPr>
        <p:grpSp>
          <p:nvGrpSpPr>
            <p:cNvPr id="42008" name="Group 35"/>
            <p:cNvGrpSpPr>
              <a:grpSpLocks/>
            </p:cNvGrpSpPr>
            <p:nvPr/>
          </p:nvGrpSpPr>
          <p:grpSpPr bwMode="auto">
            <a:xfrm>
              <a:off x="3264" y="3552"/>
              <a:ext cx="1200" cy="336"/>
              <a:chOff x="2688" y="2352"/>
              <a:chExt cx="1200" cy="336"/>
            </a:xfrm>
          </p:grpSpPr>
          <p:sp>
            <p:nvSpPr>
              <p:cNvPr id="42010" name="Line 3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11" name="Line 37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12" name="Line 38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13" name="Line 39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14" name="Line 40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15" name="Line 41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16" name="Line 4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17" name="Line 43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aphicFrame>
          <p:nvGraphicFramePr>
            <p:cNvPr id="42009" name="Object 2"/>
            <p:cNvGraphicFramePr>
              <a:graphicFrameLocks noChangeAspect="1"/>
            </p:cNvGraphicFramePr>
            <p:nvPr/>
          </p:nvGraphicFramePr>
          <p:xfrm>
            <a:off x="3744" y="3072"/>
            <a:ext cx="8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44" name="Microsoft ClipArt Gallery" r:id="rId4" imgW="1371600" imgH="812800" progId="MS_ClipArt_Gallery">
                    <p:embed/>
                  </p:oleObj>
                </mc:Choice>
                <mc:Fallback>
                  <p:oleObj name="Microsoft ClipArt Gallery" r:id="rId4" imgW="1371600" imgH="812800" progId="MS_ClipArt_Gallery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866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5118100" y="3886200"/>
            <a:ext cx="1905000" cy="685800"/>
            <a:chOff x="2688" y="2304"/>
            <a:chExt cx="1200" cy="432"/>
          </a:xfrm>
        </p:grpSpPr>
        <p:grpSp>
          <p:nvGrpSpPr>
            <p:cNvPr id="41993" name="Group 16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42000" name="Line 8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01" name="Line 9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02" name="Line 10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03" name="Line 11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04" name="Line 12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05" name="Line 13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06" name="Line 14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2007" name="Line 15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41994" name="Group 47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41995" name="Rectangle 48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1996" name="Oval 49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1997" name="Oval 50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1998" name="Oval 51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1999" name="Rectangle 52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14F1FB7A-77B5-F44C-BFB5-F0D87B727E73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8</a:t>
            </a:fld>
            <a:endParaRPr lang="en-US" sz="140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Deadlock Prevention Methods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16001"/>
            <a:ext cx="8229600" cy="5232399"/>
          </a:xfrm>
        </p:spPr>
        <p:txBody>
          <a:bodyPr lIns="64008" tIns="32004" rIns="64008" bIns="32004"/>
          <a:lstStyle/>
          <a:p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Ensuring</a:t>
            </a:r>
            <a:r>
              <a:rPr lang="en-US" sz="16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16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that </a:t>
            </a:r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at least one </a:t>
            </a:r>
            <a:r>
              <a:rPr lang="en-US" sz="16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of the four conditions </a:t>
            </a:r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cannot hold</a:t>
            </a:r>
            <a:r>
              <a:rPr lang="en-US" sz="16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.</a:t>
            </a:r>
          </a:p>
          <a:p>
            <a:pPr lvl="1"/>
            <a:r>
              <a:rPr lang="en-US" altLang="ja-JP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Neutralizing</a:t>
            </a:r>
            <a:r>
              <a:rPr lang="ja-JP" alt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”</a:t>
            </a:r>
            <a:r>
              <a:rPr lang="en-US" altLang="ja-JP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mutual exclusion </a:t>
            </a:r>
            <a:r>
              <a:rPr lang="en-US" altLang="ja-JP" sz="16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all resources are shared and can be simultaneously accessed by many processes!!!</a:t>
            </a:r>
          </a:p>
          <a:p>
            <a:endParaRPr lang="en-US" sz="1600" dirty="0">
              <a:solidFill>
                <a:srgbClr val="7F7F7F"/>
              </a:solidFill>
              <a:ea typeface="ＭＳ Ｐゴシック" charset="0"/>
              <a:cs typeface="ＭＳ Ｐゴシック" charset="0"/>
            </a:endParaRPr>
          </a:p>
          <a:p>
            <a:pPr lvl="1"/>
            <a:r>
              <a:rPr lang="ja-JP" alt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Neutralizing</a:t>
            </a:r>
            <a:r>
              <a:rPr lang="ja-JP" alt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”</a:t>
            </a:r>
            <a:r>
              <a:rPr lang="en-US" altLang="ja-JP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hold and wait </a:t>
            </a:r>
            <a:r>
              <a:rPr lang="en-US" altLang="ja-JP" sz="16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</a:t>
            </a:r>
          </a:p>
          <a:p>
            <a:pPr lvl="2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charset="0"/>
              </a:rPr>
              <a:t>Method 1 </a:t>
            </a:r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: allocate all needed resources at once when a process starts</a:t>
            </a:r>
          </a:p>
          <a:p>
            <a:pPr lvl="2"/>
            <a:r>
              <a:rPr lang="en-US" sz="1600" b="1" dirty="0">
                <a:solidFill>
                  <a:srgbClr val="7F7F7F"/>
                </a:solidFill>
                <a:ea typeface="ＭＳ Ｐゴシック" charset="0"/>
              </a:rPr>
              <a:t>Method 2 : </a:t>
            </a:r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a process is allowed to request a resource only if it does not hold any resource.</a:t>
            </a:r>
          </a:p>
          <a:p>
            <a:pPr lvl="3"/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Works</a:t>
            </a:r>
            <a:r>
              <a:rPr lang="is-IS" sz="1600" dirty="0">
                <a:solidFill>
                  <a:srgbClr val="7F7F7F"/>
                </a:solidFill>
                <a:ea typeface="ＭＳ Ｐゴシック" charset="0"/>
              </a:rPr>
              <a:t>….. but </a:t>
            </a:r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Low resources utilization, starvation</a:t>
            </a:r>
          </a:p>
          <a:p>
            <a:pPr lvl="3"/>
            <a:endParaRPr lang="en-US" sz="1600" dirty="0">
              <a:solidFill>
                <a:srgbClr val="7F7F7F"/>
              </a:solidFill>
              <a:ea typeface="ＭＳ Ｐゴシック" charset="0"/>
            </a:endParaRPr>
          </a:p>
          <a:p>
            <a:pPr lvl="1"/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Allowing preemption </a:t>
            </a:r>
            <a:r>
              <a:rPr lang="en-US" sz="16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preempting the resources of a process if its request cannot be granted!!!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Preempting the resources of a process if it holds some resource which is being requested</a:t>
            </a:r>
          </a:p>
          <a:p>
            <a:pPr lvl="3"/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Works, but low throughput, status of resource must be saved and restored</a:t>
            </a:r>
          </a:p>
          <a:p>
            <a:pPr lvl="3"/>
            <a:endParaRPr lang="en-US" sz="1600" dirty="0">
              <a:solidFill>
                <a:srgbClr val="7F7F7F"/>
              </a:solidFill>
              <a:ea typeface="ＭＳ Ｐゴシック" charset="0"/>
            </a:endParaRPr>
          </a:p>
          <a:p>
            <a:pPr lvl="1"/>
            <a:r>
              <a:rPr lang="en-US" sz="16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Ensuring no circular-wait </a:t>
            </a:r>
            <a:r>
              <a:rPr lang="en-US" sz="16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Assign a unique integer id to each resource</a:t>
            </a:r>
          </a:p>
          <a:p>
            <a:pPr lvl="2"/>
            <a:r>
              <a:rPr lang="en-US" sz="1600" dirty="0">
                <a:solidFill>
                  <a:srgbClr val="7F7F7F"/>
                </a:solidFill>
                <a:ea typeface="ＭＳ Ｐゴシック" charset="0"/>
              </a:rPr>
              <a:t>A process is allowed to request only a resource with higher id than the resources it currently holds.</a:t>
            </a:r>
            <a:endParaRPr lang="en-US" sz="1600" dirty="0">
              <a:solidFill>
                <a:srgbClr val="7F7F7F"/>
              </a:solidFill>
              <a:ea typeface="ＭＳ Ｐゴシック" charset="0"/>
              <a:cs typeface="ＭＳ Ｐゴシック" charset="0"/>
            </a:endParaRPr>
          </a:p>
        </p:txBody>
      </p:sp>
      <p:grpSp>
        <p:nvGrpSpPr>
          <p:cNvPr id="44038" name="Group 4"/>
          <p:cNvGrpSpPr>
            <a:grpSpLocks/>
          </p:cNvGrpSpPr>
          <p:nvPr/>
        </p:nvGrpSpPr>
        <p:grpSpPr bwMode="auto">
          <a:xfrm>
            <a:off x="5503985" y="405548"/>
            <a:ext cx="2286000" cy="685800"/>
            <a:chOff x="2976" y="1104"/>
            <a:chExt cx="2496" cy="624"/>
          </a:xfrm>
        </p:grpSpPr>
        <p:sp>
          <p:nvSpPr>
            <p:cNvPr id="44039" name="Line 5"/>
            <p:cNvSpPr>
              <a:spLocks noChangeShapeType="1"/>
            </p:cNvSpPr>
            <p:nvPr/>
          </p:nvSpPr>
          <p:spPr bwMode="auto">
            <a:xfrm>
              <a:off x="3120" y="1104"/>
              <a:ext cx="17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44040" name="Line 6"/>
            <p:cNvSpPr>
              <a:spLocks noChangeShapeType="1"/>
            </p:cNvSpPr>
            <p:nvPr/>
          </p:nvSpPr>
          <p:spPr bwMode="auto">
            <a:xfrm>
              <a:off x="3024" y="1200"/>
              <a:ext cx="163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44041" name="AutoShape 7"/>
            <p:cNvSpPr>
              <a:spLocks noChangeArrowheads="1"/>
            </p:cNvSpPr>
            <p:nvPr/>
          </p:nvSpPr>
          <p:spPr bwMode="auto">
            <a:xfrm>
              <a:off x="2976" y="1152"/>
              <a:ext cx="2496" cy="576"/>
            </a:xfrm>
            <a:custGeom>
              <a:avLst/>
              <a:gdLst>
                <a:gd name="T0" fmla="*/ 17 w 21600"/>
                <a:gd name="T1" fmla="*/ 0 h 21600"/>
                <a:gd name="T2" fmla="*/ 4 w 21600"/>
                <a:gd name="T3" fmla="*/ 0 h 21600"/>
                <a:gd name="T4" fmla="*/ 17 w 21600"/>
                <a:gd name="T5" fmla="*/ 0 h 21600"/>
                <a:gd name="T6" fmla="*/ 2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2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 build="p" bldLvl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Deadlock </a:t>
            </a:r>
            <a:r>
              <a:rPr lang="en-US" dirty="0">
                <a:solidFill>
                  <a:srgbClr val="3366FF"/>
                </a:solidFill>
              </a:rPr>
              <a:t>Avoidance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implement deadlock avoidance?</a:t>
            </a:r>
          </a:p>
          <a:p>
            <a:pPr lvl="1"/>
            <a:r>
              <a:rPr lang="en-US" dirty="0">
                <a:solidFill>
                  <a:srgbClr val="3366FF"/>
                </a:solidFill>
              </a:rPr>
              <a:t>Banker’s algorithm</a:t>
            </a:r>
          </a:p>
          <a:p>
            <a:pPr lvl="2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Central concept for a banker: </a:t>
            </a:r>
            <a:r>
              <a:rPr lang="en-US" dirty="0">
                <a:solidFill>
                  <a:srgbClr val="3366FF"/>
                </a:solidFill>
              </a:rPr>
              <a:t>safe state</a:t>
            </a: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Avoidance</a:t>
            </a:r>
          </a:p>
        </p:txBody>
      </p:sp>
    </p:spTree>
    <p:extLst>
      <p:ext uri="{BB962C8B-B14F-4D97-AF65-F5344CB8AC3E}">
        <p14:creationId xmlns:p14="http://schemas.microsoft.com/office/powerpoint/2010/main" val="161256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71D680F7-E85B-D44A-883E-5AE04506422A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10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Deadlock Avoidance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Main Idea </a:t>
            </a:r>
            <a:r>
              <a:rPr lang="en-US" sz="22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17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Carefully allocate the resources such that the system will not run into a deadlock.</a:t>
            </a:r>
          </a:p>
          <a:p>
            <a:endParaRPr lang="en-US" sz="2800" dirty="0">
              <a:solidFill>
                <a:srgbClr val="7F7F7F"/>
              </a:solidFill>
              <a:ea typeface="ＭＳ Ｐゴシック" charset="0"/>
              <a:cs typeface="ＭＳ Ｐゴシック" charset="0"/>
            </a:endParaRP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Costs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 : 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Run-time overhead of decision making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Extra information from application</a:t>
            </a:r>
          </a:p>
          <a:p>
            <a:endParaRPr lang="en-US" dirty="0">
              <a:solidFill>
                <a:srgbClr val="7F7F7F"/>
              </a:solidFill>
              <a:ea typeface="ＭＳ Ｐゴシック" charset="0"/>
              <a:cs typeface="ＭＳ Ｐゴシック" charset="0"/>
            </a:endParaRPr>
          </a:p>
        </p:txBody>
      </p:sp>
      <p:grpSp>
        <p:nvGrpSpPr>
          <p:cNvPr id="47110" name="Group 24"/>
          <p:cNvGrpSpPr>
            <a:grpSpLocks/>
          </p:cNvGrpSpPr>
          <p:nvPr/>
        </p:nvGrpSpPr>
        <p:grpSpPr bwMode="auto">
          <a:xfrm>
            <a:off x="6934200" y="533400"/>
            <a:ext cx="1905000" cy="685800"/>
            <a:chOff x="2688" y="2304"/>
            <a:chExt cx="1200" cy="432"/>
          </a:xfrm>
        </p:grpSpPr>
        <p:grpSp>
          <p:nvGrpSpPr>
            <p:cNvPr id="47111" name="Group 25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47118" name="Line 2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19" name="Line 27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20" name="Line 28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21" name="Line 29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22" name="Line 30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23" name="Line 31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24" name="Line 3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25" name="Line 33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47112" name="Group 34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47113" name="Rectangle 35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14" name="Oval 36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15" name="Oval 37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16" name="Oval 38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7117" name="Rectangle 39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238F66E-96D4-5A4B-A650-2B6E92B206F4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11</a:t>
            </a:fld>
            <a:endParaRPr lang="en-US" sz="140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Central Concept : </a:t>
            </a:r>
            <a:r>
              <a:rPr lang="en-US" b="1" dirty="0">
                <a:solidFill>
                  <a:srgbClr val="3366FF"/>
                </a:solidFill>
                <a:latin typeface="+mn-lt"/>
                <a:ea typeface="ＭＳ Ｐゴシック" charset="0"/>
                <a:cs typeface="ＭＳ Ｐゴシック" charset="0"/>
              </a:rPr>
              <a:t>Safe State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Definition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</a:t>
            </a:r>
            <a:r>
              <a:rPr lang="en-US" sz="17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A system is in a </a:t>
            </a:r>
            <a:r>
              <a:rPr lang="en-US" sz="17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safe</a:t>
            </a:r>
            <a:r>
              <a:rPr lang="en-US" sz="17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17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state if the system can allocate to each process (up to its maximum) in </a:t>
            </a:r>
            <a:r>
              <a:rPr lang="en-US" sz="17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some order </a:t>
            </a:r>
            <a:r>
              <a:rPr lang="en-US" sz="17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and let each of them </a:t>
            </a:r>
            <a:r>
              <a:rPr lang="en-US" sz="17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complete successfully </a:t>
            </a:r>
            <a:r>
              <a:rPr lang="en-US" sz="17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(hence, avoiding a deadlock)</a:t>
            </a:r>
          </a:p>
          <a:p>
            <a:endParaRPr lang="en-US" dirty="0">
              <a:solidFill>
                <a:srgbClr val="7F7F7F"/>
              </a:solidFill>
              <a:ea typeface="ＭＳ Ｐゴシック" charset="0"/>
              <a:cs typeface="ＭＳ Ｐゴシック" charset="0"/>
            </a:endParaRPr>
          </a:p>
          <a:p>
            <a:r>
              <a:rPr lang="en-US" sz="22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How to implement this ? How to express this ?</a:t>
            </a:r>
          </a:p>
          <a:p>
            <a:pPr lvl="1"/>
            <a:r>
              <a:rPr lang="en-US" sz="19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Answer</a:t>
            </a:r>
            <a:r>
              <a:rPr lang="en-US" sz="19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the </a:t>
            </a:r>
            <a:r>
              <a:rPr lang="en-US" sz="19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Ba</a:t>
            </a:r>
            <a:r>
              <a:rPr lang="en-US" sz="19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</a:t>
            </a:r>
            <a:r>
              <a:rPr lang="en-US" sz="19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ker’s</a:t>
            </a:r>
            <a:r>
              <a:rPr lang="en-US" sz="19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 Algorithm (not to confuse with the </a:t>
            </a:r>
            <a:r>
              <a:rPr lang="en-US" sz="1900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Baker’s</a:t>
            </a:r>
            <a:r>
              <a:rPr lang="en-US" sz="19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 Algorithm used for </a:t>
            </a:r>
            <a:r>
              <a:rPr lang="is-IS" sz="19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…...</a:t>
            </a:r>
            <a:r>
              <a:rPr lang="en-US" sz="19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)</a:t>
            </a:r>
          </a:p>
        </p:txBody>
      </p:sp>
      <p:grpSp>
        <p:nvGrpSpPr>
          <p:cNvPr id="48134" name="Group 20"/>
          <p:cNvGrpSpPr>
            <a:grpSpLocks/>
          </p:cNvGrpSpPr>
          <p:nvPr/>
        </p:nvGrpSpPr>
        <p:grpSpPr bwMode="auto">
          <a:xfrm>
            <a:off x="6934200" y="304800"/>
            <a:ext cx="1905000" cy="685800"/>
            <a:chOff x="2688" y="2304"/>
            <a:chExt cx="1200" cy="432"/>
          </a:xfrm>
        </p:grpSpPr>
        <p:grpSp>
          <p:nvGrpSpPr>
            <p:cNvPr id="48135" name="Group 21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48142" name="Line 22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3" name="Line 23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4" name="Line 24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5" name="Line 25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6" name="Line 26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7" name="Line 27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8" name="Line 28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9" name="Line 29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48136" name="Group 30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48137" name="Rectangle 31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38" name="Oval 32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39" name="Oval 33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0" name="Oval 34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8141" name="Rectangle 35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13AE6BF9-0CD5-094F-A73D-784B47530202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12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The Banker’</a:t>
            </a:r>
            <a:r>
              <a:rPr lang="en-US" altLang="ja-JP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s Algorithm</a:t>
            </a:r>
            <a:endParaRPr lang="en-US" dirty="0">
              <a:solidFill>
                <a:srgbClr val="7F7F7F"/>
              </a:solidFill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57301"/>
            <a:ext cx="8229600" cy="4525963"/>
          </a:xfrm>
        </p:spPr>
        <p:txBody>
          <a:bodyPr lIns="64008" tIns="32004" rIns="64008" bIns="32004"/>
          <a:lstStyle/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Data Structures </a:t>
            </a:r>
            <a:r>
              <a:rPr lang="en-US" sz="22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used 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</a:t>
            </a:r>
          </a:p>
          <a:p>
            <a:pPr lvl="1"/>
            <a:r>
              <a:rPr lang="en-US" sz="2400" b="1" i="1" dirty="0">
                <a:solidFill>
                  <a:srgbClr val="3366FF"/>
                </a:solidFill>
                <a:ea typeface="ＭＳ Ｐゴシック" charset="0"/>
              </a:rPr>
              <a:t>n</a:t>
            </a:r>
            <a:r>
              <a:rPr lang="en-US" sz="2400" dirty="0">
                <a:solidFill>
                  <a:srgbClr val="3366FF"/>
                </a:solidFill>
                <a:ea typeface="ＭＳ Ｐゴシック" charset="0"/>
              </a:rPr>
              <a:t> 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processes and </a:t>
            </a:r>
            <a:r>
              <a:rPr lang="en-US" sz="2400" b="1" i="1" dirty="0">
                <a:solidFill>
                  <a:srgbClr val="3366FF"/>
                </a:solidFill>
                <a:ea typeface="ＭＳ Ｐゴシック" charset="0"/>
              </a:rPr>
              <a:t>m</a:t>
            </a:r>
            <a:r>
              <a:rPr lang="en-US" sz="2400" dirty="0">
                <a:solidFill>
                  <a:srgbClr val="3366FF"/>
                </a:solidFill>
                <a:ea typeface="ＭＳ Ｐゴシック" charset="0"/>
              </a:rPr>
              <a:t> 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types of resource </a:t>
            </a:r>
          </a:p>
          <a:p>
            <a:pPr lvl="2"/>
            <a:r>
              <a:rPr lang="en-US" sz="2100" dirty="0">
                <a:solidFill>
                  <a:srgbClr val="7F7F7F"/>
                </a:solidFill>
                <a:ea typeface="ＭＳ Ｐゴシック" charset="0"/>
              </a:rPr>
              <a:t>Example n = 3 (P</a:t>
            </a:r>
            <a:r>
              <a:rPr lang="en-US" sz="2100" baseline="-25000" dirty="0">
                <a:solidFill>
                  <a:srgbClr val="7F7F7F"/>
                </a:solidFill>
                <a:ea typeface="ＭＳ Ｐゴシック" charset="0"/>
              </a:rPr>
              <a:t>1</a:t>
            </a:r>
            <a:r>
              <a:rPr lang="en-US" sz="2100" dirty="0">
                <a:solidFill>
                  <a:srgbClr val="7F7F7F"/>
                </a:solidFill>
                <a:ea typeface="ＭＳ Ｐゴシック" charset="0"/>
              </a:rPr>
              <a:t>, P</a:t>
            </a:r>
            <a:r>
              <a:rPr lang="en-US" sz="2100" baseline="-25000" dirty="0">
                <a:solidFill>
                  <a:srgbClr val="7F7F7F"/>
                </a:solidFill>
                <a:ea typeface="ＭＳ Ｐゴシック" charset="0"/>
              </a:rPr>
              <a:t>2</a:t>
            </a:r>
            <a:r>
              <a:rPr lang="en-US" sz="2100" dirty="0">
                <a:solidFill>
                  <a:srgbClr val="7F7F7F"/>
                </a:solidFill>
                <a:ea typeface="ＭＳ Ｐゴシック" charset="0"/>
              </a:rPr>
              <a:t>, P</a:t>
            </a:r>
            <a:r>
              <a:rPr lang="en-US" sz="2100" baseline="-25000" dirty="0">
                <a:solidFill>
                  <a:srgbClr val="7F7F7F"/>
                </a:solidFill>
                <a:ea typeface="ＭＳ Ｐゴシック" charset="0"/>
              </a:rPr>
              <a:t>3</a:t>
            </a:r>
            <a:r>
              <a:rPr lang="en-US" sz="2100" dirty="0">
                <a:solidFill>
                  <a:srgbClr val="7F7F7F"/>
                </a:solidFill>
                <a:ea typeface="ＭＳ Ｐゴシック" charset="0"/>
              </a:rPr>
              <a:t> ),       m=2 (Printer, Disk)</a:t>
            </a:r>
          </a:p>
          <a:p>
            <a:pPr lvl="1"/>
            <a:r>
              <a:rPr lang="en-US" sz="2400" b="1" i="1" dirty="0">
                <a:solidFill>
                  <a:srgbClr val="3366FF"/>
                </a:solidFill>
                <a:ea typeface="ＭＳ Ｐゴシック" charset="0"/>
              </a:rPr>
              <a:t>Available</a:t>
            </a:r>
            <a:r>
              <a:rPr lang="en-US" sz="2400" dirty="0">
                <a:solidFill>
                  <a:srgbClr val="3366FF"/>
                </a:solidFill>
                <a:ea typeface="ＭＳ Ｐゴシック" charset="0"/>
              </a:rPr>
              <a:t> 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: 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</a:rPr>
              <a:t>vector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 with the number of available resources of each type. Ex: Available = (2,3)</a:t>
            </a:r>
          </a:p>
          <a:p>
            <a:pPr lvl="1"/>
            <a:r>
              <a:rPr lang="en-US" sz="2400" b="1" i="1" dirty="0">
                <a:solidFill>
                  <a:srgbClr val="3366FF"/>
                </a:solidFill>
                <a:ea typeface="ＭＳ Ｐゴシック" charset="0"/>
              </a:rPr>
              <a:t>Max</a:t>
            </a:r>
            <a:r>
              <a:rPr lang="en-US" sz="2400" dirty="0">
                <a:solidFill>
                  <a:srgbClr val="3366FF"/>
                </a:solidFill>
                <a:ea typeface="ＭＳ Ｐゴシック" charset="0"/>
              </a:rPr>
              <a:t> 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: </a:t>
            </a:r>
            <a:r>
              <a:rPr lang="en-US" sz="2400" b="1" dirty="0">
                <a:solidFill>
                  <a:srgbClr val="7F7F7F"/>
                </a:solidFill>
                <a:ea typeface="ＭＳ Ｐゴシック" charset="0"/>
              </a:rPr>
              <a:t>n x m 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</a:rPr>
              <a:t>matrix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maximum demand of each process on each type.</a:t>
            </a:r>
            <a:endParaRPr lang="en-US" sz="1850" dirty="0">
              <a:solidFill>
                <a:srgbClr val="7F7F7F"/>
              </a:solidFill>
              <a:ea typeface="ＭＳ Ｐゴシック" charset="0"/>
            </a:endParaRPr>
          </a:p>
          <a:p>
            <a:pPr lvl="1"/>
            <a:r>
              <a:rPr lang="en-US" sz="2400" b="1" i="1" dirty="0">
                <a:solidFill>
                  <a:srgbClr val="3366FF"/>
                </a:solidFill>
                <a:ea typeface="ＭＳ Ｐゴシック" charset="0"/>
              </a:rPr>
              <a:t>Allocation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: 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</a:rPr>
              <a:t>n x m </a:t>
            </a:r>
            <a:r>
              <a:rPr lang="en-US" sz="1800" b="1" dirty="0">
                <a:solidFill>
                  <a:srgbClr val="7F7F7F"/>
                </a:solidFill>
                <a:ea typeface="ＭＳ Ｐゴシック" charset="0"/>
              </a:rPr>
              <a:t>matrix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number of resources of each type currently allocated to each process.</a:t>
            </a:r>
          </a:p>
          <a:p>
            <a:pPr lvl="1"/>
            <a:r>
              <a:rPr lang="en-US" sz="2400" b="1" i="1" dirty="0">
                <a:solidFill>
                  <a:srgbClr val="3366FF"/>
                </a:solidFill>
                <a:ea typeface="ＭＳ Ｐゴシック" charset="0"/>
              </a:rPr>
              <a:t>Need</a:t>
            </a:r>
            <a:r>
              <a:rPr lang="en-US" sz="2400" b="1" i="1" dirty="0">
                <a:solidFill>
                  <a:srgbClr val="7F7F7F"/>
                </a:solidFill>
                <a:ea typeface="ＭＳ Ｐゴシック" charset="0"/>
              </a:rPr>
              <a:t> 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: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(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</a:rPr>
              <a:t>n x m Matrix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) Need[</a:t>
            </a:r>
            <a:r>
              <a:rPr lang="en-US" sz="2000" dirty="0" err="1">
                <a:solidFill>
                  <a:srgbClr val="7F7F7F"/>
                </a:solidFill>
                <a:ea typeface="ＭＳ Ｐゴシック" charset="0"/>
              </a:rPr>
              <a:t>i,j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] = Max[</a:t>
            </a:r>
            <a:r>
              <a:rPr lang="en-US" sz="2000" dirty="0" err="1">
                <a:solidFill>
                  <a:srgbClr val="7F7F7F"/>
                </a:solidFill>
                <a:ea typeface="ＭＳ Ｐゴシック" charset="0"/>
              </a:rPr>
              <a:t>i,j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] - Allocation[</a:t>
            </a:r>
            <a:r>
              <a:rPr lang="en-US" sz="2000" dirty="0" err="1">
                <a:solidFill>
                  <a:srgbClr val="7F7F7F"/>
                </a:solidFill>
                <a:ea typeface="ＭＳ Ｐゴシック" charset="0"/>
              </a:rPr>
              <a:t>i,j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].</a:t>
            </a:r>
          </a:p>
          <a:p>
            <a:pPr lvl="1"/>
            <a:r>
              <a:rPr lang="en-US" sz="2400" b="1" i="1" dirty="0">
                <a:solidFill>
                  <a:srgbClr val="3366FF"/>
                </a:solidFill>
                <a:ea typeface="ＭＳ Ｐゴシック" charset="0"/>
              </a:rPr>
              <a:t>Request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[</a:t>
            </a:r>
            <a:r>
              <a:rPr lang="en-US" sz="2400" dirty="0" err="1">
                <a:solidFill>
                  <a:srgbClr val="7F7F7F"/>
                </a:solidFill>
                <a:ea typeface="ＭＳ Ｐゴシック" charset="0"/>
              </a:rPr>
              <a:t>i,j</a:t>
            </a:r>
            <a:r>
              <a:rPr lang="en-US" sz="2400" dirty="0">
                <a:solidFill>
                  <a:srgbClr val="7F7F7F"/>
                </a:solidFill>
                <a:ea typeface="ＭＳ Ｐゴシック" charset="0"/>
              </a:rPr>
              <a:t>] :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(element of </a:t>
            </a:r>
            <a:r>
              <a:rPr lang="en-US" sz="2000" b="1" dirty="0">
                <a:solidFill>
                  <a:srgbClr val="7F7F7F"/>
                </a:solidFill>
                <a:ea typeface="ＭＳ Ｐゴシック" charset="0"/>
              </a:rPr>
              <a:t>n x m Matrix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) the number of resources </a:t>
            </a:r>
            <a:r>
              <a:rPr lang="en-US" sz="2000" b="1" i="1" dirty="0">
                <a:solidFill>
                  <a:srgbClr val="7F7F7F"/>
                </a:solidFill>
                <a:ea typeface="ＭＳ Ｐゴシック" charset="0"/>
              </a:rPr>
              <a:t>j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 Process </a:t>
            </a:r>
            <a:r>
              <a:rPr lang="en-US" sz="2000" b="1" i="1" dirty="0" err="1">
                <a:solidFill>
                  <a:srgbClr val="7F7F7F"/>
                </a:solidFill>
                <a:ea typeface="ＭＳ Ｐゴシック" charset="0"/>
              </a:rPr>
              <a:t>i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 is requesting</a:t>
            </a:r>
          </a:p>
        </p:txBody>
      </p:sp>
      <p:grpSp>
        <p:nvGrpSpPr>
          <p:cNvPr id="49158" name="Group 4"/>
          <p:cNvGrpSpPr>
            <a:grpSpLocks/>
          </p:cNvGrpSpPr>
          <p:nvPr/>
        </p:nvGrpSpPr>
        <p:grpSpPr bwMode="auto">
          <a:xfrm>
            <a:off x="6934200" y="304800"/>
            <a:ext cx="1905000" cy="685800"/>
            <a:chOff x="2688" y="2304"/>
            <a:chExt cx="1200" cy="432"/>
          </a:xfrm>
        </p:grpSpPr>
        <p:grpSp>
          <p:nvGrpSpPr>
            <p:cNvPr id="49159" name="Group 5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49166" name="Line 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67" name="Line 7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68" name="Line 8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69" name="Line 9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70" name="Line 10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71" name="Line 11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72" name="Line 1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73" name="Line 13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49160" name="Group 14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49161" name="Rectangle 15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62" name="Oval 16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63" name="Oval 17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64" name="Oval 18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49165" name="Rectangle 19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36DE1630-4F31-7141-BCAE-836512A6B6A8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13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307182"/>
            <a:ext cx="7772400" cy="569119"/>
          </a:xfrm>
        </p:spPr>
        <p:txBody>
          <a:bodyPr lIns="64008" tIns="32004" rIns="64008" bIns="32004"/>
          <a:lstStyle/>
          <a:p>
            <a:r>
              <a:rPr lang="en-US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The Banker’</a:t>
            </a:r>
            <a:r>
              <a:rPr lang="en-US" altLang="ja-JP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s Algorithm</a:t>
            </a:r>
            <a:endParaRPr lang="en-US" dirty="0">
              <a:solidFill>
                <a:srgbClr val="7F7F7F"/>
              </a:solidFill>
              <a:latin typeface="+mn-lt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0181" name="Group 4"/>
          <p:cNvGrpSpPr>
            <a:grpSpLocks/>
          </p:cNvGrpSpPr>
          <p:nvPr/>
        </p:nvGrpSpPr>
        <p:grpSpPr bwMode="auto">
          <a:xfrm>
            <a:off x="6934200" y="304800"/>
            <a:ext cx="1905000" cy="685800"/>
            <a:chOff x="2688" y="2304"/>
            <a:chExt cx="1200" cy="432"/>
          </a:xfrm>
        </p:grpSpPr>
        <p:grpSp>
          <p:nvGrpSpPr>
            <p:cNvPr id="50183" name="Group 5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50190" name="Line 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91" name="Line 7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92" name="Line 8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93" name="Line 9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94" name="Line 10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95" name="Line 11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96" name="Line 1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97" name="Line 13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50184" name="Group 14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50185" name="Rectangle 15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86" name="Oval 16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87" name="Oval 17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88" name="Oval 18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0189" name="Rectangle 19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  <p:sp>
        <p:nvSpPr>
          <p:cNvPr id="50182" name="Text Box 21"/>
          <p:cNvSpPr txBox="1">
            <a:spLocks noChangeArrowheads="1"/>
          </p:cNvSpPr>
          <p:nvPr/>
        </p:nvSpPr>
        <p:spPr bwMode="auto">
          <a:xfrm>
            <a:off x="609600" y="1116012"/>
            <a:ext cx="7988300" cy="535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7F7F7F"/>
                </a:solidFill>
                <a:latin typeface="+mn-lt"/>
              </a:rPr>
              <a:t>1.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If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 Request[</a:t>
            </a:r>
            <a:r>
              <a:rPr lang="en-US" dirty="0" err="1">
                <a:solidFill>
                  <a:srgbClr val="3366FF"/>
                </a:solidFill>
                <a:latin typeface="+mn-lt"/>
              </a:rPr>
              <a:t>i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] ≤ Need[</a:t>
            </a:r>
            <a:r>
              <a:rPr lang="en-US" dirty="0" err="1">
                <a:solidFill>
                  <a:srgbClr val="3366FF"/>
                </a:solidFill>
                <a:latin typeface="+mn-lt"/>
              </a:rPr>
              <a:t>i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]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goto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step 2 otherwise report error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2.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If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 Request[</a:t>
            </a:r>
            <a:r>
              <a:rPr lang="en-US" dirty="0" err="1">
                <a:solidFill>
                  <a:srgbClr val="3366FF"/>
                </a:solidFill>
                <a:latin typeface="+mn-lt"/>
              </a:rPr>
              <a:t>i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] ≤ Available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,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goto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step 3, otherwise, let process</a:t>
            </a:r>
            <a:r>
              <a:rPr lang="en-US" b="1" i="1" dirty="0">
                <a:solidFill>
                  <a:srgbClr val="7F7F7F"/>
                </a:solidFill>
                <a:latin typeface="+mn-lt"/>
              </a:rPr>
              <a:t> </a:t>
            </a:r>
            <a:r>
              <a:rPr lang="en-US" b="1" i="1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wait (not enough resources available).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3.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Let us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pretend 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that we allocate the requested resources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Available       := Available       </a:t>
            </a:r>
            <a:r>
              <a:rPr lang="en-US" sz="1800" b="1" dirty="0">
                <a:solidFill>
                  <a:srgbClr val="FF00FF"/>
                </a:solidFill>
                <a:latin typeface="+mn-lt"/>
              </a:rPr>
              <a:t>-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 Request[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];</a:t>
            </a:r>
          </a:p>
          <a:p>
            <a:r>
              <a:rPr lang="en-US" sz="1800" dirty="0">
                <a:solidFill>
                  <a:srgbClr val="FF00FF"/>
                </a:solidFill>
                <a:latin typeface="+mn-lt"/>
              </a:rPr>
              <a:t>	Allocation[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 := Allocation[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</a:t>
            </a:r>
            <a:r>
              <a:rPr lang="en-US" sz="1800" b="1" dirty="0">
                <a:solidFill>
                  <a:srgbClr val="FF00FF"/>
                </a:solidFill>
                <a:latin typeface="+mn-lt"/>
              </a:rPr>
              <a:t>+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 Request[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];</a:t>
            </a:r>
          </a:p>
          <a:p>
            <a:r>
              <a:rPr lang="en-US" sz="1800" dirty="0">
                <a:solidFill>
                  <a:srgbClr val="FF00FF"/>
                </a:solidFill>
                <a:latin typeface="+mn-lt"/>
              </a:rPr>
              <a:t>	Need[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	     := Need[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       </a:t>
            </a:r>
            <a:r>
              <a:rPr lang="en-US" sz="1800" b="1" dirty="0">
                <a:solidFill>
                  <a:srgbClr val="FF00FF"/>
                </a:solidFill>
                <a:latin typeface="+mn-lt"/>
              </a:rPr>
              <a:t>-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 Request[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4.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If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 !</a:t>
            </a:r>
            <a:r>
              <a:rPr lang="en-US" b="1" i="1" dirty="0">
                <a:solidFill>
                  <a:srgbClr val="3366FF"/>
                </a:solidFill>
                <a:latin typeface="+mn-lt"/>
              </a:rPr>
              <a:t>Safe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(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Available, Allocation, Need) //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unsafe state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then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	 //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Rollback </a:t>
            </a:r>
            <a:endParaRPr lang="en-US" dirty="0">
              <a:solidFill>
                <a:srgbClr val="FF00FF"/>
              </a:solidFill>
            </a:endParaRPr>
          </a:p>
          <a:p>
            <a:r>
              <a:rPr lang="en-US" dirty="0">
                <a:solidFill>
                  <a:srgbClr val="7F7F7F"/>
                </a:solidFill>
              </a:rPr>
              <a:t>	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let Process</a:t>
            </a:r>
            <a:r>
              <a:rPr lang="en-US" b="1" i="1" dirty="0">
                <a:solidFill>
                  <a:srgbClr val="7F7F7F"/>
                </a:solidFill>
                <a:latin typeface="+mn-lt"/>
              </a:rPr>
              <a:t> </a:t>
            </a:r>
            <a:r>
              <a:rPr lang="en-US" b="1" i="1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wait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 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: allocation may cause deadlock.</a:t>
            </a:r>
            <a:endParaRPr lang="en-US" b="1" dirty="0">
              <a:solidFill>
                <a:srgbClr val="3366F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  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Available       := Available       </a:t>
            </a:r>
            <a:r>
              <a:rPr lang="en-US" sz="1800" b="1" dirty="0">
                <a:solidFill>
                  <a:srgbClr val="FF00FF"/>
                </a:solidFill>
                <a:latin typeface="+mn-lt"/>
              </a:rPr>
              <a:t>+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 Request[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];</a:t>
            </a:r>
          </a:p>
          <a:p>
            <a:r>
              <a:rPr lang="en-US" sz="1800" dirty="0">
                <a:solidFill>
                  <a:srgbClr val="FF00FF"/>
                </a:solidFill>
                <a:latin typeface="+mn-lt"/>
              </a:rPr>
              <a:t>	 Allocation[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 := Allocation[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 </a:t>
            </a:r>
            <a:r>
              <a:rPr lang="en-US" sz="1800" b="1" dirty="0">
                <a:solidFill>
                  <a:srgbClr val="FF00FF"/>
                </a:solidFill>
                <a:latin typeface="+mn-lt"/>
              </a:rPr>
              <a:t>-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 Request[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];</a:t>
            </a:r>
          </a:p>
          <a:p>
            <a:r>
              <a:rPr lang="en-US" sz="1800" dirty="0">
                <a:solidFill>
                  <a:srgbClr val="FF00FF"/>
                </a:solidFill>
                <a:latin typeface="+mn-lt"/>
              </a:rPr>
              <a:t>	Need[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	      := Need[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        </a:t>
            </a:r>
            <a:r>
              <a:rPr lang="en-US" sz="1800" b="1" dirty="0">
                <a:solidFill>
                  <a:srgbClr val="FF00FF"/>
                </a:solidFill>
                <a:latin typeface="+mn-lt"/>
              </a:rPr>
              <a:t>+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 Request[</a:t>
            </a:r>
            <a:r>
              <a:rPr lang="en-US" sz="1800" dirty="0" err="1">
                <a:solidFill>
                  <a:srgbClr val="FF00FF"/>
                </a:solidFill>
                <a:latin typeface="+mn-lt"/>
              </a:rPr>
              <a:t>i</a:t>
            </a:r>
            <a:r>
              <a:rPr lang="en-US" sz="1800" dirty="0">
                <a:solidFill>
                  <a:srgbClr val="FF00FF"/>
                </a:solidFill>
                <a:latin typeface="+mn-lt"/>
              </a:rPr>
              <a:t>];</a:t>
            </a:r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else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 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let Process</a:t>
            </a:r>
            <a:r>
              <a:rPr lang="en-US" b="1" i="1" dirty="0">
                <a:solidFill>
                  <a:srgbClr val="7F7F7F"/>
                </a:solidFill>
                <a:latin typeface="+mn-lt"/>
              </a:rPr>
              <a:t> </a:t>
            </a:r>
            <a:r>
              <a:rPr lang="en-US" b="1" i="1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proceed</a:t>
            </a:r>
            <a:r>
              <a:rPr lang="en-US" dirty="0">
                <a:solidFill>
                  <a:srgbClr val="3366FF"/>
                </a:solidFill>
                <a:latin typeface="+mn-lt"/>
              </a:rPr>
              <a:t> 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with allocated resources.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E5EF04B4-0B2C-8941-B9E4-241B2014D0B5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14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6466"/>
            <a:ext cx="7772400" cy="569119"/>
          </a:xfrm>
        </p:spPr>
        <p:txBody>
          <a:bodyPr lIns="64008" tIns="32004" rIns="64008" bIns="32004"/>
          <a:lstStyle/>
          <a:p>
            <a:r>
              <a:rPr lang="en-US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The Banker</a:t>
            </a:r>
            <a:r>
              <a:rPr lang="ja-JP" altLang="en-US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s Algorithm</a:t>
            </a:r>
            <a:endParaRPr lang="en-US" dirty="0">
              <a:solidFill>
                <a:srgbClr val="7F7F7F"/>
              </a:solidFill>
              <a:latin typeface="+mn-lt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1205" name="Group 3"/>
          <p:cNvGrpSpPr>
            <a:grpSpLocks/>
          </p:cNvGrpSpPr>
          <p:nvPr/>
        </p:nvGrpSpPr>
        <p:grpSpPr bwMode="auto">
          <a:xfrm>
            <a:off x="6934200" y="304800"/>
            <a:ext cx="1905000" cy="685800"/>
            <a:chOff x="2688" y="2304"/>
            <a:chExt cx="1200" cy="432"/>
          </a:xfrm>
        </p:grpSpPr>
        <p:grpSp>
          <p:nvGrpSpPr>
            <p:cNvPr id="51207" name="Group 4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51214" name="Line 5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5" name="Line 6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6" name="Line 7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7" name="Line 8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8" name="Line 9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9" name="Line 10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20" name="Line 11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21" name="Line 12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51208" name="Group 13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51209" name="Rectangle 14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0" name="Oval 15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1" name="Oval 16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2" name="Oval 17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1213" name="Rectangle 18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  <p:sp>
        <p:nvSpPr>
          <p:cNvPr id="51206" name="Text Box 19"/>
          <p:cNvSpPr txBox="1">
            <a:spLocks noChangeArrowheads="1"/>
          </p:cNvSpPr>
          <p:nvPr/>
        </p:nvSpPr>
        <p:spPr bwMode="auto">
          <a:xfrm>
            <a:off x="609600" y="1005284"/>
            <a:ext cx="7988300" cy="526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7F7F7F"/>
                </a:solidFill>
                <a:latin typeface="+mn-lt"/>
              </a:rPr>
              <a:t>Function </a:t>
            </a:r>
            <a:r>
              <a:rPr lang="en-US" b="1" i="1" dirty="0">
                <a:solidFill>
                  <a:srgbClr val="7F7F7F"/>
                </a:solidFill>
                <a:latin typeface="+mn-lt"/>
              </a:rPr>
              <a:t>Safe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(Available, Allocation, Need):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boolean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;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1. Work := Available;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For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:=1 to n do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:= false;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2.  while there is an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such that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= false 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			and Need[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≤ work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       Work 		:= Work + Allocation[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     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	:= true;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EndWhile</a:t>
            </a:r>
            <a:endParaRPr lang="en-US" dirty="0">
              <a:solidFill>
                <a:srgbClr val="7F7F7F"/>
              </a:solidFill>
              <a:latin typeface="+mn-lt"/>
            </a:endParaRP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3.  If for all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= true // all processes complete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then return(true);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else return(false);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99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BBDB1151-7D9B-1B4A-8DF7-7B3CAF18DD55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15</a:t>
            </a:fld>
            <a:endParaRPr lang="en-US" sz="140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732367" y="242888"/>
            <a:ext cx="7772400" cy="559594"/>
          </a:xfrm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Example 1:  Using the Safe Function</a:t>
            </a:r>
          </a:p>
        </p:txBody>
      </p:sp>
      <p:grpSp>
        <p:nvGrpSpPr>
          <p:cNvPr id="52229" name="Group 3"/>
          <p:cNvGrpSpPr>
            <a:grpSpLocks/>
          </p:cNvGrpSpPr>
          <p:nvPr/>
        </p:nvGrpSpPr>
        <p:grpSpPr bwMode="auto">
          <a:xfrm>
            <a:off x="6934200" y="304800"/>
            <a:ext cx="1905000" cy="685800"/>
            <a:chOff x="2688" y="2304"/>
            <a:chExt cx="1200" cy="432"/>
          </a:xfrm>
        </p:grpSpPr>
        <p:grpSp>
          <p:nvGrpSpPr>
            <p:cNvPr id="52234" name="Group 4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52241" name="Line 5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2" name="Line 6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3" name="Line 7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4" name="Line 8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5" name="Line 9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6" name="Line 10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7" name="Line 11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8" name="Line 12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52235" name="Group 13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52236" name="Rectangle 14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37" name="Oval 15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38" name="Oval 16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39" name="Oval 17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2240" name="Rectangle 18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  <p:sp>
        <p:nvSpPr>
          <p:cNvPr id="52230" name="Text Box 19"/>
          <p:cNvSpPr txBox="1">
            <a:spLocks noChangeArrowheads="1"/>
          </p:cNvSpPr>
          <p:nvPr/>
        </p:nvSpPr>
        <p:spPr bwMode="auto">
          <a:xfrm>
            <a:off x="381001" y="1306513"/>
            <a:ext cx="3368675" cy="489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b="1" dirty="0">
                <a:solidFill>
                  <a:srgbClr val="3366FF"/>
                </a:solidFill>
                <a:latin typeface="+mn-lt"/>
              </a:rPr>
              <a:t>Input</a:t>
            </a:r>
            <a:r>
              <a:rPr lang="en-US" b="1" dirty="0">
                <a:solidFill>
                  <a:srgbClr val="7F7F7F"/>
                </a:solidFill>
                <a:latin typeface="+mn-lt"/>
              </a:rPr>
              <a:t> of the algorithm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b="1" i="1" u="sng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 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Allocation 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 </a:t>
            </a:r>
            <a:r>
              <a:rPr lang="en-US" b="1" dirty="0">
                <a:solidFill>
                  <a:srgbClr val="7F7F7F"/>
                </a:solidFill>
                <a:latin typeface="+mn-lt"/>
              </a:rPr>
              <a:t>Need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  A  B C         A  B  C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0    0   3  0        7   2   3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1    3   0  2        0   2   0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2    3   0  2        6   0   0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3    2   1  1        0   1   1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4    0   0  2        4   3   1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</a:t>
            </a:r>
            <a:r>
              <a:rPr lang="en-US" b="1" dirty="0">
                <a:solidFill>
                  <a:srgbClr val="7F7F7F"/>
                </a:solidFill>
                <a:latin typeface="+mn-lt"/>
              </a:rPr>
              <a:t>Available</a:t>
            </a:r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  A  B  C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2   3   0</a:t>
            </a:r>
          </a:p>
        </p:txBody>
      </p:sp>
      <p:sp>
        <p:nvSpPr>
          <p:cNvPr id="52231" name="Text Box 20"/>
          <p:cNvSpPr txBox="1">
            <a:spLocks noChangeArrowheads="1"/>
          </p:cNvSpPr>
          <p:nvPr/>
        </p:nvSpPr>
        <p:spPr bwMode="auto">
          <a:xfrm>
            <a:off x="4953000" y="1306513"/>
            <a:ext cx="3815157" cy="507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b="1" dirty="0">
                <a:solidFill>
                  <a:srgbClr val="7F7F7F"/>
                </a:solidFill>
                <a:latin typeface="+mn-lt"/>
              </a:rPr>
              <a:t>Trace of the safe function</a:t>
            </a:r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b="1" dirty="0">
                <a:solidFill>
                  <a:srgbClr val="7F7F7F"/>
                </a:solidFill>
                <a:latin typeface="+mn-lt"/>
              </a:rPr>
              <a:t>Work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A  B  C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2   3   0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5   3   2     Finish[1] ;= true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7   4   3     Finish[3] := true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7   7   3     Finish[0] := true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10 7   5     Finish[2] := true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10 7   7     Finish[4] :=true;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sz="2000" dirty="0">
                <a:solidFill>
                  <a:srgbClr val="7F7F7F"/>
                </a:solidFill>
                <a:latin typeface="+mn-lt"/>
              </a:rPr>
              <a:t>Sequence P</a:t>
            </a:r>
            <a:r>
              <a:rPr lang="en-US" sz="2000" baseline="-25000" dirty="0">
                <a:solidFill>
                  <a:srgbClr val="7F7F7F"/>
                </a:solidFill>
                <a:latin typeface="+mn-lt"/>
              </a:rPr>
              <a:t>1</a:t>
            </a:r>
            <a:r>
              <a:rPr lang="en-US" sz="2000" dirty="0">
                <a:solidFill>
                  <a:srgbClr val="7F7F7F"/>
                </a:solidFill>
                <a:latin typeface="+mn-lt"/>
              </a:rPr>
              <a:t>, P</a:t>
            </a:r>
            <a:r>
              <a:rPr lang="en-US" sz="2000" baseline="-25000" dirty="0">
                <a:solidFill>
                  <a:srgbClr val="7F7F7F"/>
                </a:solidFill>
                <a:latin typeface="+mn-lt"/>
              </a:rPr>
              <a:t>3</a:t>
            </a:r>
            <a:r>
              <a:rPr lang="en-US" sz="2000" dirty="0">
                <a:solidFill>
                  <a:srgbClr val="7F7F7F"/>
                </a:solidFill>
                <a:latin typeface="+mn-lt"/>
              </a:rPr>
              <a:t>, P</a:t>
            </a:r>
            <a:r>
              <a:rPr lang="en-US" sz="2000" baseline="-25000" dirty="0">
                <a:solidFill>
                  <a:srgbClr val="7F7F7F"/>
                </a:solidFill>
                <a:latin typeface="+mn-lt"/>
              </a:rPr>
              <a:t>0</a:t>
            </a:r>
            <a:r>
              <a:rPr lang="en-US" sz="2000" dirty="0">
                <a:solidFill>
                  <a:srgbClr val="7F7F7F"/>
                </a:solidFill>
                <a:latin typeface="+mn-lt"/>
              </a:rPr>
              <a:t>, P</a:t>
            </a:r>
            <a:r>
              <a:rPr lang="en-US" sz="2000" baseline="-25000" dirty="0">
                <a:solidFill>
                  <a:srgbClr val="7F7F7F"/>
                </a:solidFill>
                <a:latin typeface="+mn-lt"/>
              </a:rPr>
              <a:t>2</a:t>
            </a:r>
            <a:r>
              <a:rPr lang="en-US" sz="2000" dirty="0">
                <a:solidFill>
                  <a:srgbClr val="7F7F7F"/>
                </a:solidFill>
                <a:latin typeface="+mn-lt"/>
              </a:rPr>
              <a:t>, P</a:t>
            </a:r>
            <a:r>
              <a:rPr lang="en-US" sz="2000" baseline="-25000" dirty="0">
                <a:solidFill>
                  <a:srgbClr val="7F7F7F"/>
                </a:solidFill>
                <a:latin typeface="+mn-lt"/>
              </a:rPr>
              <a:t>4</a:t>
            </a:r>
            <a:r>
              <a:rPr lang="en-US" sz="2000" dirty="0">
                <a:solidFill>
                  <a:srgbClr val="7F7F7F"/>
                </a:solidFill>
                <a:latin typeface="+mn-lt"/>
              </a:rPr>
              <a:t>  </a:t>
            </a:r>
            <a:r>
              <a:rPr lang="en-US" sz="2000" b="1" dirty="0">
                <a:solidFill>
                  <a:srgbClr val="3366FF"/>
                </a:solidFill>
                <a:latin typeface="+mn-lt"/>
              </a:rPr>
              <a:t>exits</a:t>
            </a:r>
          </a:p>
          <a:p>
            <a:r>
              <a:rPr lang="en-US" sz="2000" dirty="0">
                <a:solidFill>
                  <a:srgbClr val="7F7F7F"/>
                </a:solidFill>
                <a:latin typeface="+mn-lt"/>
              </a:rPr>
              <a:t>Then the system is </a:t>
            </a:r>
            <a:r>
              <a:rPr lang="en-US" sz="2000" b="1" dirty="0">
                <a:solidFill>
                  <a:srgbClr val="3366FF"/>
                </a:solidFill>
                <a:latin typeface="+mn-lt"/>
              </a:rPr>
              <a:t>safe</a:t>
            </a:r>
          </a:p>
          <a:p>
            <a:r>
              <a:rPr lang="en-US" sz="2000" dirty="0">
                <a:solidFill>
                  <a:srgbClr val="7F7F7F"/>
                </a:solidFill>
                <a:latin typeface="+mn-lt"/>
              </a:rPr>
              <a:t>(sequence not unique)</a:t>
            </a:r>
          </a:p>
        </p:txBody>
      </p:sp>
      <p:sp>
        <p:nvSpPr>
          <p:cNvPr id="52232" name="Rectangle 22"/>
          <p:cNvSpPr>
            <a:spLocks noChangeArrowheads="1"/>
          </p:cNvSpPr>
          <p:nvPr/>
        </p:nvSpPr>
        <p:spPr bwMode="auto">
          <a:xfrm>
            <a:off x="304800" y="1230312"/>
            <a:ext cx="3352800" cy="484028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52233" name="Rectangle 23"/>
          <p:cNvSpPr>
            <a:spLocks noChangeArrowheads="1"/>
          </p:cNvSpPr>
          <p:nvPr/>
        </p:nvSpPr>
        <p:spPr bwMode="auto">
          <a:xfrm>
            <a:off x="4800600" y="1217613"/>
            <a:ext cx="3886200" cy="5167209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>
              <a:solidFill>
                <a:srgbClr val="7F7F7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4E18187F-3665-EB4D-923D-5A0A9DA7ED26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16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79785"/>
            <a:ext cx="7772400" cy="60126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charset="0"/>
                <a:cs typeface="ＭＳ Ｐゴシック" charset="0"/>
              </a:rPr>
              <a:t>Example 2:  Using the Safe Function</a:t>
            </a:r>
            <a:endParaRPr lang="en-US" dirty="0">
              <a:solidFill>
                <a:srgbClr val="7F7F7F"/>
              </a:solidFill>
              <a:latin typeface="+mn-lt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53253" name="Group 3"/>
          <p:cNvGrpSpPr>
            <a:grpSpLocks/>
          </p:cNvGrpSpPr>
          <p:nvPr/>
        </p:nvGrpSpPr>
        <p:grpSpPr bwMode="auto">
          <a:xfrm>
            <a:off x="6934200" y="304800"/>
            <a:ext cx="1905000" cy="685800"/>
            <a:chOff x="2688" y="2304"/>
            <a:chExt cx="1200" cy="432"/>
          </a:xfrm>
        </p:grpSpPr>
        <p:grpSp>
          <p:nvGrpSpPr>
            <p:cNvPr id="53258" name="Group 4"/>
            <p:cNvGrpSpPr>
              <a:grpSpLocks/>
            </p:cNvGrpSpPr>
            <p:nvPr/>
          </p:nvGrpSpPr>
          <p:grpSpPr bwMode="auto">
            <a:xfrm>
              <a:off x="2688" y="2400"/>
              <a:ext cx="1200" cy="336"/>
              <a:chOff x="2688" y="2352"/>
              <a:chExt cx="1200" cy="336"/>
            </a:xfrm>
          </p:grpSpPr>
          <p:sp>
            <p:nvSpPr>
              <p:cNvPr id="53265" name="Line 5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6" name="Line 6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7" name="Line 7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8" name="Line 8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9" name="Line 9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70" name="Line 10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71" name="Line 11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72" name="Line 12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pSp>
          <p:nvGrpSpPr>
            <p:cNvPr id="53259" name="Group 13"/>
            <p:cNvGrpSpPr>
              <a:grpSpLocks/>
            </p:cNvGrpSpPr>
            <p:nvPr/>
          </p:nvGrpSpPr>
          <p:grpSpPr bwMode="auto">
            <a:xfrm>
              <a:off x="3168" y="2304"/>
              <a:ext cx="96" cy="432"/>
              <a:chOff x="5184" y="768"/>
              <a:chExt cx="384" cy="1824"/>
            </a:xfrm>
          </p:grpSpPr>
          <p:sp>
            <p:nvSpPr>
              <p:cNvPr id="53260" name="Rectangle 14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8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1" name="Oval 15"/>
              <p:cNvSpPr>
                <a:spLocks noChangeArrowheads="1"/>
              </p:cNvSpPr>
              <p:nvPr/>
            </p:nvSpPr>
            <p:spPr bwMode="auto">
              <a:xfrm>
                <a:off x="5184" y="768"/>
                <a:ext cx="384" cy="26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2" name="Oval 16"/>
              <p:cNvSpPr>
                <a:spLocks noChangeArrowheads="1"/>
              </p:cNvSpPr>
              <p:nvPr/>
            </p:nvSpPr>
            <p:spPr bwMode="auto">
              <a:xfrm>
                <a:off x="5184" y="1036"/>
                <a:ext cx="384" cy="268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3" name="Oval 17"/>
              <p:cNvSpPr>
                <a:spLocks noChangeArrowheads="1"/>
              </p:cNvSpPr>
              <p:nvPr/>
            </p:nvSpPr>
            <p:spPr bwMode="auto">
              <a:xfrm>
                <a:off x="5184" y="1304"/>
                <a:ext cx="384" cy="269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3264" name="Rectangle 18"/>
              <p:cNvSpPr>
                <a:spLocks noChangeArrowheads="1"/>
              </p:cNvSpPr>
              <p:nvPr/>
            </p:nvSpPr>
            <p:spPr bwMode="auto">
              <a:xfrm>
                <a:off x="5338" y="1573"/>
                <a:ext cx="76" cy="101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</p:grpSp>
      <p:sp>
        <p:nvSpPr>
          <p:cNvPr id="53254" name="Text Box 19"/>
          <p:cNvSpPr txBox="1">
            <a:spLocks noChangeArrowheads="1"/>
          </p:cNvSpPr>
          <p:nvPr/>
        </p:nvSpPr>
        <p:spPr bwMode="auto">
          <a:xfrm>
            <a:off x="381001" y="1166018"/>
            <a:ext cx="3368675" cy="489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b="1" dirty="0">
                <a:solidFill>
                  <a:srgbClr val="3366FF"/>
                </a:solidFill>
                <a:latin typeface="+mn-lt"/>
              </a:rPr>
              <a:t>Input</a:t>
            </a:r>
            <a:r>
              <a:rPr lang="en-US" b="1" dirty="0">
                <a:solidFill>
                  <a:srgbClr val="7F7F7F"/>
                </a:solidFill>
                <a:latin typeface="+mn-lt"/>
              </a:rPr>
              <a:t> of the algorithm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b="1" i="1" u="sng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  </a:t>
            </a:r>
            <a:r>
              <a:rPr lang="en-US" b="1" dirty="0">
                <a:solidFill>
                  <a:srgbClr val="7F7F7F"/>
                </a:solidFill>
                <a:latin typeface="+mn-lt"/>
              </a:rPr>
              <a:t>Allocation 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 </a:t>
            </a:r>
            <a:r>
              <a:rPr lang="en-US" b="1" dirty="0">
                <a:solidFill>
                  <a:srgbClr val="7F7F7F"/>
                </a:solidFill>
                <a:latin typeface="+mn-lt"/>
              </a:rPr>
              <a:t>Need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  A  B C        A  B  C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0    0   3  0        7   2   3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1    3   0  2        0   2   0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2    3   0  2        6   0   0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3    2   1  1        0   1   1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4    0   0  2        4   3   1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</a:t>
            </a:r>
            <a:r>
              <a:rPr lang="en-US" b="1" dirty="0">
                <a:solidFill>
                  <a:srgbClr val="7F7F7F"/>
                </a:solidFill>
                <a:latin typeface="+mn-lt"/>
              </a:rPr>
              <a:t>Available</a:t>
            </a:r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        A  B  C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      2   1   0</a:t>
            </a:r>
          </a:p>
        </p:txBody>
      </p:sp>
      <p:sp>
        <p:nvSpPr>
          <p:cNvPr id="53255" name="Text Box 20"/>
          <p:cNvSpPr txBox="1">
            <a:spLocks noChangeArrowheads="1"/>
          </p:cNvSpPr>
          <p:nvPr/>
        </p:nvSpPr>
        <p:spPr bwMode="auto">
          <a:xfrm>
            <a:off x="4953000" y="1191419"/>
            <a:ext cx="3459741" cy="3046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b="1" dirty="0">
                <a:solidFill>
                  <a:srgbClr val="7F7F7F"/>
                </a:solidFill>
                <a:latin typeface="+mn-lt"/>
              </a:rPr>
              <a:t>Trace of the algorithm</a:t>
            </a:r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b="1" dirty="0">
                <a:solidFill>
                  <a:srgbClr val="7F7F7F"/>
                </a:solidFill>
                <a:latin typeface="+mn-lt"/>
              </a:rPr>
              <a:t>Work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A  B  C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2   1   0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b="1" dirty="0">
                <a:solidFill>
                  <a:srgbClr val="3366FF"/>
                </a:solidFill>
                <a:latin typeface="+mn-lt"/>
              </a:rPr>
              <a:t>No process can finish!!!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The system is </a:t>
            </a:r>
            <a:r>
              <a:rPr lang="en-US" b="1" dirty="0">
                <a:solidFill>
                  <a:srgbClr val="3366FF"/>
                </a:solidFill>
                <a:latin typeface="+mn-lt"/>
              </a:rPr>
              <a:t>unsafe</a:t>
            </a:r>
          </a:p>
        </p:txBody>
      </p:sp>
      <p:sp>
        <p:nvSpPr>
          <p:cNvPr id="53256" name="Rectangle 21"/>
          <p:cNvSpPr>
            <a:spLocks noChangeArrowheads="1"/>
          </p:cNvSpPr>
          <p:nvPr/>
        </p:nvSpPr>
        <p:spPr bwMode="auto">
          <a:xfrm>
            <a:off x="304800" y="1115219"/>
            <a:ext cx="3352800" cy="5133181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>
              <a:solidFill>
                <a:srgbClr val="7F7F7F"/>
              </a:solidFill>
            </a:endParaRPr>
          </a:p>
        </p:txBody>
      </p:sp>
      <p:sp>
        <p:nvSpPr>
          <p:cNvPr id="53257" name="Rectangle 22"/>
          <p:cNvSpPr>
            <a:spLocks noChangeArrowheads="1"/>
          </p:cNvSpPr>
          <p:nvPr/>
        </p:nvSpPr>
        <p:spPr bwMode="auto">
          <a:xfrm>
            <a:off x="4800600" y="1115219"/>
            <a:ext cx="3886200" cy="32004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901951" y="2261108"/>
            <a:ext cx="5898734" cy="257759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Deadlock </a:t>
            </a:r>
            <a:r>
              <a:rPr lang="en-US" dirty="0">
                <a:solidFill>
                  <a:srgbClr val="3366FF"/>
                </a:solidFill>
              </a:rPr>
              <a:t>Detection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is Deadlock </a:t>
            </a:r>
            <a:r>
              <a:rPr lang="en-US" dirty="0">
                <a:solidFill>
                  <a:srgbClr val="3366FF"/>
                </a:solidFill>
              </a:rPr>
              <a:t>Recovery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to implement/deploy each function?</a:t>
            </a:r>
            <a:endParaRPr lang="en-US" dirty="0">
              <a:solidFill>
                <a:srgbClr val="3366FF"/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0861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Detection/Recovery</a:t>
            </a:r>
          </a:p>
        </p:txBody>
      </p:sp>
    </p:spTree>
    <p:extLst>
      <p:ext uri="{BB962C8B-B14F-4D97-AF65-F5344CB8AC3E}">
        <p14:creationId xmlns:p14="http://schemas.microsoft.com/office/powerpoint/2010/main" val="55812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44C2859-2744-A544-8C9B-E75A21F1C907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18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Deadlock Detection/Recovery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Deadlock Detection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check if a deadlock happened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When to detect ?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How to detect ?</a:t>
            </a:r>
          </a:p>
          <a:p>
            <a:r>
              <a:rPr lang="en-US" sz="22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Deadlock Recovery</a:t>
            </a:r>
            <a:r>
              <a:rPr lang="en-US" sz="22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: </a:t>
            </a:r>
            <a:r>
              <a:rPr lang="en-US" sz="20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bring the system back to a non deadlock state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When a deadlock has been detected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How to recover?</a:t>
            </a:r>
          </a:p>
        </p:txBody>
      </p:sp>
      <p:grpSp>
        <p:nvGrpSpPr>
          <p:cNvPr id="54278" name="Group 4"/>
          <p:cNvGrpSpPr>
            <a:grpSpLocks/>
          </p:cNvGrpSpPr>
          <p:nvPr/>
        </p:nvGrpSpPr>
        <p:grpSpPr bwMode="auto">
          <a:xfrm>
            <a:off x="6096001" y="238130"/>
            <a:ext cx="2136775" cy="1295400"/>
            <a:chOff x="3264" y="3072"/>
            <a:chExt cx="1346" cy="816"/>
          </a:xfrm>
        </p:grpSpPr>
        <p:grpSp>
          <p:nvGrpSpPr>
            <p:cNvPr id="54279" name="Group 5"/>
            <p:cNvGrpSpPr>
              <a:grpSpLocks/>
            </p:cNvGrpSpPr>
            <p:nvPr/>
          </p:nvGrpSpPr>
          <p:grpSpPr bwMode="auto">
            <a:xfrm>
              <a:off x="3264" y="3552"/>
              <a:ext cx="1200" cy="336"/>
              <a:chOff x="2688" y="2352"/>
              <a:chExt cx="1200" cy="336"/>
            </a:xfrm>
          </p:grpSpPr>
          <p:sp>
            <p:nvSpPr>
              <p:cNvPr id="54281" name="Line 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4282" name="Line 7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4283" name="Line 8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4284" name="Line 9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4285" name="Line 10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4286" name="Line 11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4287" name="Line 1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4288" name="Line 13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aphicFrame>
          <p:nvGraphicFramePr>
            <p:cNvPr id="54280" name="Object 2"/>
            <p:cNvGraphicFramePr>
              <a:graphicFrameLocks noChangeAspect="1"/>
            </p:cNvGraphicFramePr>
            <p:nvPr/>
          </p:nvGraphicFramePr>
          <p:xfrm>
            <a:off x="3744" y="3072"/>
            <a:ext cx="8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8" name="Microsoft ClipArt Gallery" r:id="rId4" imgW="1371600" imgH="812800" progId="MS_ClipArt_Gallery">
                    <p:embed/>
                  </p:oleObj>
                </mc:Choice>
                <mc:Fallback>
                  <p:oleObj name="Microsoft ClipArt Gallery" r:id="rId4" imgW="1371600" imgH="812800" progId="MS_ClipArt_Gallery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866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bldLvl="2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2C3DBEB2-E5E5-274B-9CC8-E73A522BDCB0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19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When to Detect Deadlock ?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64008" tIns="32004" rIns="64008" bIns="32004"/>
          <a:lstStyle/>
          <a:p>
            <a:r>
              <a:rPr lang="en-US" sz="17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A deadlock occurs when a process makes some requests and cannot be granted</a:t>
            </a:r>
          </a:p>
          <a:p>
            <a:r>
              <a:rPr lang="en-US" sz="1700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Should the system invoke deadlock detection algorithm whenever such event happens?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How soon should a deadlock be detected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Overhead </a:t>
            </a:r>
            <a:r>
              <a:rPr lang="en-US" sz="1700" dirty="0" err="1">
                <a:solidFill>
                  <a:srgbClr val="7F7F7F"/>
                </a:solidFill>
                <a:ea typeface="ＭＳ Ｐゴシック" charset="0"/>
              </a:rPr>
              <a:t>vs</a:t>
            </a:r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 Performance</a:t>
            </a:r>
          </a:p>
          <a:p>
            <a:pPr lvl="1"/>
            <a:r>
              <a:rPr lang="en-US" sz="1700" dirty="0">
                <a:solidFill>
                  <a:srgbClr val="7F7F7F"/>
                </a:solidFill>
                <a:ea typeface="ＭＳ Ｐゴシック" charset="0"/>
              </a:rPr>
              <a:t>A system design issue: open-ended</a:t>
            </a:r>
          </a:p>
        </p:txBody>
      </p:sp>
      <p:grpSp>
        <p:nvGrpSpPr>
          <p:cNvPr id="55302" name="Group 4"/>
          <p:cNvGrpSpPr>
            <a:grpSpLocks/>
          </p:cNvGrpSpPr>
          <p:nvPr/>
        </p:nvGrpSpPr>
        <p:grpSpPr bwMode="auto">
          <a:xfrm>
            <a:off x="6188604" y="223839"/>
            <a:ext cx="2136775" cy="1295400"/>
            <a:chOff x="3264" y="3072"/>
            <a:chExt cx="1346" cy="816"/>
          </a:xfrm>
        </p:grpSpPr>
        <p:grpSp>
          <p:nvGrpSpPr>
            <p:cNvPr id="55303" name="Group 5"/>
            <p:cNvGrpSpPr>
              <a:grpSpLocks/>
            </p:cNvGrpSpPr>
            <p:nvPr/>
          </p:nvGrpSpPr>
          <p:grpSpPr bwMode="auto">
            <a:xfrm>
              <a:off x="3264" y="3552"/>
              <a:ext cx="1200" cy="336"/>
              <a:chOff x="2688" y="2352"/>
              <a:chExt cx="1200" cy="336"/>
            </a:xfrm>
          </p:grpSpPr>
          <p:sp>
            <p:nvSpPr>
              <p:cNvPr id="55305" name="Line 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5306" name="Line 7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5307" name="Line 8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5308" name="Line 9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5309" name="Line 10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5310" name="Line 11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5311" name="Line 1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5312" name="Line 13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aphicFrame>
          <p:nvGraphicFramePr>
            <p:cNvPr id="55304" name="Object 2"/>
            <p:cNvGraphicFramePr>
              <a:graphicFrameLocks noChangeAspect="1"/>
            </p:cNvGraphicFramePr>
            <p:nvPr/>
          </p:nvGraphicFramePr>
          <p:xfrm>
            <a:off x="3744" y="3072"/>
            <a:ext cx="8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52" name="Microsoft ClipArt Gallery" r:id="rId3" imgW="1371600" imgH="812800" progId="MS_ClipArt_Gallery">
                    <p:embed/>
                  </p:oleObj>
                </mc:Choice>
                <mc:Fallback>
                  <p:oleObj name="Microsoft ClipArt Gallery" r:id="rId3" imgW="1371600" imgH="812800" progId="MS_ClipArt_Gallery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866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134D722C-1115-404B-B093-1EC35C3374D1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20</a:t>
            </a:fld>
            <a:endParaRPr lang="en-US" sz="140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82"/>
            <a:ext cx="7772400" cy="688181"/>
          </a:xfrm>
        </p:spPr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How to Detect Deadlock ?</a:t>
            </a:r>
          </a:p>
        </p:txBody>
      </p:sp>
      <p:grpSp>
        <p:nvGrpSpPr>
          <p:cNvPr id="56325" name="Group 4"/>
          <p:cNvGrpSpPr>
            <a:grpSpLocks/>
          </p:cNvGrpSpPr>
          <p:nvPr/>
        </p:nvGrpSpPr>
        <p:grpSpPr bwMode="auto">
          <a:xfrm>
            <a:off x="6553200" y="152400"/>
            <a:ext cx="1984376" cy="952500"/>
            <a:chOff x="3264" y="3072"/>
            <a:chExt cx="1346" cy="816"/>
          </a:xfrm>
        </p:grpSpPr>
        <p:grpSp>
          <p:nvGrpSpPr>
            <p:cNvPr id="56327" name="Group 5"/>
            <p:cNvGrpSpPr>
              <a:grpSpLocks/>
            </p:cNvGrpSpPr>
            <p:nvPr/>
          </p:nvGrpSpPr>
          <p:grpSpPr bwMode="auto">
            <a:xfrm>
              <a:off x="3264" y="3552"/>
              <a:ext cx="1200" cy="336"/>
              <a:chOff x="2688" y="2352"/>
              <a:chExt cx="1200" cy="336"/>
            </a:xfrm>
          </p:grpSpPr>
          <p:sp>
            <p:nvSpPr>
              <p:cNvPr id="56329" name="Line 6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6330" name="Line 7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6331" name="Line 8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6332" name="Line 9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6333" name="Line 10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6334" name="Line 11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6335" name="Line 1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6336" name="Line 13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aphicFrame>
          <p:nvGraphicFramePr>
            <p:cNvPr id="56328" name="Object 2"/>
            <p:cNvGraphicFramePr>
              <a:graphicFrameLocks noChangeAspect="1"/>
            </p:cNvGraphicFramePr>
            <p:nvPr/>
          </p:nvGraphicFramePr>
          <p:xfrm>
            <a:off x="3744" y="3072"/>
            <a:ext cx="8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76" name="Microsoft ClipArt Gallery" r:id="rId3" imgW="1371600" imgH="812800" progId="MS_ClipArt_Gallery">
                    <p:embed/>
                  </p:oleObj>
                </mc:Choice>
                <mc:Fallback>
                  <p:oleObj name="Microsoft ClipArt Gallery" r:id="rId3" imgW="1371600" imgH="812800" progId="MS_ClipArt_Gallery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866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26" name="Text Box 16"/>
          <p:cNvSpPr txBox="1">
            <a:spLocks noChangeArrowheads="1"/>
          </p:cNvSpPr>
          <p:nvPr/>
        </p:nvSpPr>
        <p:spPr bwMode="auto">
          <a:xfrm>
            <a:off x="609600" y="1157684"/>
            <a:ext cx="7988300" cy="526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7F7F7F"/>
                </a:solidFill>
                <a:latin typeface="+mn-lt"/>
              </a:rPr>
              <a:t>Function </a:t>
            </a:r>
            <a:r>
              <a:rPr lang="en-US" b="1" i="1" dirty="0" err="1">
                <a:solidFill>
                  <a:srgbClr val="7F7F7F"/>
                </a:solidFill>
                <a:latin typeface="+mn-lt"/>
              </a:rPr>
              <a:t>detect_deadlock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(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Available,Allocation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, </a:t>
            </a:r>
            <a:r>
              <a:rPr lang="en-US" u="sng" dirty="0">
                <a:solidFill>
                  <a:srgbClr val="7F7F7F"/>
                </a:solidFill>
                <a:latin typeface="+mn-lt"/>
              </a:rPr>
              <a:t>Request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):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boolean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1. Work := Available;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For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:=1 to n do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:= false;</a:t>
            </a: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2.  While there is an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such that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= false 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			and Request[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≤ work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       Work 		:= Work + Allocation[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      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	:= true;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    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EndWhile</a:t>
            </a:r>
            <a:endParaRPr lang="en-US" dirty="0">
              <a:solidFill>
                <a:srgbClr val="7F7F7F"/>
              </a:solidFill>
              <a:latin typeface="+mn-lt"/>
            </a:endParaRPr>
          </a:p>
          <a:p>
            <a:endParaRPr lang="en-US" dirty="0">
              <a:solidFill>
                <a:srgbClr val="7F7F7F"/>
              </a:solidFill>
              <a:latin typeface="+mn-lt"/>
            </a:endParaRP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3.  If for all 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 Finish[</a:t>
            </a:r>
            <a:r>
              <a:rPr lang="en-US" dirty="0" err="1">
                <a:solidFill>
                  <a:srgbClr val="7F7F7F"/>
                </a:solidFill>
                <a:latin typeface="+mn-lt"/>
              </a:rPr>
              <a:t>i</a:t>
            </a:r>
            <a:r>
              <a:rPr lang="en-US" dirty="0">
                <a:solidFill>
                  <a:srgbClr val="7F7F7F"/>
                </a:solidFill>
                <a:latin typeface="+mn-lt"/>
              </a:rPr>
              <a:t>] = true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then return(false); -- There is no deadlock (now)</a:t>
            </a:r>
          </a:p>
          <a:p>
            <a:r>
              <a:rPr lang="en-US" dirty="0">
                <a:solidFill>
                  <a:srgbClr val="7F7F7F"/>
                </a:solidFill>
                <a:latin typeface="+mn-lt"/>
              </a:rPr>
              <a:t>	else return(true);   -- there is a deadlock.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FBBCDA0-6479-5C4C-AE64-8969CA30F583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21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5035"/>
            <a:ext cx="7772400" cy="571500"/>
          </a:xfrm>
        </p:spPr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How to Detect Deadlock ?</a:t>
            </a:r>
          </a:p>
        </p:txBody>
      </p:sp>
      <p:grpSp>
        <p:nvGrpSpPr>
          <p:cNvPr id="57349" name="Group 3"/>
          <p:cNvGrpSpPr>
            <a:grpSpLocks/>
          </p:cNvGrpSpPr>
          <p:nvPr/>
        </p:nvGrpSpPr>
        <p:grpSpPr bwMode="auto">
          <a:xfrm>
            <a:off x="6263517" y="88900"/>
            <a:ext cx="1905000" cy="1054100"/>
            <a:chOff x="3264" y="3072"/>
            <a:chExt cx="1346" cy="816"/>
          </a:xfrm>
        </p:grpSpPr>
        <p:grpSp>
          <p:nvGrpSpPr>
            <p:cNvPr id="57405" name="Group 4"/>
            <p:cNvGrpSpPr>
              <a:grpSpLocks/>
            </p:cNvGrpSpPr>
            <p:nvPr/>
          </p:nvGrpSpPr>
          <p:grpSpPr bwMode="auto">
            <a:xfrm>
              <a:off x="3264" y="3552"/>
              <a:ext cx="1200" cy="336"/>
              <a:chOff x="2688" y="2352"/>
              <a:chExt cx="1200" cy="336"/>
            </a:xfrm>
          </p:grpSpPr>
          <p:sp>
            <p:nvSpPr>
              <p:cNvPr id="57407" name="Line 5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08" name="Line 6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09" name="Line 7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10" name="Line 8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11" name="Line 9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12" name="Line 10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13" name="Line 11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14" name="Line 12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aphicFrame>
          <p:nvGraphicFramePr>
            <p:cNvPr id="57406" name="Object 2"/>
            <p:cNvGraphicFramePr>
              <a:graphicFrameLocks noChangeAspect="1"/>
            </p:cNvGraphicFramePr>
            <p:nvPr/>
          </p:nvGraphicFramePr>
          <p:xfrm>
            <a:off x="3744" y="3072"/>
            <a:ext cx="8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0" name="Microsoft ClipArt Gallery" r:id="rId3" imgW="1371600" imgH="812800" progId="MS_ClipArt_Gallery">
                    <p:embed/>
                  </p:oleObj>
                </mc:Choice>
                <mc:Fallback>
                  <p:oleObj name="Microsoft ClipArt Gallery" r:id="rId3" imgW="1371600" imgH="812800" progId="MS_ClipArt_Gallery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866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50" name="Text Box 14"/>
          <p:cNvSpPr txBox="1">
            <a:spLocks noChangeArrowheads="1"/>
          </p:cNvSpPr>
          <p:nvPr/>
        </p:nvSpPr>
        <p:spPr bwMode="auto">
          <a:xfrm>
            <a:off x="609600" y="1143000"/>
            <a:ext cx="7988300" cy="1200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7F7F7F"/>
                </a:solidFill>
                <a:latin typeface="+mn-lt"/>
              </a:rPr>
              <a:t>For the case when each resource type has only one instance. A deadlock exists if and only if there is a cycle in the wait-for graph.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85800" y="2438403"/>
            <a:ext cx="3983686" cy="3646580"/>
            <a:chOff x="685800" y="2438403"/>
            <a:chExt cx="3983686" cy="3646580"/>
          </a:xfrm>
        </p:grpSpPr>
        <p:sp>
          <p:nvSpPr>
            <p:cNvPr id="57351" name="Rectangle 15"/>
            <p:cNvSpPr>
              <a:spLocks noChangeArrowheads="1"/>
            </p:cNvSpPr>
            <p:nvPr/>
          </p:nvSpPr>
          <p:spPr bwMode="auto">
            <a:xfrm>
              <a:off x="749300" y="3086100"/>
              <a:ext cx="640292" cy="453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en-US" dirty="0">
                  <a:solidFill>
                    <a:srgbClr val="7F7F7F"/>
                  </a:solidFill>
                </a:rPr>
                <a:t>R1</a:t>
              </a:r>
            </a:p>
          </p:txBody>
        </p:sp>
        <p:sp>
          <p:nvSpPr>
            <p:cNvPr id="57352" name="Rectangle 17"/>
            <p:cNvSpPr>
              <a:spLocks noChangeArrowheads="1"/>
            </p:cNvSpPr>
            <p:nvPr/>
          </p:nvSpPr>
          <p:spPr bwMode="auto">
            <a:xfrm>
              <a:off x="2157942" y="3086100"/>
              <a:ext cx="638175" cy="4536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R3</a:t>
              </a:r>
            </a:p>
          </p:txBody>
        </p:sp>
        <p:sp>
          <p:nvSpPr>
            <p:cNvPr id="57353" name="Rectangle 18"/>
            <p:cNvSpPr>
              <a:spLocks noChangeArrowheads="1"/>
            </p:cNvSpPr>
            <p:nvPr/>
          </p:nvSpPr>
          <p:spPr bwMode="auto">
            <a:xfrm>
              <a:off x="3564467" y="3086100"/>
              <a:ext cx="639233" cy="453629"/>
            </a:xfrm>
            <a:prstGeom prst="rect">
              <a:avLst/>
            </a:prstGeom>
            <a:noFill/>
            <a:ln w="38100" cmpd="dbl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R4</a:t>
              </a:r>
            </a:p>
          </p:txBody>
        </p:sp>
        <p:sp>
          <p:nvSpPr>
            <p:cNvPr id="57354" name="Rectangle 19"/>
            <p:cNvSpPr>
              <a:spLocks noChangeArrowheads="1"/>
            </p:cNvSpPr>
            <p:nvPr/>
          </p:nvSpPr>
          <p:spPr bwMode="auto">
            <a:xfrm>
              <a:off x="749300" y="4997054"/>
              <a:ext cx="640292" cy="4548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R2</a:t>
              </a:r>
            </a:p>
          </p:txBody>
        </p:sp>
        <p:sp>
          <p:nvSpPr>
            <p:cNvPr id="57355" name="Rectangle 20"/>
            <p:cNvSpPr>
              <a:spLocks noChangeArrowheads="1"/>
            </p:cNvSpPr>
            <p:nvPr/>
          </p:nvSpPr>
          <p:spPr bwMode="auto">
            <a:xfrm>
              <a:off x="3564467" y="4997054"/>
              <a:ext cx="639233" cy="4548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en-US">
                  <a:solidFill>
                    <a:srgbClr val="7F7F7F"/>
                  </a:solidFill>
                </a:rPr>
                <a:t>R5</a:t>
              </a:r>
            </a:p>
          </p:txBody>
        </p:sp>
        <p:grpSp>
          <p:nvGrpSpPr>
            <p:cNvPr id="57356" name="Group 24"/>
            <p:cNvGrpSpPr>
              <a:grpSpLocks/>
            </p:cNvGrpSpPr>
            <p:nvPr/>
          </p:nvGrpSpPr>
          <p:grpSpPr bwMode="auto">
            <a:xfrm>
              <a:off x="2157942" y="4997057"/>
              <a:ext cx="638175" cy="527883"/>
              <a:chOff x="1536" y="3120"/>
              <a:chExt cx="480" cy="391"/>
            </a:xfrm>
          </p:grpSpPr>
          <p:sp>
            <p:nvSpPr>
              <p:cNvPr id="57403" name="Oval 21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04" name="Text Box 22"/>
              <p:cNvSpPr txBox="1">
                <a:spLocks noChangeArrowheads="1"/>
              </p:cNvSpPr>
              <p:nvPr/>
            </p:nvSpPr>
            <p:spPr bwMode="auto">
              <a:xfrm>
                <a:off x="1632" y="3169"/>
                <a:ext cx="38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P4</a:t>
                </a:r>
              </a:p>
            </p:txBody>
          </p:sp>
        </p:grpSp>
        <p:grpSp>
          <p:nvGrpSpPr>
            <p:cNvPr id="57357" name="Group 25"/>
            <p:cNvGrpSpPr>
              <a:grpSpLocks/>
            </p:cNvGrpSpPr>
            <p:nvPr/>
          </p:nvGrpSpPr>
          <p:grpSpPr bwMode="auto">
            <a:xfrm>
              <a:off x="685800" y="4057653"/>
              <a:ext cx="640292" cy="526534"/>
              <a:chOff x="1536" y="3120"/>
              <a:chExt cx="480" cy="390"/>
            </a:xfrm>
          </p:grpSpPr>
          <p:sp>
            <p:nvSpPr>
              <p:cNvPr id="57401" name="Oval 26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02" name="Text Box 27"/>
              <p:cNvSpPr txBox="1">
                <a:spLocks noChangeArrowheads="1"/>
              </p:cNvSpPr>
              <p:nvPr/>
            </p:nvSpPr>
            <p:spPr bwMode="auto">
              <a:xfrm>
                <a:off x="1633" y="3168"/>
                <a:ext cx="382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P1</a:t>
                </a:r>
              </a:p>
            </p:txBody>
          </p:sp>
        </p:grpSp>
        <p:grpSp>
          <p:nvGrpSpPr>
            <p:cNvPr id="57358" name="Group 28"/>
            <p:cNvGrpSpPr>
              <a:grpSpLocks/>
            </p:cNvGrpSpPr>
            <p:nvPr/>
          </p:nvGrpSpPr>
          <p:grpSpPr bwMode="auto">
            <a:xfrm>
              <a:off x="2157942" y="4057653"/>
              <a:ext cx="638175" cy="526534"/>
              <a:chOff x="1536" y="3120"/>
              <a:chExt cx="480" cy="390"/>
            </a:xfrm>
          </p:grpSpPr>
          <p:sp>
            <p:nvSpPr>
              <p:cNvPr id="57399" name="Oval 29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400" name="Text Box 30"/>
              <p:cNvSpPr txBox="1">
                <a:spLocks noChangeArrowheads="1"/>
              </p:cNvSpPr>
              <p:nvPr/>
            </p:nvSpPr>
            <p:spPr bwMode="auto">
              <a:xfrm>
                <a:off x="1632" y="3168"/>
                <a:ext cx="38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P2</a:t>
                </a:r>
              </a:p>
            </p:txBody>
          </p:sp>
        </p:grpSp>
        <p:grpSp>
          <p:nvGrpSpPr>
            <p:cNvPr id="57359" name="Group 31"/>
            <p:cNvGrpSpPr>
              <a:grpSpLocks/>
            </p:cNvGrpSpPr>
            <p:nvPr/>
          </p:nvGrpSpPr>
          <p:grpSpPr bwMode="auto">
            <a:xfrm>
              <a:off x="3627967" y="4057653"/>
              <a:ext cx="639233" cy="526534"/>
              <a:chOff x="1536" y="3120"/>
              <a:chExt cx="480" cy="390"/>
            </a:xfrm>
          </p:grpSpPr>
          <p:sp>
            <p:nvSpPr>
              <p:cNvPr id="57397" name="Oval 32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398" name="Text Box 33"/>
              <p:cNvSpPr txBox="1">
                <a:spLocks noChangeArrowheads="1"/>
              </p:cNvSpPr>
              <p:nvPr/>
            </p:nvSpPr>
            <p:spPr bwMode="auto">
              <a:xfrm>
                <a:off x="1632" y="3168"/>
                <a:ext cx="38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P3</a:t>
                </a:r>
              </a:p>
            </p:txBody>
          </p:sp>
        </p:grpSp>
        <p:grpSp>
          <p:nvGrpSpPr>
            <p:cNvPr id="57360" name="Group 34"/>
            <p:cNvGrpSpPr>
              <a:grpSpLocks/>
            </p:cNvGrpSpPr>
            <p:nvPr/>
          </p:nvGrpSpPr>
          <p:grpSpPr bwMode="auto">
            <a:xfrm>
              <a:off x="2924176" y="2438403"/>
              <a:ext cx="640291" cy="526534"/>
              <a:chOff x="1536" y="3120"/>
              <a:chExt cx="480" cy="390"/>
            </a:xfrm>
          </p:grpSpPr>
          <p:sp>
            <p:nvSpPr>
              <p:cNvPr id="57395" name="Oval 35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396" name="Text Box 36"/>
              <p:cNvSpPr txBox="1">
                <a:spLocks noChangeArrowheads="1"/>
              </p:cNvSpPr>
              <p:nvPr/>
            </p:nvSpPr>
            <p:spPr bwMode="auto">
              <a:xfrm>
                <a:off x="1633" y="3168"/>
                <a:ext cx="382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P5</a:t>
                </a:r>
              </a:p>
            </p:txBody>
          </p:sp>
        </p:grpSp>
        <p:sp>
          <p:nvSpPr>
            <p:cNvPr id="57361" name="Line 39"/>
            <p:cNvSpPr>
              <a:spLocks noChangeShapeType="1"/>
            </p:cNvSpPr>
            <p:nvPr/>
          </p:nvSpPr>
          <p:spPr bwMode="auto">
            <a:xfrm flipV="1">
              <a:off x="2476500" y="3539728"/>
              <a:ext cx="0" cy="51792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2" name="Line 40"/>
            <p:cNvSpPr>
              <a:spLocks noChangeShapeType="1"/>
            </p:cNvSpPr>
            <p:nvPr/>
          </p:nvSpPr>
          <p:spPr bwMode="auto">
            <a:xfrm>
              <a:off x="2476500" y="4511279"/>
              <a:ext cx="1087967" cy="6477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3" name="Line 41"/>
            <p:cNvSpPr>
              <a:spLocks noChangeShapeType="1"/>
            </p:cNvSpPr>
            <p:nvPr/>
          </p:nvSpPr>
          <p:spPr bwMode="auto">
            <a:xfrm>
              <a:off x="3948642" y="4511279"/>
              <a:ext cx="0" cy="45481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4" name="Line 42"/>
            <p:cNvSpPr>
              <a:spLocks noChangeShapeType="1"/>
            </p:cNvSpPr>
            <p:nvPr/>
          </p:nvSpPr>
          <p:spPr bwMode="auto">
            <a:xfrm flipH="1">
              <a:off x="1453092" y="5224463"/>
              <a:ext cx="704850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5" name="Line 43"/>
            <p:cNvSpPr>
              <a:spLocks noChangeShapeType="1"/>
            </p:cNvSpPr>
            <p:nvPr/>
          </p:nvSpPr>
          <p:spPr bwMode="auto">
            <a:xfrm>
              <a:off x="1005417" y="3539728"/>
              <a:ext cx="0" cy="51792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6" name="Line 44"/>
            <p:cNvSpPr>
              <a:spLocks noChangeShapeType="1"/>
            </p:cNvSpPr>
            <p:nvPr/>
          </p:nvSpPr>
          <p:spPr bwMode="auto">
            <a:xfrm flipV="1">
              <a:off x="2732617" y="3605213"/>
              <a:ext cx="958850" cy="51792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7" name="Line 45"/>
            <p:cNvSpPr>
              <a:spLocks noChangeShapeType="1"/>
            </p:cNvSpPr>
            <p:nvPr/>
          </p:nvSpPr>
          <p:spPr bwMode="auto">
            <a:xfrm flipV="1">
              <a:off x="1005417" y="4511279"/>
              <a:ext cx="0" cy="454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8" name="Line 46"/>
            <p:cNvSpPr>
              <a:spLocks noChangeShapeType="1"/>
            </p:cNvSpPr>
            <p:nvPr/>
          </p:nvSpPr>
          <p:spPr bwMode="auto">
            <a:xfrm flipH="1">
              <a:off x="2796117" y="5224463"/>
              <a:ext cx="7683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69" name="Line 47"/>
            <p:cNvSpPr>
              <a:spLocks noChangeShapeType="1"/>
            </p:cNvSpPr>
            <p:nvPr/>
          </p:nvSpPr>
          <p:spPr bwMode="auto">
            <a:xfrm>
              <a:off x="3948642" y="3539729"/>
              <a:ext cx="0" cy="454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70" name="Line 48"/>
            <p:cNvSpPr>
              <a:spLocks noChangeShapeType="1"/>
            </p:cNvSpPr>
            <p:nvPr/>
          </p:nvSpPr>
          <p:spPr bwMode="auto">
            <a:xfrm flipV="1">
              <a:off x="2476501" y="2827735"/>
              <a:ext cx="384175" cy="258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71" name="Line 49"/>
            <p:cNvSpPr>
              <a:spLocks noChangeShapeType="1"/>
            </p:cNvSpPr>
            <p:nvPr/>
          </p:nvSpPr>
          <p:spPr bwMode="auto">
            <a:xfrm>
              <a:off x="1453092" y="3539729"/>
              <a:ext cx="704850" cy="583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83" name="Text Box 74"/>
            <p:cNvSpPr txBox="1">
              <a:spLocks noChangeArrowheads="1"/>
            </p:cNvSpPr>
            <p:nvPr/>
          </p:nvSpPr>
          <p:spPr bwMode="auto">
            <a:xfrm>
              <a:off x="746126" y="5623322"/>
              <a:ext cx="3923360" cy="46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r>
                <a:rPr lang="en-US" b="1" dirty="0">
                  <a:solidFill>
                    <a:srgbClr val="3366FF"/>
                  </a:solidFill>
                  <a:latin typeface="+mn-lt"/>
                </a:rPr>
                <a:t>Resource-allocation graph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029200" y="3124203"/>
            <a:ext cx="2773892" cy="2976258"/>
            <a:chOff x="5029200" y="3124203"/>
            <a:chExt cx="2773892" cy="2976258"/>
          </a:xfrm>
        </p:grpSpPr>
        <p:grpSp>
          <p:nvGrpSpPr>
            <p:cNvPr id="57372" name="Group 51"/>
            <p:cNvGrpSpPr>
              <a:grpSpLocks/>
            </p:cNvGrpSpPr>
            <p:nvPr/>
          </p:nvGrpSpPr>
          <p:grpSpPr bwMode="auto">
            <a:xfrm>
              <a:off x="6096000" y="4876802"/>
              <a:ext cx="638175" cy="527884"/>
              <a:chOff x="1536" y="3120"/>
              <a:chExt cx="480" cy="391"/>
            </a:xfrm>
          </p:grpSpPr>
          <p:sp>
            <p:nvSpPr>
              <p:cNvPr id="57393" name="Oval 52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394" name="Text Box 53"/>
              <p:cNvSpPr txBox="1">
                <a:spLocks noChangeArrowheads="1"/>
              </p:cNvSpPr>
              <p:nvPr/>
            </p:nvSpPr>
            <p:spPr bwMode="auto">
              <a:xfrm>
                <a:off x="1632" y="3169"/>
                <a:ext cx="38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P4</a:t>
                </a:r>
              </a:p>
            </p:txBody>
          </p:sp>
        </p:grpSp>
        <p:grpSp>
          <p:nvGrpSpPr>
            <p:cNvPr id="57373" name="Group 54"/>
            <p:cNvGrpSpPr>
              <a:grpSpLocks/>
            </p:cNvGrpSpPr>
            <p:nvPr/>
          </p:nvGrpSpPr>
          <p:grpSpPr bwMode="auto">
            <a:xfrm>
              <a:off x="5029200" y="4114803"/>
              <a:ext cx="640292" cy="526534"/>
              <a:chOff x="1536" y="3120"/>
              <a:chExt cx="480" cy="390"/>
            </a:xfrm>
          </p:grpSpPr>
          <p:sp>
            <p:nvSpPr>
              <p:cNvPr id="57391" name="Oval 55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392" name="Text Box 56"/>
              <p:cNvSpPr txBox="1">
                <a:spLocks noChangeArrowheads="1"/>
              </p:cNvSpPr>
              <p:nvPr/>
            </p:nvSpPr>
            <p:spPr bwMode="auto">
              <a:xfrm>
                <a:off x="1633" y="3168"/>
                <a:ext cx="382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P1</a:t>
                </a:r>
              </a:p>
            </p:txBody>
          </p:sp>
        </p:grpSp>
        <p:grpSp>
          <p:nvGrpSpPr>
            <p:cNvPr id="57374" name="Group 57"/>
            <p:cNvGrpSpPr>
              <a:grpSpLocks/>
            </p:cNvGrpSpPr>
            <p:nvPr/>
          </p:nvGrpSpPr>
          <p:grpSpPr bwMode="auto">
            <a:xfrm>
              <a:off x="6096000" y="4114803"/>
              <a:ext cx="638175" cy="526534"/>
              <a:chOff x="1536" y="3120"/>
              <a:chExt cx="480" cy="390"/>
            </a:xfrm>
          </p:grpSpPr>
          <p:sp>
            <p:nvSpPr>
              <p:cNvPr id="57389" name="Oval 58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390" name="Text Box 59"/>
              <p:cNvSpPr txBox="1">
                <a:spLocks noChangeArrowheads="1"/>
              </p:cNvSpPr>
              <p:nvPr/>
            </p:nvSpPr>
            <p:spPr bwMode="auto">
              <a:xfrm>
                <a:off x="1632" y="3168"/>
                <a:ext cx="38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P2</a:t>
                </a:r>
              </a:p>
            </p:txBody>
          </p:sp>
        </p:grpSp>
        <p:grpSp>
          <p:nvGrpSpPr>
            <p:cNvPr id="57375" name="Group 60"/>
            <p:cNvGrpSpPr>
              <a:grpSpLocks/>
            </p:cNvGrpSpPr>
            <p:nvPr/>
          </p:nvGrpSpPr>
          <p:grpSpPr bwMode="auto">
            <a:xfrm>
              <a:off x="7162800" y="4114803"/>
              <a:ext cx="640292" cy="526534"/>
              <a:chOff x="1536" y="3120"/>
              <a:chExt cx="480" cy="390"/>
            </a:xfrm>
          </p:grpSpPr>
          <p:sp>
            <p:nvSpPr>
              <p:cNvPr id="57387" name="Oval 61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388" name="Text Box 62"/>
              <p:cNvSpPr txBox="1">
                <a:spLocks noChangeArrowheads="1"/>
              </p:cNvSpPr>
              <p:nvPr/>
            </p:nvSpPr>
            <p:spPr bwMode="auto">
              <a:xfrm>
                <a:off x="1632" y="3168"/>
                <a:ext cx="382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P3</a:t>
                </a:r>
              </a:p>
            </p:txBody>
          </p:sp>
        </p:grpSp>
        <p:grpSp>
          <p:nvGrpSpPr>
            <p:cNvPr id="57376" name="Group 63"/>
            <p:cNvGrpSpPr>
              <a:grpSpLocks/>
            </p:cNvGrpSpPr>
            <p:nvPr/>
          </p:nvGrpSpPr>
          <p:grpSpPr bwMode="auto">
            <a:xfrm>
              <a:off x="6096000" y="3124203"/>
              <a:ext cx="640292" cy="526534"/>
              <a:chOff x="1536" y="3120"/>
              <a:chExt cx="480" cy="390"/>
            </a:xfrm>
          </p:grpSpPr>
          <p:sp>
            <p:nvSpPr>
              <p:cNvPr id="57385" name="Oval 64"/>
              <p:cNvSpPr>
                <a:spLocks noChangeArrowheads="1"/>
              </p:cNvSpPr>
              <p:nvPr/>
            </p:nvSpPr>
            <p:spPr bwMode="auto">
              <a:xfrm>
                <a:off x="1536" y="3120"/>
                <a:ext cx="480" cy="3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7386" name="Text Box 65"/>
              <p:cNvSpPr txBox="1">
                <a:spLocks noChangeArrowheads="1"/>
              </p:cNvSpPr>
              <p:nvPr/>
            </p:nvSpPr>
            <p:spPr bwMode="auto">
              <a:xfrm>
                <a:off x="1632" y="3168"/>
                <a:ext cx="382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solidFill>
                      <a:srgbClr val="7F7F7F"/>
                    </a:solidFill>
                    <a:latin typeface="+mn-lt"/>
                  </a:rPr>
                  <a:t>P5</a:t>
                </a:r>
              </a:p>
            </p:txBody>
          </p:sp>
        </p:grpSp>
        <p:sp>
          <p:nvSpPr>
            <p:cNvPr id="57377" name="Line 67"/>
            <p:cNvSpPr>
              <a:spLocks noChangeShapeType="1"/>
            </p:cNvSpPr>
            <p:nvPr/>
          </p:nvSpPr>
          <p:spPr bwMode="auto">
            <a:xfrm>
              <a:off x="5638800" y="43434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78" name="Line 68"/>
            <p:cNvSpPr>
              <a:spLocks noChangeShapeType="1"/>
            </p:cNvSpPr>
            <p:nvPr/>
          </p:nvSpPr>
          <p:spPr bwMode="auto">
            <a:xfrm>
              <a:off x="6781800" y="4343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79" name="Line 69"/>
            <p:cNvSpPr>
              <a:spLocks noChangeShapeType="1"/>
            </p:cNvSpPr>
            <p:nvPr/>
          </p:nvSpPr>
          <p:spPr bwMode="auto">
            <a:xfrm flipH="1">
              <a:off x="6781800" y="4572000"/>
              <a:ext cx="609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80" name="Line 71"/>
            <p:cNvSpPr>
              <a:spLocks noChangeShapeType="1"/>
            </p:cNvSpPr>
            <p:nvPr/>
          </p:nvSpPr>
          <p:spPr bwMode="auto">
            <a:xfrm>
              <a:off x="6400800" y="45720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81" name="Line 72"/>
            <p:cNvSpPr>
              <a:spLocks noChangeShapeType="1"/>
            </p:cNvSpPr>
            <p:nvPr/>
          </p:nvSpPr>
          <p:spPr bwMode="auto">
            <a:xfrm flipH="1" flipV="1">
              <a:off x="5486400" y="4572000"/>
              <a:ext cx="609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82" name="Line 73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>
                <a:solidFill>
                  <a:srgbClr val="7F7F7F"/>
                </a:solidFill>
              </a:endParaRPr>
            </a:p>
          </p:txBody>
        </p:sp>
        <p:sp>
          <p:nvSpPr>
            <p:cNvPr id="57384" name="Text Box 75"/>
            <p:cNvSpPr txBox="1">
              <a:spLocks noChangeArrowheads="1"/>
            </p:cNvSpPr>
            <p:nvPr/>
          </p:nvSpPr>
          <p:spPr bwMode="auto">
            <a:xfrm>
              <a:off x="5334000" y="5638800"/>
              <a:ext cx="2319706" cy="46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charset="0"/>
                  <a:ea typeface="ＭＳ Ｐゴシック" charset="0"/>
                </a:defRPr>
              </a:lvl9pPr>
            </a:lstStyle>
            <a:p>
              <a:r>
                <a:rPr lang="en-US" b="1" dirty="0">
                  <a:solidFill>
                    <a:srgbClr val="3366FF"/>
                  </a:solidFill>
                  <a:latin typeface="+mn-lt"/>
                </a:rPr>
                <a:t>Wait-for graph</a:t>
              </a:r>
            </a:p>
          </p:txBody>
        </p:sp>
      </p:grpSp>
      <p:sp>
        <p:nvSpPr>
          <p:cNvPr id="4" name="Freeform 3"/>
          <p:cNvSpPr/>
          <p:nvPr/>
        </p:nvSpPr>
        <p:spPr>
          <a:xfrm>
            <a:off x="5477464" y="4279900"/>
            <a:ext cx="1190851" cy="894073"/>
          </a:xfrm>
          <a:custGeom>
            <a:avLst/>
            <a:gdLst>
              <a:gd name="connsiteX0" fmla="*/ 1012236 w 1190851"/>
              <a:gd name="connsiteY0" fmla="*/ 0 h 894073"/>
              <a:gd name="connsiteX1" fmla="*/ 1190036 w 1190851"/>
              <a:gd name="connsiteY1" fmla="*/ 317500 h 894073"/>
              <a:gd name="connsiteX2" fmla="*/ 948736 w 1190851"/>
              <a:gd name="connsiteY2" fmla="*/ 889000 h 894073"/>
              <a:gd name="connsiteX3" fmla="*/ 148636 w 1190851"/>
              <a:gd name="connsiteY3" fmla="*/ 571500 h 894073"/>
              <a:gd name="connsiteX4" fmla="*/ 34336 w 1190851"/>
              <a:gd name="connsiteY4" fmla="*/ 127000 h 894073"/>
              <a:gd name="connsiteX5" fmla="*/ 555036 w 1190851"/>
              <a:gd name="connsiteY5" fmla="*/ 0 h 89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0851" h="894073">
                <a:moveTo>
                  <a:pt x="1012236" y="0"/>
                </a:moveTo>
                <a:cubicBezTo>
                  <a:pt x="1106427" y="84666"/>
                  <a:pt x="1200619" y="169333"/>
                  <a:pt x="1190036" y="317500"/>
                </a:cubicBezTo>
                <a:cubicBezTo>
                  <a:pt x="1179453" y="465667"/>
                  <a:pt x="1122303" y="846667"/>
                  <a:pt x="948736" y="889000"/>
                </a:cubicBezTo>
                <a:cubicBezTo>
                  <a:pt x="775169" y="931333"/>
                  <a:pt x="301036" y="698500"/>
                  <a:pt x="148636" y="571500"/>
                </a:cubicBezTo>
                <a:cubicBezTo>
                  <a:pt x="-3764" y="444500"/>
                  <a:pt x="-33397" y="222250"/>
                  <a:pt x="34336" y="127000"/>
                </a:cubicBezTo>
                <a:cubicBezTo>
                  <a:pt x="102069" y="31750"/>
                  <a:pt x="555036" y="0"/>
                  <a:pt x="555036" y="0"/>
                </a:cubicBezTo>
              </a:path>
            </a:pathLst>
          </a:custGeom>
          <a:ln w="28575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520065" indent="-200025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80010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12014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1440180" indent="-160020"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176022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08026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240030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2720340" indent="-16002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fld id="{032C29B9-87CB-CD49-853B-BEB44C128B7F}" type="slidenum">
              <a:rPr lang="en-US" sz="1400">
                <a:solidFill>
                  <a:srgbClr val="7F7F7F"/>
                </a:solidFill>
                <a:latin typeface="+mn-lt"/>
              </a:rPr>
              <a:pPr algn="r"/>
              <a:t>22</a:t>
            </a:fld>
            <a:endParaRPr lang="en-US" sz="14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233362"/>
            <a:ext cx="7772400" cy="571500"/>
          </a:xfrm>
        </p:spPr>
        <p:txBody>
          <a:bodyPr lIns="64008" tIns="32004" rIns="64008" bIns="32004"/>
          <a:lstStyle/>
          <a:p>
            <a:r>
              <a:rPr lang="en-US">
                <a:solidFill>
                  <a:srgbClr val="7F7F7F"/>
                </a:solidFill>
                <a:latin typeface="+mn-lt"/>
                <a:ea typeface="ＭＳ Ｐゴシック" charset="0"/>
                <a:cs typeface="ＭＳ Ｐゴシック" charset="0"/>
              </a:rPr>
              <a:t>How to Recover from Deadlock ?</a:t>
            </a:r>
          </a:p>
        </p:txBody>
      </p:sp>
      <p:grpSp>
        <p:nvGrpSpPr>
          <p:cNvPr id="58373" name="Group 3"/>
          <p:cNvGrpSpPr>
            <a:grpSpLocks/>
          </p:cNvGrpSpPr>
          <p:nvPr/>
        </p:nvGrpSpPr>
        <p:grpSpPr bwMode="auto">
          <a:xfrm>
            <a:off x="6400801" y="42862"/>
            <a:ext cx="2136775" cy="1295400"/>
            <a:chOff x="3264" y="3072"/>
            <a:chExt cx="1346" cy="816"/>
          </a:xfrm>
        </p:grpSpPr>
        <p:grpSp>
          <p:nvGrpSpPr>
            <p:cNvPr id="58375" name="Group 4"/>
            <p:cNvGrpSpPr>
              <a:grpSpLocks/>
            </p:cNvGrpSpPr>
            <p:nvPr/>
          </p:nvGrpSpPr>
          <p:grpSpPr bwMode="auto">
            <a:xfrm>
              <a:off x="3264" y="3552"/>
              <a:ext cx="1200" cy="336"/>
              <a:chOff x="2688" y="2352"/>
              <a:chExt cx="1200" cy="336"/>
            </a:xfrm>
          </p:grpSpPr>
          <p:sp>
            <p:nvSpPr>
              <p:cNvPr id="58377" name="Line 5"/>
              <p:cNvSpPr>
                <a:spLocks noChangeShapeType="1"/>
              </p:cNvSpPr>
              <p:nvPr/>
            </p:nvSpPr>
            <p:spPr bwMode="auto">
              <a:xfrm>
                <a:off x="2832" y="240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8378" name="Line 6"/>
              <p:cNvSpPr>
                <a:spLocks noChangeShapeType="1"/>
              </p:cNvSpPr>
              <p:nvPr/>
            </p:nvSpPr>
            <p:spPr bwMode="auto">
              <a:xfrm>
                <a:off x="3024" y="235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8379" name="Line 7"/>
              <p:cNvSpPr>
                <a:spLocks noChangeShapeType="1"/>
              </p:cNvSpPr>
              <p:nvPr/>
            </p:nvSpPr>
            <p:spPr bwMode="auto">
              <a:xfrm>
                <a:off x="3456" y="254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8380" name="Line 8"/>
              <p:cNvSpPr>
                <a:spLocks noChangeShapeType="1"/>
              </p:cNvSpPr>
              <p:nvPr/>
            </p:nvSpPr>
            <p:spPr bwMode="auto">
              <a:xfrm>
                <a:off x="3216" y="2592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8381" name="Line 9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8382" name="Line 10"/>
              <p:cNvSpPr>
                <a:spLocks noChangeShapeType="1"/>
              </p:cNvSpPr>
              <p:nvPr/>
            </p:nvSpPr>
            <p:spPr bwMode="auto">
              <a:xfrm>
                <a:off x="3504" y="254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8383" name="Line 11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  <p:sp>
            <p:nvSpPr>
              <p:cNvPr id="58384" name="Line 12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7F7F7F"/>
                  </a:solidFill>
                </a:endParaRPr>
              </a:p>
            </p:txBody>
          </p:sp>
        </p:grpSp>
        <p:graphicFrame>
          <p:nvGraphicFramePr>
            <p:cNvPr id="58376" name="Object 2"/>
            <p:cNvGraphicFramePr>
              <a:graphicFrameLocks noChangeAspect="1"/>
            </p:cNvGraphicFramePr>
            <p:nvPr/>
          </p:nvGraphicFramePr>
          <p:xfrm>
            <a:off x="3744" y="3072"/>
            <a:ext cx="866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24" name="Microsoft ClipArt Gallery" r:id="rId3" imgW="1371600" imgH="812800" progId="MS_ClipArt_Gallery">
                    <p:embed/>
                  </p:oleObj>
                </mc:Choice>
                <mc:Fallback>
                  <p:oleObj name="Microsoft ClipArt Gallery" r:id="rId3" imgW="1371600" imgH="812800" progId="MS_ClipArt_Gallery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072"/>
                          <a:ext cx="866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74" name="Rectangle 69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114800"/>
          </a:xfrm>
          <a:noFill/>
        </p:spPr>
        <p:txBody>
          <a:bodyPr lIns="64008" tIns="32004" rIns="64008" bIns="32004"/>
          <a:lstStyle/>
          <a:p>
            <a:r>
              <a:rPr lang="en-US" sz="22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Process termination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Abort some of processes involved in the deadlock</a:t>
            </a:r>
          </a:p>
          <a:p>
            <a:r>
              <a:rPr lang="en-US" sz="22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Resource preemption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Take back resources from processes</a:t>
            </a:r>
          </a:p>
          <a:p>
            <a:r>
              <a:rPr lang="en-US" sz="2200" b="1" dirty="0">
                <a:solidFill>
                  <a:srgbClr val="7F7F7F"/>
                </a:solidFill>
                <a:ea typeface="ＭＳ Ｐゴシック" charset="0"/>
                <a:cs typeface="ＭＳ Ｐゴシック" charset="0"/>
              </a:rPr>
              <a:t>Two implementation issues :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How to select a victim</a:t>
            </a:r>
          </a:p>
          <a:p>
            <a:pPr lvl="1"/>
            <a:r>
              <a:rPr lang="en-US" sz="2000" dirty="0">
                <a:solidFill>
                  <a:srgbClr val="7F7F7F"/>
                </a:solidFill>
                <a:ea typeface="ＭＳ Ｐゴシック" charset="0"/>
              </a:rPr>
              <a:t>Rollback/restore the process/resource previous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4" grpId="0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  <a:latin typeface="+mn-lt"/>
              </a:rPr>
              <a:t>Wrap Up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457200" y="1092200"/>
            <a:ext cx="8229600" cy="4114800"/>
          </a:xfrm>
        </p:spPr>
        <p:txBody>
          <a:bodyPr/>
          <a:lstStyle/>
          <a:p>
            <a:r>
              <a:rPr lang="en-US" dirty="0"/>
              <a:t>Learn and understand </a:t>
            </a:r>
            <a:r>
              <a:rPr lang="en-US" dirty="0">
                <a:solidFill>
                  <a:srgbClr val="FF6600"/>
                </a:solidFill>
              </a:rPr>
              <a:t>deadlocks</a:t>
            </a:r>
            <a:endParaRPr lang="en-US" dirty="0">
              <a:solidFill>
                <a:srgbClr val="7F7F7F"/>
              </a:solidFill>
            </a:endParaRPr>
          </a:p>
          <a:p>
            <a:pPr lvl="1"/>
            <a:r>
              <a:rPr lang="en-US" dirty="0">
                <a:solidFill>
                  <a:srgbClr val="7F7F7F"/>
                </a:solidFill>
              </a:rPr>
              <a:t>formal definition</a:t>
            </a: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necessary</a:t>
            </a:r>
            <a:r>
              <a:rPr lang="en-US" dirty="0"/>
              <a:t> </a:t>
            </a:r>
            <a:r>
              <a:rPr lang="en-US" dirty="0">
                <a:solidFill>
                  <a:srgbClr val="FF6600"/>
                </a:solidFill>
              </a:rPr>
              <a:t>conditions of deadlocks</a:t>
            </a:r>
            <a:r>
              <a:rPr lang="en-US" dirty="0"/>
              <a:t>.</a:t>
            </a:r>
            <a:endParaRPr lang="en-US" dirty="0">
              <a:solidFill>
                <a:srgbClr val="7F7F7F"/>
              </a:solidFill>
            </a:endParaRPr>
          </a:p>
          <a:p>
            <a:pPr lvl="1"/>
            <a:r>
              <a:rPr lang="en-US" dirty="0">
                <a:solidFill>
                  <a:srgbClr val="7F7F7F"/>
                </a:solidFill>
              </a:rPr>
              <a:t>This is what allow us to defeat deadlock</a:t>
            </a:r>
          </a:p>
          <a:p>
            <a:r>
              <a:rPr lang="en-US" dirty="0"/>
              <a:t>Learn and understand the </a:t>
            </a:r>
            <a:r>
              <a:rPr lang="en-US" dirty="0">
                <a:solidFill>
                  <a:srgbClr val="FF6600"/>
                </a:solidFill>
              </a:rPr>
              <a:t>three main strategies</a:t>
            </a:r>
            <a:r>
              <a:rPr lang="en-US" dirty="0"/>
              <a:t> to deal with deadlock.</a:t>
            </a:r>
            <a:endParaRPr lang="en-US" dirty="0">
              <a:solidFill>
                <a:srgbClr val="FFFFFF"/>
              </a:solidFill>
            </a:endParaRPr>
          </a:p>
          <a:p>
            <a:pPr lvl="1"/>
            <a:r>
              <a:rPr lang="en-US" dirty="0"/>
              <a:t>Discuss </a:t>
            </a:r>
            <a:r>
              <a:rPr lang="en-US" dirty="0">
                <a:solidFill>
                  <a:srgbClr val="FF6600"/>
                </a:solidFill>
              </a:rPr>
              <a:t>deadlock prevention </a:t>
            </a:r>
            <a:r>
              <a:rPr lang="en-US" dirty="0"/>
              <a:t>strategy.</a:t>
            </a:r>
            <a:endParaRPr lang="en-US" dirty="0">
              <a:solidFill>
                <a:srgbClr val="7F7F7F"/>
              </a:solidFill>
            </a:endParaRPr>
          </a:p>
          <a:p>
            <a:pPr lvl="2"/>
            <a:r>
              <a:rPr lang="en-US" dirty="0">
                <a:solidFill>
                  <a:srgbClr val="7F7F7F"/>
                </a:solidFill>
              </a:rPr>
              <a:t>Know methods to enforce deadlock prevention.</a:t>
            </a:r>
          </a:p>
          <a:p>
            <a:pPr lvl="1"/>
            <a:r>
              <a:rPr lang="en-US" dirty="0"/>
              <a:t>Discuss </a:t>
            </a:r>
            <a:r>
              <a:rPr lang="en-US" dirty="0">
                <a:solidFill>
                  <a:srgbClr val="FF6600"/>
                </a:solidFill>
              </a:rPr>
              <a:t>deadlock avoidance</a:t>
            </a:r>
            <a:r>
              <a:rPr lang="en-US" dirty="0"/>
              <a:t> strategy.</a:t>
            </a:r>
          </a:p>
          <a:p>
            <a:pPr lvl="2"/>
            <a:r>
              <a:rPr lang="en-US" dirty="0"/>
              <a:t>Banker’s algorithm, Safe state, </a:t>
            </a:r>
          </a:p>
          <a:p>
            <a:pPr lvl="1"/>
            <a:r>
              <a:rPr lang="en-US" dirty="0"/>
              <a:t>Discuss </a:t>
            </a:r>
            <a:r>
              <a:rPr lang="en-US" dirty="0">
                <a:solidFill>
                  <a:srgbClr val="FF6600"/>
                </a:solidFill>
              </a:rPr>
              <a:t>deadlock detection </a:t>
            </a:r>
            <a:r>
              <a:rPr lang="en-US" dirty="0"/>
              <a:t>and </a:t>
            </a:r>
            <a:r>
              <a:rPr lang="en-US" dirty="0">
                <a:solidFill>
                  <a:srgbClr val="FF6600"/>
                </a:solidFill>
              </a:rPr>
              <a:t>recovery</a:t>
            </a:r>
            <a:r>
              <a:rPr lang="en-US" dirty="0"/>
              <a:t> strategy</a:t>
            </a:r>
            <a:endParaRPr lang="en-US" sz="2100" dirty="0">
              <a:solidFill>
                <a:srgbClr val="7F7F7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57850E7-7C6C-754D-81F8-C814130E13C9}" type="slidenum">
              <a:rPr lang="en-US" smtClean="0">
                <a:solidFill>
                  <a:srgbClr val="7F7F7F"/>
                </a:solidFill>
              </a:rPr>
              <a:pPr algn="r"/>
              <a:t>23</a:t>
            </a:fld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81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 bldLvl="3"/>
    </p:bldLst>
  </p:timing>
</p:sld>
</file>

<file path=ppt/theme/theme1.xml><?xml version="1.0" encoding="utf-8"?>
<a:theme xmlns:a="http://schemas.openxmlformats.org/drawingml/2006/main" name="WM_SlideTemplateA_Template">
  <a:themeElements>
    <a:clrScheme name="Custom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004065"/>
      </a:accent1>
      <a:accent2>
        <a:srgbClr val="9593B9"/>
      </a:accent2>
      <a:accent3>
        <a:srgbClr val="DEC258"/>
      </a:accent3>
      <a:accent4>
        <a:srgbClr val="96CBB2"/>
      </a:accent4>
      <a:accent5>
        <a:srgbClr val="88A8C2"/>
      </a:accent5>
      <a:accent6>
        <a:srgbClr val="E2BBA2"/>
      </a:accent6>
      <a:hlink>
        <a:srgbClr val="6A938A"/>
      </a:hlink>
      <a:folHlink>
        <a:srgbClr val="B2B2B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uburn_ExampleSlides_OptionA_Demo_ML" id="{4F358B03-E485-B847-841D-66421C1D2BD5}" vid="{44E32B64-2C70-EB4E-B445-56D689BF2F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Auburn_ExampleSlides_OptionA_Template</Template>
  <TotalTime>37733</TotalTime>
  <Words>1633</Words>
  <Application>Microsoft Macintosh PowerPoint</Application>
  <PresentationFormat>On-screen Show (4:3)</PresentationFormat>
  <Paragraphs>287</Paragraphs>
  <Slides>23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ＭＳ Ｐゴシック</vt:lpstr>
      <vt:lpstr>Apple Braille</vt:lpstr>
      <vt:lpstr>Arial</vt:lpstr>
      <vt:lpstr>Calibri</vt:lpstr>
      <vt:lpstr>Century Gothic</vt:lpstr>
      <vt:lpstr>Gill Sans MT</vt:lpstr>
      <vt:lpstr>Questrial</vt:lpstr>
      <vt:lpstr>Verdana</vt:lpstr>
      <vt:lpstr>Wingdings 2</vt:lpstr>
      <vt:lpstr>WM_SlideTemplateA_Template</vt:lpstr>
      <vt:lpstr>Microsoft ClipArt Gallery</vt:lpstr>
      <vt:lpstr> Deadlocks</vt:lpstr>
      <vt:lpstr>PowerPoint Presentation</vt:lpstr>
      <vt:lpstr>Deadlocks</vt:lpstr>
      <vt:lpstr>Deadlocks</vt:lpstr>
      <vt:lpstr>Necessary Conditions of Deadlocks</vt:lpstr>
      <vt:lpstr>Strategies Against Deadlocks</vt:lpstr>
      <vt:lpstr>Strategies Against Deadlocks </vt:lpstr>
      <vt:lpstr>Deadlock Prevention Methods</vt:lpstr>
      <vt:lpstr>Deadlock Avoidance</vt:lpstr>
      <vt:lpstr>Deadlock Avoidance</vt:lpstr>
      <vt:lpstr>Central Concept : Safe State</vt:lpstr>
      <vt:lpstr>The Banker’s Algorithm</vt:lpstr>
      <vt:lpstr>The Banker’s Algorithm</vt:lpstr>
      <vt:lpstr>The Banker’s Algorithm</vt:lpstr>
      <vt:lpstr>Example 1:  Using the Safe Function</vt:lpstr>
      <vt:lpstr>Example 2:  Using the Safe Function</vt:lpstr>
      <vt:lpstr>Deadlock Detection/Recovery</vt:lpstr>
      <vt:lpstr>Deadlock Detection/Recovery</vt:lpstr>
      <vt:lpstr>When to Detect Deadlock ?</vt:lpstr>
      <vt:lpstr>How to Detect Deadlock ?</vt:lpstr>
      <vt:lpstr>How to Detect Deadlock ?</vt:lpstr>
      <vt:lpstr>How to Recover from Deadlock ?</vt:lpstr>
      <vt:lpstr>Wrap Up</vt:lpstr>
    </vt:vector>
  </TitlesOfParts>
  <Company>Auburn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 Basics: Understanding the Computer’s Language 0s and 1s  </dc:title>
  <dc:creator>Saad Biaz</dc:creator>
  <cp:lastModifiedBy>Saad Biaz</cp:lastModifiedBy>
  <cp:revision>1050</cp:revision>
  <cp:lastPrinted>2018-05-18T14:00:12Z</cp:lastPrinted>
  <dcterms:created xsi:type="dcterms:W3CDTF">2017-11-05T19:40:43Z</dcterms:created>
  <dcterms:modified xsi:type="dcterms:W3CDTF">2020-06-03T22:22:32Z</dcterms:modified>
</cp:coreProperties>
</file>