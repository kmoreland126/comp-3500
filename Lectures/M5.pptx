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54"/>
  </p:notesMasterIdLst>
  <p:handoutMasterIdLst>
    <p:handoutMasterId r:id="rId55"/>
  </p:handoutMasterIdLst>
  <p:sldIdLst>
    <p:sldId id="520" r:id="rId2"/>
    <p:sldId id="521" r:id="rId3"/>
    <p:sldId id="522" r:id="rId4"/>
    <p:sldId id="570" r:id="rId5"/>
    <p:sldId id="571" r:id="rId6"/>
    <p:sldId id="585" r:id="rId7"/>
    <p:sldId id="573" r:id="rId8"/>
    <p:sldId id="601" r:id="rId9"/>
    <p:sldId id="574" r:id="rId10"/>
    <p:sldId id="575" r:id="rId11"/>
    <p:sldId id="533" r:id="rId12"/>
    <p:sldId id="535" r:id="rId13"/>
    <p:sldId id="586" r:id="rId14"/>
    <p:sldId id="542" r:id="rId15"/>
    <p:sldId id="544" r:id="rId16"/>
    <p:sldId id="576" r:id="rId17"/>
    <p:sldId id="545" r:id="rId18"/>
    <p:sldId id="587" r:id="rId19"/>
    <p:sldId id="546" r:id="rId20"/>
    <p:sldId id="577" r:id="rId21"/>
    <p:sldId id="578" r:id="rId22"/>
    <p:sldId id="579" r:id="rId23"/>
    <p:sldId id="580" r:id="rId24"/>
    <p:sldId id="588" r:id="rId25"/>
    <p:sldId id="547" r:id="rId26"/>
    <p:sldId id="582" r:id="rId27"/>
    <p:sldId id="548" r:id="rId28"/>
    <p:sldId id="605" r:id="rId29"/>
    <p:sldId id="583" r:id="rId30"/>
    <p:sldId id="602" r:id="rId31"/>
    <p:sldId id="594" r:id="rId32"/>
    <p:sldId id="599" r:id="rId33"/>
    <p:sldId id="590" r:id="rId34"/>
    <p:sldId id="553" r:id="rId35"/>
    <p:sldId id="600" r:id="rId36"/>
    <p:sldId id="595" r:id="rId37"/>
    <p:sldId id="596" r:id="rId38"/>
    <p:sldId id="593" r:id="rId39"/>
    <p:sldId id="591" r:id="rId40"/>
    <p:sldId id="554" r:id="rId41"/>
    <p:sldId id="603" r:id="rId42"/>
    <p:sldId id="555" r:id="rId43"/>
    <p:sldId id="561" r:id="rId44"/>
    <p:sldId id="597" r:id="rId45"/>
    <p:sldId id="589" r:id="rId46"/>
    <p:sldId id="562" r:id="rId47"/>
    <p:sldId id="598" r:id="rId48"/>
    <p:sldId id="563" r:id="rId49"/>
    <p:sldId id="564" r:id="rId50"/>
    <p:sldId id="565" r:id="rId51"/>
    <p:sldId id="468" r:id="rId52"/>
    <p:sldId id="604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F1F4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66"/>
    <p:restoredTop sz="94677"/>
  </p:normalViewPr>
  <p:slideViewPr>
    <p:cSldViewPr snapToGrid="0" snapToObjects="1">
      <p:cViewPr varScale="1">
        <p:scale>
          <a:sx n="101" d="100"/>
          <a:sy n="101" d="100"/>
        </p:scale>
        <p:origin x="10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4BA1F-1031-2C42-837A-C6DBAB340155}" type="datetimeFigureOut">
              <a:rPr lang="en-US" smtClean="0"/>
              <a:t>9/23/21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C20E3-FB14-7E48-9C5F-483662B93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42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9761D-73B9-1A4F-8555-48E06A216E40}" type="datetimeFigureOut">
              <a:rPr lang="en-US" smtClean="0"/>
              <a:t>9/23/21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9DADB-19AE-004E-8C71-97EB08DF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877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Video Module 5-01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63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AA262-1C51-46F4-B4E1-EF89941267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81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5-02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95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07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07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5-03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69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50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5-04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69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31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5-05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69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6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6-06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4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5-06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694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4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40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6-06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4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5-07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69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5-08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69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</a:t>
            </a:r>
            <a:r>
              <a:rPr lang="en-US" b="1"/>
              <a:t>Module 5-09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694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Video Module 6-10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89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" y="983655"/>
            <a:ext cx="9143999" cy="4890691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" y="4488455"/>
            <a:ext cx="9143999" cy="777008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300" b="0" spc="-75" baseline="0">
                <a:solidFill>
                  <a:srgbClr val="F4812A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" y="5279800"/>
            <a:ext cx="9143999" cy="46595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500" b="0" i="0" cap="none" spc="0" baseline="0"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054" y="1984211"/>
            <a:ext cx="5581894" cy="2003756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 Video">
    <p:bg>
      <p:bgPr>
        <a:blipFill dpi="0" rotWithShape="1">
          <a:blip r:embed="rId2">
            <a:alphaModFix amt="6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" y="0"/>
            <a:ext cx="2582693" cy="6858000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anchor="t"/>
          <a:lstStyle>
            <a:lvl1pPr marL="25717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56578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8658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2087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5516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89689" y="2"/>
            <a:ext cx="2210612" cy="6857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 b="0" baseline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/>
              <a:t>Add Title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" y="2"/>
            <a:ext cx="1905119" cy="6857999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17872" y="171452"/>
            <a:ext cx="1660922" cy="20459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16996" y="1407555"/>
            <a:ext cx="5967413" cy="4910696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2616996" y="459263"/>
            <a:ext cx="5967413" cy="550227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300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Secondary Title Here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70424" y="603843"/>
            <a:ext cx="6107907" cy="64228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700" b="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 Title Here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1470425" y="1628774"/>
            <a:ext cx="6273403" cy="466725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0" i="0"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38928" y="1114427"/>
            <a:ext cx="4401476" cy="4954975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552668" y="504827"/>
            <a:ext cx="3751082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38928" y="459263"/>
            <a:ext cx="4401476" cy="550227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210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Secondary Title 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716893" y="2"/>
            <a:ext cx="4427108" cy="6857999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06581" y="504827"/>
            <a:ext cx="4418999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1559" y="504826"/>
            <a:ext cx="4108847" cy="5207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100" b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31559" y="1331056"/>
            <a:ext cx="4108847" cy="5095144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06581" y="504827"/>
            <a:ext cx="4418999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1559" y="504826"/>
            <a:ext cx="4108847" cy="5207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100" b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31559" y="1331056"/>
            <a:ext cx="4108847" cy="5095144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711551" y="688479"/>
            <a:ext cx="7781152" cy="541643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" y="5875009"/>
            <a:ext cx="9143999" cy="982993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87500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" y="6072190"/>
            <a:ext cx="9143999" cy="6127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2400" b="0" baseline="0">
                <a:solidFill>
                  <a:srgbClr val="F58420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" y="0"/>
            <a:ext cx="1739900" cy="6858000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300" y="864108"/>
            <a:ext cx="6565900" cy="5120640"/>
          </a:xfrm>
          <a:prstGeom prst="rect">
            <a:avLst/>
          </a:prstGeom>
        </p:spPr>
        <p:txBody>
          <a:bodyPr anchor="t"/>
          <a:lstStyle>
            <a:lvl1pPr marL="25717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56578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8658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2087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5516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38350" y="1123838"/>
            <a:ext cx="1601550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100" b="0">
                <a:solidFill>
                  <a:srgbClr val="E78734"/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1" y="1135571"/>
            <a:ext cx="8007350" cy="5120640"/>
          </a:xfrm>
          <a:prstGeom prst="rect">
            <a:avLst/>
          </a:prstGeom>
        </p:spPr>
        <p:txBody>
          <a:bodyPr anchor="t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  <p:sp>
        <p:nvSpPr>
          <p:cNvPr id="5" name="Content Placeholder 2"/>
          <p:cNvSpPr>
            <a:spLocks noGrp="1"/>
          </p:cNvSpPr>
          <p:nvPr>
            <p:ph idx="10" hasCustomPrompt="1"/>
          </p:nvPr>
        </p:nvSpPr>
        <p:spPr>
          <a:xfrm>
            <a:off x="185738" y="257175"/>
            <a:ext cx="8007350" cy="628652"/>
          </a:xfrm>
          <a:prstGeom prst="rect">
            <a:avLst/>
          </a:prstGeom>
        </p:spPr>
        <p:txBody>
          <a:bodyPr anchor="t"/>
          <a:lstStyle>
            <a:lvl1pPr marL="137160" indent="0">
              <a:spcBef>
                <a:spcPts val="900"/>
              </a:spcBef>
              <a:buClr>
                <a:srgbClr val="0B194E"/>
              </a:buClr>
              <a:buFont typeface="Arial" charset="0"/>
              <a:buNone/>
              <a:defRPr sz="2700">
                <a:solidFill>
                  <a:srgbClr val="000000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dirty="0"/>
              <a:t>Click to add Slide Title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Imag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948" y="5378981"/>
            <a:ext cx="5743574" cy="917660"/>
          </a:xfrm>
          <a:prstGeom prst="rect">
            <a:avLst/>
          </a:prstGeom>
          <a:gradFill flip="none" rotWithShape="1">
            <a:gsLst>
              <a:gs pos="41000">
                <a:srgbClr val="01275D"/>
              </a:gs>
              <a:gs pos="100000">
                <a:srgbClr val="013D73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9" name="Rectangle 8"/>
          <p:cNvSpPr/>
          <p:nvPr/>
        </p:nvSpPr>
        <p:spPr>
          <a:xfrm flipV="1">
            <a:off x="6948" y="6261321"/>
            <a:ext cx="9148032" cy="56907"/>
          </a:xfrm>
          <a:prstGeom prst="rect">
            <a:avLst/>
          </a:prstGeom>
          <a:solidFill>
            <a:srgbClr val="DE5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46460" y="5607350"/>
            <a:ext cx="5300462" cy="51435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111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B57850E7-7C6C-754D-81F8-C814130E13C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25645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1234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alphaModFix amt="67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4000" contras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45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spc="-45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44">
          <p15:clr>
            <a:srgbClr val="F26B43"/>
          </p15:clr>
        </p15:guide>
        <p15:guide id="2" pos="201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36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Memory Management (Main Memory)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1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86"/>
    </mc:Choice>
    <mc:Fallback xmlns="">
      <p:transition spd="slow" advTm="246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14878" y="127432"/>
            <a:ext cx="4429125" cy="390525"/>
          </a:xfrm>
        </p:spPr>
        <p:txBody>
          <a:bodyPr/>
          <a:lstStyle/>
          <a:p>
            <a:r>
              <a:rPr lang="en-US" dirty="0">
                <a:ea typeface="Century Gothic"/>
                <a:sym typeface="Questrial"/>
              </a:rPr>
              <a:t>Overview</a:t>
            </a:r>
            <a:endParaRPr lang="en-US" dirty="0"/>
          </a:p>
        </p:txBody>
      </p:sp>
      <p:pic>
        <p:nvPicPr>
          <p:cNvPr id="5" name="Picture 4" descr="heads.jp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01"/>
          <a:stretch/>
        </p:blipFill>
        <p:spPr>
          <a:xfrm>
            <a:off x="153716" y="1543300"/>
            <a:ext cx="4339459" cy="1921533"/>
          </a:xfrm>
          <a:prstGeom prst="rect">
            <a:avLst/>
          </a:prstGeom>
        </p:spPr>
      </p:pic>
      <p:pic>
        <p:nvPicPr>
          <p:cNvPr id="6" name="Picture 5" descr="heads.jp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01"/>
          <a:stretch/>
        </p:blipFill>
        <p:spPr>
          <a:xfrm>
            <a:off x="95536" y="2713644"/>
            <a:ext cx="4455814" cy="1973056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831557" y="754024"/>
            <a:ext cx="4215880" cy="5819181"/>
          </a:xfrm>
        </p:spPr>
        <p:txBody>
          <a:bodyPr/>
          <a:lstStyle/>
          <a:p>
            <a:pPr marL="137160" indent="0">
              <a:buNone/>
            </a:pPr>
            <a:r>
              <a:rPr lang="en-US" sz="2100" b="1" dirty="0"/>
              <a:t>Objectives</a:t>
            </a:r>
          </a:p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objectives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Memory Management</a:t>
            </a:r>
            <a:r>
              <a:rPr lang="en-US" dirty="0"/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design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guiding principles </a:t>
            </a:r>
            <a:r>
              <a:rPr lang="en-US" dirty="0"/>
              <a:t>to memory management.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Tell a </a:t>
            </a:r>
            <a:r>
              <a:rPr lang="en-US" dirty="0">
                <a:solidFill>
                  <a:srgbClr val="FF6600"/>
                </a:solidFill>
              </a:rPr>
              <a:t>story</a:t>
            </a:r>
            <a:r>
              <a:rPr lang="en-US" dirty="0"/>
              <a:t> of an </a:t>
            </a:r>
            <a:r>
              <a:rPr lang="en-US" dirty="0">
                <a:solidFill>
                  <a:srgbClr val="FF6600"/>
                </a:solidFill>
              </a:rPr>
              <a:t>illusion</a:t>
            </a:r>
            <a:r>
              <a:rPr lang="en-US" dirty="0"/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Describe, discuss and evaluate </a:t>
            </a:r>
            <a:r>
              <a:rPr lang="en-US" dirty="0">
                <a:solidFill>
                  <a:srgbClr val="FF6600"/>
                </a:solidFill>
              </a:rPr>
              <a:t>contiguous memory placement strategies</a:t>
            </a:r>
            <a:r>
              <a:rPr lang="en-US" dirty="0"/>
              <a:t>.</a:t>
            </a: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paging </a:t>
            </a:r>
            <a:r>
              <a:rPr lang="en-US" dirty="0"/>
              <a:t>and</a:t>
            </a:r>
            <a:r>
              <a:rPr lang="en-US" dirty="0">
                <a:solidFill>
                  <a:srgbClr val="FF6600"/>
                </a:solidFill>
              </a:rPr>
              <a:t> segmentation</a:t>
            </a:r>
            <a:r>
              <a:rPr lang="en-US" dirty="0"/>
              <a:t>.</a:t>
            </a:r>
          </a:p>
          <a:p>
            <a:endParaRPr lang="en-US" dirty="0"/>
          </a:p>
          <a:p>
            <a:pPr marL="137160" indent="0">
              <a:buNone/>
            </a:pPr>
            <a:r>
              <a:rPr lang="en-US" sz="2000" b="1" dirty="0"/>
              <a:t>Requirements</a:t>
            </a:r>
          </a:p>
          <a:p>
            <a:r>
              <a:rPr lang="en-US" dirty="0"/>
              <a:t>Understand Computer Organization principles (COMP 3350 or equivalent):</a:t>
            </a:r>
          </a:p>
          <a:p>
            <a:pPr lvl="1"/>
            <a:r>
              <a:rPr lang="en-US" dirty="0"/>
              <a:t>address bus, addressing space, memory..</a:t>
            </a:r>
          </a:p>
          <a:p>
            <a:r>
              <a:rPr lang="en-US" dirty="0"/>
              <a:t>Read Sections on Instructional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253089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Offer what a user/programmer wants</a:t>
            </a:r>
          </a:p>
          <a:p>
            <a:pPr lvl="2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flat,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inexpensive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and </a:t>
            </a:r>
            <a:r>
              <a:rPr lang="en-US" b="1" dirty="0">
                <a:solidFill>
                  <a:srgbClr val="3366FF"/>
                </a:solidFill>
              </a:rPr>
              <a:t>infinite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space starting at </a:t>
            </a:r>
            <a:r>
              <a:rPr lang="en-US" dirty="0">
                <a:solidFill>
                  <a:srgbClr val="3366FF"/>
                </a:solidFill>
              </a:rPr>
              <a:t>Address 0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Maximize the number of processes in the memory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Minimize the access time to memory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in Chapter on Main Memory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Introduction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Section </a:t>
            </a:r>
            <a:r>
              <a:rPr lang="en-US" i="1" dirty="0">
                <a:solidFill>
                  <a:srgbClr val="0000FF"/>
                </a:solidFill>
              </a:rPr>
              <a:t>Background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Objectives</a:t>
            </a:r>
          </a:p>
        </p:txBody>
      </p:sp>
    </p:spTree>
    <p:extLst>
      <p:ext uri="{BB962C8B-B14F-4D97-AF65-F5344CB8AC3E}">
        <p14:creationId xmlns:p14="http://schemas.microsoft.com/office/powerpoint/2010/main" val="341895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Programmer Want?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Convenience and simplicity:</a:t>
            </a:r>
          </a:p>
          <a:p>
            <a:pPr lvl="1"/>
            <a:r>
              <a:rPr lang="en-US" dirty="0"/>
              <a:t>The programmer wants to think of his program as a nice </a:t>
            </a:r>
            <a:r>
              <a:rPr lang="en-US" b="1" dirty="0">
                <a:solidFill>
                  <a:srgbClr val="3366FF"/>
                </a:solidFill>
              </a:rPr>
              <a:t>contiguous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flat space”</a:t>
            </a:r>
          </a:p>
          <a:p>
            <a:pPr lvl="2"/>
            <a:r>
              <a:rPr lang="en-US" dirty="0"/>
              <a:t>starting at </a:t>
            </a:r>
            <a:r>
              <a:rPr lang="en-US" dirty="0">
                <a:solidFill>
                  <a:srgbClr val="3366FF"/>
                </a:solidFill>
              </a:rPr>
              <a:t>Address 0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(You do not want to think of a space starting at Address 547231. Do you?)</a:t>
            </a:r>
            <a:endParaRPr lang="en-US" dirty="0">
              <a:solidFill>
                <a:srgbClr val="3366FF"/>
              </a:solidFill>
            </a:endParaRPr>
          </a:p>
          <a:p>
            <a:pPr lvl="2"/>
            <a:r>
              <a:rPr lang="en-US" dirty="0"/>
              <a:t>with an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b="1" dirty="0">
                <a:solidFill>
                  <a:srgbClr val="3366FF"/>
                </a:solidFill>
              </a:rPr>
              <a:t>infinite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b="1" dirty="0">
                <a:solidFill>
                  <a:srgbClr val="3366FF"/>
                </a:solidFill>
              </a:rPr>
              <a:t>size</a:t>
            </a:r>
            <a:r>
              <a:rPr lang="en-US" dirty="0"/>
              <a:t>!</a:t>
            </a:r>
          </a:p>
          <a:p>
            <a:pPr lvl="1"/>
            <a:endParaRPr lang="en-US" dirty="0"/>
          </a:p>
          <a:p>
            <a:r>
              <a:rPr lang="en-US" dirty="0"/>
              <a:t>Some questions:</a:t>
            </a:r>
          </a:p>
          <a:p>
            <a:pPr lvl="1"/>
            <a:r>
              <a:rPr lang="en-US" dirty="0"/>
              <a:t>Should the programmer bother about </a:t>
            </a:r>
            <a:r>
              <a:rPr lang="en-US" dirty="0">
                <a:solidFill>
                  <a:srgbClr val="3366FF"/>
                </a:solidFill>
              </a:rPr>
              <a:t>where</a:t>
            </a:r>
            <a:r>
              <a:rPr lang="en-US" dirty="0"/>
              <a:t> his/her program will be placed in memory?</a:t>
            </a:r>
          </a:p>
          <a:p>
            <a:pPr lvl="1"/>
            <a:r>
              <a:rPr lang="en-US" dirty="0"/>
              <a:t>Should the programmer know in </a:t>
            </a:r>
            <a:r>
              <a:rPr lang="en-US" b="1" dirty="0">
                <a:solidFill>
                  <a:srgbClr val="3366FF"/>
                </a:solidFill>
              </a:rPr>
              <a:t>advance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her/his program will run?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As part of memory management, the operating system will offer</a:t>
            </a:r>
          </a:p>
          <a:p>
            <a:pPr lvl="1"/>
            <a:r>
              <a:rPr lang="en-US" dirty="0"/>
              <a:t>an </a:t>
            </a:r>
            <a:r>
              <a:rPr lang="en-US" b="1" dirty="0">
                <a:solidFill>
                  <a:srgbClr val="3366FF"/>
                </a:solidFill>
              </a:rPr>
              <a:t>ILLUSION </a:t>
            </a:r>
            <a:r>
              <a:rPr lang="en-US" dirty="0">
                <a:solidFill>
                  <a:srgbClr val="7F7F7F"/>
                </a:solidFill>
              </a:rPr>
              <a:t>that the user is alone with as much memory as he wants.</a:t>
            </a:r>
          </a:p>
          <a:p>
            <a:pPr lvl="1"/>
            <a:endParaRPr lang="en-US" dirty="0"/>
          </a:p>
          <a:p>
            <a:r>
              <a:rPr lang="en-US" dirty="0"/>
              <a:t>This story is about how the operating system achieves this illusion with some hardware assistance (memory management unit, </a:t>
            </a:r>
            <a:r>
              <a:rPr lang="en-US" b="1" dirty="0">
                <a:solidFill>
                  <a:srgbClr val="3366FF"/>
                </a:solidFill>
              </a:rPr>
              <a:t>MMU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7850E7-7C6C-754D-81F8-C814130E13C9}" type="slidenum">
              <a:rPr lang="en-US" smtClean="0"/>
              <a:pPr algn="r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24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Illusion Starts with Two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775200" cy="1142999"/>
          </a:xfrm>
        </p:spPr>
        <p:txBody>
          <a:bodyPr/>
          <a:lstStyle/>
          <a:p>
            <a:r>
              <a:rPr lang="en-US" dirty="0"/>
              <a:t>OS (with the help of the memory management unit </a:t>
            </a:r>
            <a:r>
              <a:rPr lang="en-US" b="1" dirty="0"/>
              <a:t>MMU</a:t>
            </a:r>
            <a:r>
              <a:rPr lang="en-US" dirty="0"/>
              <a:t>) manages a </a:t>
            </a:r>
            <a:r>
              <a:rPr lang="en-US" b="1" dirty="0">
                <a:solidFill>
                  <a:srgbClr val="3366FF"/>
                </a:solidFill>
              </a:rPr>
              <a:t>physical space</a:t>
            </a:r>
          </a:p>
          <a:p>
            <a:r>
              <a:rPr lang="en-US" dirty="0"/>
              <a:t>User (with CPU) see a </a:t>
            </a:r>
            <a:r>
              <a:rPr lang="en-US" b="1" dirty="0">
                <a:solidFill>
                  <a:srgbClr val="FF0000"/>
                </a:solidFill>
              </a:rPr>
              <a:t>logical space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66675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57850E7-7C6C-754D-81F8-C814130E13C9}" type="slidenum">
              <a:rPr lang="en-US" smtClean="0"/>
              <a:pPr algn="r"/>
              <a:t>5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5633038" y="491263"/>
            <a:ext cx="2731533" cy="6005446"/>
            <a:chOff x="6458538" y="716029"/>
            <a:chExt cx="2731533" cy="6005446"/>
          </a:xfrm>
        </p:grpSpPr>
        <p:sp>
          <p:nvSpPr>
            <p:cNvPr id="8" name="Rectangle 7"/>
            <p:cNvSpPr/>
            <p:nvPr/>
          </p:nvSpPr>
          <p:spPr>
            <a:xfrm>
              <a:off x="6458538" y="1183049"/>
              <a:ext cx="1216048" cy="5538426"/>
            </a:xfrm>
            <a:prstGeom prst="rect">
              <a:avLst/>
            </a:prstGeom>
            <a:noFill/>
            <a:ln w="38100" cmpd="sng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44919" y="716029"/>
              <a:ext cx="1745152" cy="369332"/>
            </a:xfrm>
            <a:prstGeom prst="rect">
              <a:avLst/>
            </a:prstGeom>
            <a:noFill/>
            <a:ln>
              <a:solidFill>
                <a:srgbClr val="3366FF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Physical Space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837216" y="814098"/>
            <a:ext cx="1725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0000000h (Low)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627004" y="2987355"/>
            <a:ext cx="1216048" cy="1810336"/>
            <a:chOff x="6458538" y="1769807"/>
            <a:chExt cx="1216048" cy="1810336"/>
          </a:xfrm>
        </p:grpSpPr>
        <p:sp>
          <p:nvSpPr>
            <p:cNvPr id="12" name="Rectangle 11"/>
            <p:cNvSpPr/>
            <p:nvPr/>
          </p:nvSpPr>
          <p:spPr>
            <a:xfrm>
              <a:off x="6458538" y="1769807"/>
              <a:ext cx="1216048" cy="1810336"/>
            </a:xfrm>
            <a:prstGeom prst="rect">
              <a:avLst/>
            </a:prstGeom>
            <a:noFill/>
            <a:ln w="28575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565919" y="2801165"/>
              <a:ext cx="9817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User 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Program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754960" y="3272589"/>
            <a:ext cx="1651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Logical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114" y="28122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0000000h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33038" y="3677205"/>
            <a:ext cx="1210014" cy="21616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633206" y="3056557"/>
            <a:ext cx="0" cy="83680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38883" y="3457255"/>
            <a:ext cx="1055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Logical</a:t>
            </a:r>
          </a:p>
          <a:p>
            <a:r>
              <a:rPr lang="en-US" b="1" dirty="0">
                <a:solidFill>
                  <a:srgbClr val="FF0000"/>
                </a:solidFill>
              </a:rPr>
              <a:t>Address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2616" y="6158984"/>
            <a:ext cx="1812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3366FF"/>
                </a:solidFill>
              </a:rPr>
              <a:t>FFFFFFFFh</a:t>
            </a:r>
            <a:r>
              <a:rPr lang="en-US" dirty="0">
                <a:solidFill>
                  <a:srgbClr val="3366FF"/>
                </a:solidFill>
              </a:rPr>
              <a:t> (High)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4200" y="3457255"/>
            <a:ext cx="1055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Physical</a:t>
            </a:r>
          </a:p>
          <a:p>
            <a:r>
              <a:rPr lang="en-US" b="1" dirty="0">
                <a:solidFill>
                  <a:srgbClr val="3366FF"/>
                </a:solidFill>
              </a:rPr>
              <a:t>Address</a:t>
            </a:r>
          </a:p>
        </p:txBody>
      </p:sp>
    </p:spTree>
    <p:extLst>
      <p:ext uri="{BB962C8B-B14F-4D97-AF65-F5344CB8AC3E}">
        <p14:creationId xmlns:p14="http://schemas.microsoft.com/office/powerpoint/2010/main" val="103703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  <p:bldP spid="20" grpId="0" animBg="1"/>
      <p:bldP spid="22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to translate a logical address into a physical address?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Who does the translation?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When should the translation (binding) be made?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 should look at the process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lifetime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!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in Chapter on Main Memory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Section </a:t>
            </a:r>
            <a:r>
              <a:rPr lang="en-US" i="1" dirty="0">
                <a:solidFill>
                  <a:srgbClr val="0000FF"/>
                </a:solidFill>
              </a:rPr>
              <a:t>Background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and Physical addresses Relationships</a:t>
            </a:r>
          </a:p>
        </p:txBody>
      </p:sp>
    </p:spTree>
    <p:extLst>
      <p:ext uri="{BB962C8B-B14F-4D97-AF65-F5344CB8AC3E}">
        <p14:creationId xmlns:p14="http://schemas.microsoft.com/office/powerpoint/2010/main" val="5514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50838" y="228600"/>
            <a:ext cx="8054975" cy="84455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Example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 of Dynamic </a:t>
            </a:r>
            <a:r>
              <a:rPr lang="en-US" sz="2800" dirty="0">
                <a:solidFill>
                  <a:srgbClr val="3366FF"/>
                </a:solidFill>
              </a:rPr>
              <a:t>Translation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Logical To Physical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" t="3482" r="1089" b="3784"/>
          <a:stretch>
            <a:fillRect/>
          </a:stretch>
        </p:blipFill>
        <p:spPr bwMode="auto">
          <a:xfrm>
            <a:off x="1819275" y="1641475"/>
            <a:ext cx="5384800" cy="39592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1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7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00114" y="4985434"/>
            <a:ext cx="3117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3366FF"/>
                </a:solidFill>
              </a:rPr>
              <a:t>Memory Management Unit</a:t>
            </a:r>
          </a:p>
          <a:p>
            <a:pPr algn="ctr"/>
            <a:r>
              <a:rPr lang="en-US" b="1" dirty="0">
                <a:solidFill>
                  <a:srgbClr val="3366FF"/>
                </a:solidFill>
              </a:rPr>
              <a:t>is a </a:t>
            </a:r>
            <a:r>
              <a:rPr lang="en-US" b="1" dirty="0">
                <a:solidFill>
                  <a:srgbClr val="FF0000"/>
                </a:solidFill>
              </a:rPr>
              <a:t>hardware</a:t>
            </a:r>
            <a:r>
              <a:rPr lang="en-US" b="1" dirty="0">
                <a:solidFill>
                  <a:srgbClr val="3366FF"/>
                </a:solidFill>
              </a:rPr>
              <a:t> device</a:t>
            </a:r>
          </a:p>
        </p:txBody>
      </p:sp>
      <p:sp>
        <p:nvSpPr>
          <p:cNvPr id="2" name="Rectangle 1"/>
          <p:cNvSpPr/>
          <p:nvPr/>
        </p:nvSpPr>
        <p:spPr>
          <a:xfrm>
            <a:off x="3390900" y="2273300"/>
            <a:ext cx="1663700" cy="2832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54600" y="2273300"/>
            <a:ext cx="965200" cy="2578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463800" y="2273300"/>
            <a:ext cx="965200" cy="2578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////</a:t>
            </a:r>
          </a:p>
        </p:txBody>
      </p:sp>
    </p:spTree>
    <p:extLst>
      <p:ext uri="{BB962C8B-B14F-4D97-AF65-F5344CB8AC3E}">
        <p14:creationId xmlns:p14="http://schemas.microsoft.com/office/powerpoint/2010/main" val="215051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 animBg="1"/>
      <p:bldP spid="7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50838" y="228600"/>
            <a:ext cx="8054975" cy="84455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Example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 of Dynamic </a:t>
            </a:r>
            <a:r>
              <a:rPr lang="en-US" sz="2800" dirty="0">
                <a:solidFill>
                  <a:srgbClr val="3366FF"/>
                </a:solidFill>
              </a:rPr>
              <a:t>Translation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Logical To Physical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" t="3482" r="1089" b="3784"/>
          <a:stretch>
            <a:fillRect/>
          </a:stretch>
        </p:blipFill>
        <p:spPr bwMode="auto">
          <a:xfrm>
            <a:off x="1819275" y="1641475"/>
            <a:ext cx="5384800" cy="39592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1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8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00114" y="4985434"/>
            <a:ext cx="3117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3366FF"/>
                </a:solidFill>
              </a:rPr>
              <a:t>Memory Management Unit</a:t>
            </a:r>
          </a:p>
          <a:p>
            <a:pPr algn="ctr"/>
            <a:r>
              <a:rPr lang="en-US" b="1" dirty="0">
                <a:solidFill>
                  <a:srgbClr val="3366FF"/>
                </a:solidFill>
              </a:rPr>
              <a:t>is a </a:t>
            </a:r>
            <a:r>
              <a:rPr lang="en-US" b="1" dirty="0">
                <a:solidFill>
                  <a:srgbClr val="FF0000"/>
                </a:solidFill>
              </a:rPr>
              <a:t>hardware</a:t>
            </a:r>
            <a:r>
              <a:rPr lang="en-US" b="1" dirty="0">
                <a:solidFill>
                  <a:srgbClr val="3366FF"/>
                </a:solidFill>
              </a:rPr>
              <a:t> device</a:t>
            </a:r>
          </a:p>
        </p:txBody>
      </p:sp>
    </p:spTree>
    <p:extLst>
      <p:ext uri="{BB962C8B-B14F-4D97-AF65-F5344CB8AC3E}">
        <p14:creationId xmlns:p14="http://schemas.microsoft.com/office/powerpoint/2010/main" val="349225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7F7F7F"/>
                </a:solidFill>
                <a:cs typeface="+mj-cs"/>
              </a:rPr>
              <a:t>Lifetime of User Program </a:t>
            </a:r>
          </a:p>
        </p:txBody>
      </p:sp>
      <p:pic>
        <p:nvPicPr>
          <p:cNvPr id="151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83" t="1004" r="30392" b="658"/>
          <a:stretch>
            <a:fillRect/>
          </a:stretch>
        </p:blipFill>
        <p:spPr bwMode="auto">
          <a:xfrm>
            <a:off x="5638800" y="268288"/>
            <a:ext cx="3048000" cy="569946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9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3" name="Oval 2"/>
          <p:cNvSpPr/>
          <p:nvPr/>
        </p:nvSpPr>
        <p:spPr>
          <a:xfrm>
            <a:off x="7912100" y="3683000"/>
            <a:ext cx="685800" cy="5080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051800" y="1168400"/>
            <a:ext cx="685800" cy="5080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962900" y="5194300"/>
            <a:ext cx="825500" cy="735348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638800" y="1066800"/>
            <a:ext cx="3149600" cy="177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638800" y="2832100"/>
            <a:ext cx="3149600" cy="24003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638800" y="5219700"/>
            <a:ext cx="3149600" cy="735348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4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7F7F7F"/>
                </a:solidFill>
                <a:cs typeface="+mj-cs"/>
              </a:rPr>
              <a:t>Lifetime of User Program </a:t>
            </a:r>
          </a:p>
        </p:txBody>
      </p:sp>
      <p:pic>
        <p:nvPicPr>
          <p:cNvPr id="151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83" t="1004" r="30392" b="658"/>
          <a:stretch>
            <a:fillRect/>
          </a:stretch>
        </p:blipFill>
        <p:spPr bwMode="auto">
          <a:xfrm>
            <a:off x="5638800" y="268288"/>
            <a:ext cx="3048000" cy="569946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10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3" name="Oval 2"/>
          <p:cNvSpPr/>
          <p:nvPr/>
        </p:nvSpPr>
        <p:spPr>
          <a:xfrm>
            <a:off x="7912100" y="3683000"/>
            <a:ext cx="685800" cy="5080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051800" y="1168400"/>
            <a:ext cx="685800" cy="5080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962900" y="5194300"/>
            <a:ext cx="825500" cy="735348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43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38" y="307975"/>
            <a:ext cx="813435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cs typeface="+mj-cs"/>
              </a:rPr>
              <a:t>When to Bind Instructions and Data to Memory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845425" cy="44386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3366FF"/>
                </a:solidFill>
                <a:cs typeface="+mn-cs"/>
              </a:rPr>
              <a:t>When should the address binding occur?</a:t>
            </a:r>
          </a:p>
          <a:p>
            <a:pPr eaLnBrk="1" hangingPunct="1">
              <a:defRPr/>
            </a:pPr>
            <a:endParaRPr lang="en-US" dirty="0">
              <a:solidFill>
                <a:srgbClr val="3366FF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n-cs"/>
              </a:rPr>
              <a:t>Answer</a:t>
            </a:r>
            <a:r>
              <a:rPr lang="en-US" dirty="0">
                <a:solidFill>
                  <a:srgbClr val="3366FF"/>
                </a:solidFill>
                <a:cs typeface="+mn-cs"/>
              </a:rPr>
              <a:t>: Address binding </a:t>
            </a:r>
            <a:r>
              <a:rPr lang="en-US" dirty="0">
                <a:cs typeface="+mn-cs"/>
              </a:rPr>
              <a:t>of instructions and data to memory addresses can happen </a:t>
            </a:r>
            <a:r>
              <a:rPr lang="en-US" dirty="0">
                <a:solidFill>
                  <a:srgbClr val="FF0000"/>
                </a:solidFill>
                <a:cs typeface="+mn-cs"/>
              </a:rPr>
              <a:t>at three different stages</a:t>
            </a:r>
          </a:p>
          <a:p>
            <a:pPr lvl="1" eaLnBrk="1" hangingPunct="1">
              <a:defRPr/>
            </a:pPr>
            <a:r>
              <a:rPr lang="en-US" b="1" dirty="0">
                <a:solidFill>
                  <a:srgbClr val="3366FF"/>
                </a:solidFill>
              </a:rPr>
              <a:t>Compile time</a:t>
            </a:r>
            <a:r>
              <a:rPr lang="en-US" dirty="0"/>
              <a:t>:  If memory location known a priori, </a:t>
            </a:r>
            <a:r>
              <a:rPr lang="en-US" b="1" dirty="0"/>
              <a:t>absolute code</a:t>
            </a:r>
            <a:r>
              <a:rPr lang="en-US" dirty="0"/>
              <a:t> can be generated; </a:t>
            </a:r>
            <a:r>
              <a:rPr lang="en-US" dirty="0">
                <a:solidFill>
                  <a:srgbClr val="FF0000"/>
                </a:solidFill>
              </a:rPr>
              <a:t>must recompile code if starting location changes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Most constraining for OS</a:t>
            </a:r>
            <a:r>
              <a:rPr lang="en-US" dirty="0"/>
              <a:t>)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b="1" dirty="0">
                <a:solidFill>
                  <a:srgbClr val="3366FF"/>
                </a:solidFill>
              </a:rPr>
              <a:t>Load time</a:t>
            </a:r>
            <a:r>
              <a:rPr lang="en-US" dirty="0"/>
              <a:t>:  Must generate </a:t>
            </a:r>
            <a:r>
              <a:rPr lang="en-US" b="1" dirty="0" err="1"/>
              <a:t>relocatable</a:t>
            </a:r>
            <a:r>
              <a:rPr lang="en-US" b="1" dirty="0"/>
              <a:t> code</a:t>
            </a:r>
            <a:r>
              <a:rPr lang="en-US" dirty="0"/>
              <a:t> if memory location is not known at compile time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b="1" dirty="0">
                <a:solidFill>
                  <a:srgbClr val="3366FF"/>
                </a:solidFill>
              </a:rPr>
              <a:t>Execution time</a:t>
            </a:r>
            <a:r>
              <a:rPr lang="en-US" dirty="0"/>
              <a:t>:  Binding delayed until run time if the process can be moved during its execution from one memory segment to another.  Need hardware support for address mapping/translations (</a:t>
            </a:r>
            <a:r>
              <a:rPr lang="en-US" dirty="0">
                <a:solidFill>
                  <a:srgbClr val="FF0000"/>
                </a:solidFill>
              </a:rPr>
              <a:t>Most Flexible for OS</a:t>
            </a:r>
            <a:r>
              <a:rPr lang="en-US" dirty="0"/>
              <a:t>). 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11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Mor</a:t>
            </a:r>
            <a:r>
              <a:rPr lang="en-US" dirty="0"/>
              <a:t>e About </a:t>
            </a:r>
            <a:r>
              <a:rPr lang="en-US" dirty="0">
                <a:cs typeface="+mj-cs"/>
              </a:rPr>
              <a:t>Logical vs. Physical Address Space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6937375" cy="4468812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3366FF"/>
                </a:solidFill>
              </a:rPr>
              <a:t>Logical (or virtual) address</a:t>
            </a:r>
            <a:r>
              <a:rPr lang="en-US" dirty="0"/>
              <a:t> – generated by the CPU; </a:t>
            </a:r>
            <a:endParaRPr lang="en-US" b="1" dirty="0"/>
          </a:p>
          <a:p>
            <a:pPr>
              <a:defRPr/>
            </a:pPr>
            <a:r>
              <a:rPr lang="en-US" b="1" dirty="0">
                <a:solidFill>
                  <a:srgbClr val="3366FF"/>
                </a:solidFill>
              </a:rPr>
              <a:t>Physical address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– address seen by the memory</a:t>
            </a:r>
          </a:p>
          <a:p>
            <a:pPr marL="0" indent="0">
              <a:buNone/>
              <a:defRPr/>
            </a:pPr>
            <a:endParaRPr lang="en-US" dirty="0"/>
          </a:p>
          <a:p>
            <a:pPr lvl="1">
              <a:defRPr/>
            </a:pPr>
            <a:r>
              <a:rPr lang="en-US" b="1" dirty="0">
                <a:solidFill>
                  <a:srgbClr val="3366FF"/>
                </a:solidFill>
                <a:cs typeface="+mn-cs"/>
              </a:rPr>
              <a:t>Compile time</a:t>
            </a:r>
            <a:r>
              <a:rPr lang="en-US" dirty="0">
                <a:cs typeface="+mn-cs"/>
              </a:rPr>
              <a:t>: Logical and physical addresses are the </a:t>
            </a:r>
            <a:r>
              <a:rPr lang="en-US" b="1" dirty="0">
                <a:solidFill>
                  <a:srgbClr val="3366FF"/>
                </a:solidFill>
                <a:cs typeface="+mn-cs"/>
              </a:rPr>
              <a:t>same</a:t>
            </a:r>
          </a:p>
          <a:p>
            <a:pPr lvl="1">
              <a:defRPr/>
            </a:pPr>
            <a:endParaRPr lang="en-US" b="1" dirty="0">
              <a:solidFill>
                <a:srgbClr val="3366FF"/>
              </a:solidFill>
              <a:cs typeface="+mn-cs"/>
            </a:endParaRPr>
          </a:p>
          <a:p>
            <a:pPr lvl="1">
              <a:defRPr/>
            </a:pPr>
            <a:r>
              <a:rPr lang="en-US" b="1" dirty="0">
                <a:solidFill>
                  <a:srgbClr val="3366FF"/>
                </a:solidFill>
                <a:cs typeface="+mn-cs"/>
              </a:rPr>
              <a:t>Load-time</a:t>
            </a:r>
            <a:r>
              <a:rPr lang="en-US" dirty="0"/>
              <a:t>: Logical and physical addresses are the </a:t>
            </a:r>
            <a:r>
              <a:rPr lang="en-US" b="1" dirty="0">
                <a:solidFill>
                  <a:srgbClr val="3366FF"/>
                </a:solidFill>
              </a:rPr>
              <a:t>same</a:t>
            </a:r>
          </a:p>
          <a:p>
            <a:pPr lvl="1">
              <a:defRPr/>
            </a:pPr>
            <a:endParaRPr lang="en-US" b="1" dirty="0">
              <a:solidFill>
                <a:srgbClr val="3366FF"/>
              </a:solidFill>
            </a:endParaRPr>
          </a:p>
          <a:p>
            <a:pPr lvl="1">
              <a:defRPr/>
            </a:pPr>
            <a:r>
              <a:rPr lang="en-US" b="1" dirty="0">
                <a:solidFill>
                  <a:srgbClr val="3366FF"/>
                </a:solidFill>
                <a:cs typeface="+mn-cs"/>
              </a:rPr>
              <a:t>Execution (running) time</a:t>
            </a:r>
            <a:r>
              <a:rPr lang="en-US" dirty="0">
                <a:cs typeface="+mn-cs"/>
              </a:rPr>
              <a:t>: address-binding schemes; logical (virtual) and physical addresses </a:t>
            </a:r>
            <a:r>
              <a:rPr lang="en-US" b="1" dirty="0">
                <a:solidFill>
                  <a:srgbClr val="3366FF"/>
                </a:solidFill>
                <a:cs typeface="+mn-cs"/>
              </a:rPr>
              <a:t>DIFFER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12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Where to place a process in the physical space?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to insure a spot for a process in the physical space?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does the OS keep track of the allocated space?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Contiguous Placement strategies: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First fit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Best-fit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Worst-fit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in Chapter on Main Memory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Introduction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Section </a:t>
            </a:r>
            <a:r>
              <a:rPr lang="en-US" i="1" dirty="0">
                <a:solidFill>
                  <a:srgbClr val="0000FF"/>
                </a:solidFill>
              </a:rPr>
              <a:t>Contiguous Memory Allocation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Contiguous Allocation</a:t>
            </a:r>
          </a:p>
        </p:txBody>
      </p:sp>
    </p:spTree>
    <p:extLst>
      <p:ext uri="{BB962C8B-B14F-4D97-AF65-F5344CB8AC3E}">
        <p14:creationId xmlns:p14="http://schemas.microsoft.com/office/powerpoint/2010/main" val="52711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3366FF"/>
                </a:solidFill>
                <a:cs typeface="+mj-cs"/>
              </a:rPr>
              <a:t>Contiguous</a:t>
            </a:r>
            <a:r>
              <a:rPr lang="en-US" dirty="0">
                <a:cs typeface="+mj-cs"/>
              </a:rPr>
              <a:t> Allocation</a:t>
            </a:r>
          </a:p>
        </p:txBody>
      </p:sp>
      <p:sp>
        <p:nvSpPr>
          <p:cNvPr id="696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170738" cy="3281362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>
                <a:cs typeface="+mn-cs"/>
              </a:rPr>
              <a:t>Main memory usually is divided into </a:t>
            </a:r>
            <a:r>
              <a:rPr lang="en-US" sz="2000" b="1" dirty="0">
                <a:cs typeface="+mn-cs"/>
              </a:rPr>
              <a:t>two partitions</a:t>
            </a:r>
            <a:r>
              <a:rPr lang="en-US" sz="2000" dirty="0">
                <a:cs typeface="+mn-cs"/>
              </a:rPr>
              <a:t>: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rgbClr val="3366FF"/>
                </a:solidFill>
              </a:rPr>
              <a:t>Resident operating system</a:t>
            </a:r>
            <a:r>
              <a:rPr lang="en-US" sz="2000" dirty="0"/>
              <a:t>, usually held in low memory with interrupt vector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rgbClr val="3366FF"/>
                </a:solidFill>
              </a:rPr>
              <a:t>User processes </a:t>
            </a:r>
            <a:r>
              <a:rPr lang="en-US" sz="2000" dirty="0"/>
              <a:t>then held in high memory</a:t>
            </a:r>
          </a:p>
          <a:p>
            <a:pPr eaLnBrk="1" hangingPunct="1">
              <a:defRPr/>
            </a:pPr>
            <a:r>
              <a:rPr lang="en-US" sz="2000" dirty="0">
                <a:cs typeface="+mn-cs"/>
              </a:rPr>
              <a:t>Relocation registers used to protect user processes from each other, and from changing operating-system code and data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rgbClr val="3366FF"/>
                </a:solidFill>
              </a:rPr>
              <a:t>Base register </a:t>
            </a:r>
            <a:r>
              <a:rPr lang="en-US" sz="2000" dirty="0"/>
              <a:t>contains value of smallest physical address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rgbClr val="3366FF"/>
                </a:solidFill>
              </a:rPr>
              <a:t>Limit register </a:t>
            </a:r>
            <a:r>
              <a:rPr lang="en-US" sz="2000" dirty="0"/>
              <a:t>contains range of logical addresses – each logical address must be less than the limit register </a:t>
            </a:r>
          </a:p>
          <a:p>
            <a:pPr lvl="1" eaLnBrk="1" hangingPunct="1">
              <a:defRPr/>
            </a:pPr>
            <a:r>
              <a:rPr lang="en-US" sz="2000" dirty="0"/>
              <a:t>MMU </a:t>
            </a:r>
            <a:r>
              <a:rPr lang="en-US" sz="2000" dirty="0">
                <a:solidFill>
                  <a:srgbClr val="3366FF"/>
                </a:solidFill>
              </a:rPr>
              <a:t>maps</a:t>
            </a:r>
            <a:r>
              <a:rPr lang="en-US" sz="2000" dirty="0"/>
              <a:t> logical address </a:t>
            </a:r>
            <a:r>
              <a:rPr lang="en-US" sz="2000" i="1" dirty="0"/>
              <a:t>dynamically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14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400800" y="4349750"/>
            <a:ext cx="1143000" cy="2133600"/>
            <a:chOff x="6400800" y="4349750"/>
            <a:chExt cx="1143000" cy="2133600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6400800" y="4349750"/>
              <a:ext cx="1143000" cy="2133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6400800" y="4713288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6400800" y="512445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6400800" y="6056313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6705600" y="4349750"/>
              <a:ext cx="4413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>
                  <a:latin typeface="Helvetica" charset="0"/>
                  <a:cs typeface="+mn-cs"/>
                </a:rPr>
                <a:t>OS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6400800" y="4794250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 dirty="0">
                  <a:latin typeface="Helvetica" charset="0"/>
                  <a:cs typeface="+mn-cs"/>
                </a:rPr>
                <a:t>process 5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6400800" y="5476875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>
                  <a:latin typeface="Helvetica" charset="0"/>
                  <a:cs typeface="+mn-cs"/>
                </a:rPr>
                <a:t>process 8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6400800" y="6073775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>
                  <a:latin typeface="Helvetica" charset="0"/>
                  <a:cs typeface="+mn-cs"/>
                </a:rPr>
                <a:t>process 2</a:t>
              </a:r>
            </a:p>
          </p:txBody>
        </p:sp>
      </p:grp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" t="20837" r="443" b="21426"/>
          <a:stretch>
            <a:fillRect/>
          </a:stretch>
        </p:blipFill>
        <p:spPr bwMode="auto">
          <a:xfrm>
            <a:off x="884457" y="4662487"/>
            <a:ext cx="4441605" cy="194151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3366FF"/>
                </a:solidFill>
                <a:cs typeface="+mj-cs"/>
              </a:rPr>
              <a:t>Contiguous</a:t>
            </a:r>
            <a:r>
              <a:rPr lang="en-US" dirty="0">
                <a:solidFill>
                  <a:srgbClr val="3366FF"/>
                </a:solidFill>
                <a:cs typeface="+mj-cs"/>
              </a:rPr>
              <a:t> </a:t>
            </a:r>
            <a:r>
              <a:rPr lang="en-US" dirty="0">
                <a:cs typeface="+mj-cs"/>
              </a:rPr>
              <a:t>Allocation 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351713" cy="2605087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>
                <a:cs typeface="+mn-cs"/>
              </a:rPr>
              <a:t>Multiple-partition allocation</a:t>
            </a:r>
          </a:p>
          <a:p>
            <a:pPr lvl="1" eaLnBrk="1" hangingPunct="1">
              <a:defRPr/>
            </a:pPr>
            <a:r>
              <a:rPr lang="en-US" sz="2000" b="1" dirty="0">
                <a:solidFill>
                  <a:srgbClr val="3366FF"/>
                </a:solidFill>
              </a:rPr>
              <a:t>Hole</a:t>
            </a:r>
            <a:r>
              <a:rPr lang="en-US" sz="2000" dirty="0"/>
              <a:t> – block of available memory; holes of various size are scattered throughout memory</a:t>
            </a:r>
          </a:p>
          <a:p>
            <a:pPr lvl="1" eaLnBrk="1" hangingPunct="1">
              <a:defRPr/>
            </a:pPr>
            <a:r>
              <a:rPr lang="en-US" sz="2000" dirty="0"/>
              <a:t>When a process arrives, it is allocated memory from a hole large enough to accommodate it</a:t>
            </a:r>
          </a:p>
          <a:p>
            <a:pPr lvl="1" eaLnBrk="1" hangingPunct="1">
              <a:defRPr/>
            </a:pPr>
            <a:r>
              <a:rPr lang="en-US" sz="2000" dirty="0"/>
              <a:t>Operating system maintains information about:</a:t>
            </a:r>
            <a:br>
              <a:rPr lang="en-US" sz="2000" dirty="0"/>
            </a:br>
            <a:r>
              <a:rPr lang="en-US" sz="2000" dirty="0"/>
              <a:t>a) </a:t>
            </a:r>
            <a:r>
              <a:rPr lang="en-US" sz="2000" b="1" dirty="0">
                <a:solidFill>
                  <a:srgbClr val="3366FF"/>
                </a:solidFill>
              </a:rPr>
              <a:t>allocated</a:t>
            </a:r>
            <a:r>
              <a:rPr lang="en-US" sz="2000" dirty="0">
                <a:solidFill>
                  <a:srgbClr val="3366FF"/>
                </a:solidFill>
              </a:rPr>
              <a:t> </a:t>
            </a:r>
            <a:r>
              <a:rPr lang="en-US" sz="2000" dirty="0"/>
              <a:t>partitions    b) </a:t>
            </a:r>
            <a:r>
              <a:rPr lang="en-US" sz="2000" b="1" dirty="0">
                <a:solidFill>
                  <a:srgbClr val="3366FF"/>
                </a:solidFill>
              </a:rPr>
              <a:t>free</a:t>
            </a:r>
            <a:r>
              <a:rPr lang="en-US" sz="2000" dirty="0">
                <a:solidFill>
                  <a:srgbClr val="3366FF"/>
                </a:solidFill>
              </a:rPr>
              <a:t> </a:t>
            </a:r>
            <a:r>
              <a:rPr lang="en-US" sz="2000" dirty="0"/>
              <a:t>partitions (hole)</a:t>
            </a:r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1524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61" name="Line 5"/>
          <p:cNvSpPr>
            <a:spLocks noChangeShapeType="1"/>
          </p:cNvSpPr>
          <p:nvPr/>
        </p:nvSpPr>
        <p:spPr bwMode="auto">
          <a:xfrm>
            <a:off x="1524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62" name="Line 6"/>
          <p:cNvSpPr>
            <a:spLocks noChangeShapeType="1"/>
          </p:cNvSpPr>
          <p:nvPr/>
        </p:nvSpPr>
        <p:spPr bwMode="auto">
          <a:xfrm>
            <a:off x="1524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63" name="Line 7"/>
          <p:cNvSpPr>
            <a:spLocks noChangeShapeType="1"/>
          </p:cNvSpPr>
          <p:nvPr/>
        </p:nvSpPr>
        <p:spPr bwMode="auto">
          <a:xfrm>
            <a:off x="1524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4572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1524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152400" y="51943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8</a:t>
            </a:r>
          </a:p>
        </p:txBody>
      </p:sp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1524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70670" name="Rectangle 14"/>
          <p:cNvSpPr>
            <a:spLocks noChangeArrowheads="1"/>
          </p:cNvSpPr>
          <p:nvPr/>
        </p:nvSpPr>
        <p:spPr bwMode="auto">
          <a:xfrm>
            <a:off x="19812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71" name="Line 15"/>
          <p:cNvSpPr>
            <a:spLocks noChangeShapeType="1"/>
          </p:cNvSpPr>
          <p:nvPr/>
        </p:nvSpPr>
        <p:spPr bwMode="auto">
          <a:xfrm>
            <a:off x="19812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72" name="Line 16"/>
          <p:cNvSpPr>
            <a:spLocks noChangeShapeType="1"/>
          </p:cNvSpPr>
          <p:nvPr/>
        </p:nvSpPr>
        <p:spPr bwMode="auto">
          <a:xfrm>
            <a:off x="19812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73" name="Line 17"/>
          <p:cNvSpPr>
            <a:spLocks noChangeShapeType="1"/>
          </p:cNvSpPr>
          <p:nvPr/>
        </p:nvSpPr>
        <p:spPr bwMode="auto">
          <a:xfrm>
            <a:off x="19812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74" name="Text Box 18"/>
          <p:cNvSpPr txBox="1">
            <a:spLocks noChangeArrowheads="1"/>
          </p:cNvSpPr>
          <p:nvPr/>
        </p:nvSpPr>
        <p:spPr bwMode="auto">
          <a:xfrm>
            <a:off x="22860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70675" name="Text Box 19"/>
          <p:cNvSpPr txBox="1">
            <a:spLocks noChangeArrowheads="1"/>
          </p:cNvSpPr>
          <p:nvPr/>
        </p:nvSpPr>
        <p:spPr bwMode="auto">
          <a:xfrm>
            <a:off x="19812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70677" name="Text Box 21"/>
          <p:cNvSpPr txBox="1">
            <a:spLocks noChangeArrowheads="1"/>
          </p:cNvSpPr>
          <p:nvPr/>
        </p:nvSpPr>
        <p:spPr bwMode="auto">
          <a:xfrm>
            <a:off x="19812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70679" name="Rectangle 23"/>
          <p:cNvSpPr>
            <a:spLocks noChangeArrowheads="1"/>
          </p:cNvSpPr>
          <p:nvPr/>
        </p:nvSpPr>
        <p:spPr bwMode="auto">
          <a:xfrm>
            <a:off x="38100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80" name="Line 24"/>
          <p:cNvSpPr>
            <a:spLocks noChangeShapeType="1"/>
          </p:cNvSpPr>
          <p:nvPr/>
        </p:nvSpPr>
        <p:spPr bwMode="auto">
          <a:xfrm>
            <a:off x="38100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81" name="Line 25"/>
          <p:cNvSpPr>
            <a:spLocks noChangeShapeType="1"/>
          </p:cNvSpPr>
          <p:nvPr/>
        </p:nvSpPr>
        <p:spPr bwMode="auto">
          <a:xfrm>
            <a:off x="38100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82" name="Line 26"/>
          <p:cNvSpPr>
            <a:spLocks noChangeShapeType="1"/>
          </p:cNvSpPr>
          <p:nvPr/>
        </p:nvSpPr>
        <p:spPr bwMode="auto">
          <a:xfrm>
            <a:off x="38100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83" name="Text Box 27"/>
          <p:cNvSpPr txBox="1">
            <a:spLocks noChangeArrowheads="1"/>
          </p:cNvSpPr>
          <p:nvPr/>
        </p:nvSpPr>
        <p:spPr bwMode="auto">
          <a:xfrm>
            <a:off x="41148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70684" name="Text Box 28"/>
          <p:cNvSpPr txBox="1">
            <a:spLocks noChangeArrowheads="1"/>
          </p:cNvSpPr>
          <p:nvPr/>
        </p:nvSpPr>
        <p:spPr bwMode="auto">
          <a:xfrm>
            <a:off x="38100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70686" name="Text Box 30"/>
          <p:cNvSpPr txBox="1">
            <a:spLocks noChangeArrowheads="1"/>
          </p:cNvSpPr>
          <p:nvPr/>
        </p:nvSpPr>
        <p:spPr bwMode="auto">
          <a:xfrm>
            <a:off x="38100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70688" name="Rectangle 32"/>
          <p:cNvSpPr>
            <a:spLocks noChangeArrowheads="1"/>
          </p:cNvSpPr>
          <p:nvPr/>
        </p:nvSpPr>
        <p:spPr bwMode="auto">
          <a:xfrm>
            <a:off x="56388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89" name="Line 33"/>
          <p:cNvSpPr>
            <a:spLocks noChangeShapeType="1"/>
          </p:cNvSpPr>
          <p:nvPr/>
        </p:nvSpPr>
        <p:spPr bwMode="auto">
          <a:xfrm>
            <a:off x="56388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90" name="Line 34"/>
          <p:cNvSpPr>
            <a:spLocks noChangeShapeType="1"/>
          </p:cNvSpPr>
          <p:nvPr/>
        </p:nvSpPr>
        <p:spPr bwMode="auto">
          <a:xfrm>
            <a:off x="56388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91" name="Line 35"/>
          <p:cNvSpPr>
            <a:spLocks noChangeShapeType="1"/>
          </p:cNvSpPr>
          <p:nvPr/>
        </p:nvSpPr>
        <p:spPr bwMode="auto">
          <a:xfrm>
            <a:off x="56388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92" name="Text Box 36"/>
          <p:cNvSpPr txBox="1">
            <a:spLocks noChangeArrowheads="1"/>
          </p:cNvSpPr>
          <p:nvPr/>
        </p:nvSpPr>
        <p:spPr bwMode="auto">
          <a:xfrm>
            <a:off x="59436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70693" name="Text Box 37"/>
          <p:cNvSpPr txBox="1">
            <a:spLocks noChangeArrowheads="1"/>
          </p:cNvSpPr>
          <p:nvPr/>
        </p:nvSpPr>
        <p:spPr bwMode="auto">
          <a:xfrm>
            <a:off x="56388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70694" name="Text Box 38"/>
          <p:cNvSpPr txBox="1">
            <a:spLocks noChangeArrowheads="1"/>
          </p:cNvSpPr>
          <p:nvPr/>
        </p:nvSpPr>
        <p:spPr bwMode="auto">
          <a:xfrm>
            <a:off x="5638800" y="48291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9</a:t>
            </a:r>
          </a:p>
        </p:txBody>
      </p:sp>
      <p:sp>
        <p:nvSpPr>
          <p:cNvPr id="70695" name="Text Box 39"/>
          <p:cNvSpPr txBox="1">
            <a:spLocks noChangeArrowheads="1"/>
          </p:cNvSpPr>
          <p:nvPr/>
        </p:nvSpPr>
        <p:spPr bwMode="auto">
          <a:xfrm>
            <a:off x="56388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70697" name="Rectangle 41"/>
          <p:cNvSpPr>
            <a:spLocks noChangeArrowheads="1"/>
          </p:cNvSpPr>
          <p:nvPr/>
        </p:nvSpPr>
        <p:spPr bwMode="auto">
          <a:xfrm>
            <a:off x="1981200" y="4829175"/>
            <a:ext cx="11430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98" name="Rectangle 42"/>
          <p:cNvSpPr>
            <a:spLocks noChangeArrowheads="1"/>
          </p:cNvSpPr>
          <p:nvPr/>
        </p:nvSpPr>
        <p:spPr bwMode="auto">
          <a:xfrm>
            <a:off x="3810000" y="5210175"/>
            <a:ext cx="1143000" cy="609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99" name="Text Box 43"/>
          <p:cNvSpPr txBox="1">
            <a:spLocks noChangeArrowheads="1"/>
          </p:cNvSpPr>
          <p:nvPr/>
        </p:nvSpPr>
        <p:spPr bwMode="auto">
          <a:xfrm>
            <a:off x="3810000" y="48291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9</a:t>
            </a:r>
          </a:p>
        </p:txBody>
      </p:sp>
      <p:sp>
        <p:nvSpPr>
          <p:cNvPr id="70700" name="Rectangle 44"/>
          <p:cNvSpPr>
            <a:spLocks noChangeArrowheads="1"/>
          </p:cNvSpPr>
          <p:nvPr/>
        </p:nvSpPr>
        <p:spPr bwMode="auto">
          <a:xfrm>
            <a:off x="5638800" y="5514975"/>
            <a:ext cx="11430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701" name="Line 45"/>
          <p:cNvSpPr>
            <a:spLocks noChangeShapeType="1"/>
          </p:cNvSpPr>
          <p:nvPr/>
        </p:nvSpPr>
        <p:spPr bwMode="auto">
          <a:xfrm>
            <a:off x="5638800" y="516572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702" name="Text Box 46"/>
          <p:cNvSpPr txBox="1">
            <a:spLocks noChangeArrowheads="1"/>
          </p:cNvSpPr>
          <p:nvPr/>
        </p:nvSpPr>
        <p:spPr bwMode="auto">
          <a:xfrm>
            <a:off x="5638800" y="52101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10</a:t>
            </a:r>
          </a:p>
        </p:txBody>
      </p:sp>
      <p:sp>
        <p:nvSpPr>
          <p:cNvPr id="70703" name="AutoShape 47"/>
          <p:cNvSpPr>
            <a:spLocks noChangeArrowheads="1"/>
          </p:cNvSpPr>
          <p:nvPr/>
        </p:nvSpPr>
        <p:spPr bwMode="auto">
          <a:xfrm>
            <a:off x="13716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704" name="AutoShape 48"/>
          <p:cNvSpPr>
            <a:spLocks noChangeArrowheads="1"/>
          </p:cNvSpPr>
          <p:nvPr/>
        </p:nvSpPr>
        <p:spPr bwMode="auto">
          <a:xfrm>
            <a:off x="32004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705" name="AutoShape 49"/>
          <p:cNvSpPr>
            <a:spLocks noChangeArrowheads="1"/>
          </p:cNvSpPr>
          <p:nvPr/>
        </p:nvSpPr>
        <p:spPr bwMode="auto">
          <a:xfrm>
            <a:off x="50292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15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44" name="Rectangle 32"/>
          <p:cNvSpPr>
            <a:spLocks noChangeArrowheads="1"/>
          </p:cNvSpPr>
          <p:nvPr/>
        </p:nvSpPr>
        <p:spPr bwMode="auto">
          <a:xfrm>
            <a:off x="76454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5" name="Line 33"/>
          <p:cNvSpPr>
            <a:spLocks noChangeShapeType="1"/>
          </p:cNvSpPr>
          <p:nvPr/>
        </p:nvSpPr>
        <p:spPr bwMode="auto">
          <a:xfrm>
            <a:off x="76454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6" name="Line 34"/>
          <p:cNvSpPr>
            <a:spLocks noChangeShapeType="1"/>
          </p:cNvSpPr>
          <p:nvPr/>
        </p:nvSpPr>
        <p:spPr bwMode="auto">
          <a:xfrm>
            <a:off x="76454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7" name="Line 35"/>
          <p:cNvSpPr>
            <a:spLocks noChangeShapeType="1"/>
          </p:cNvSpPr>
          <p:nvPr/>
        </p:nvSpPr>
        <p:spPr bwMode="auto">
          <a:xfrm>
            <a:off x="76454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8" name="Text Box 36"/>
          <p:cNvSpPr txBox="1">
            <a:spLocks noChangeArrowheads="1"/>
          </p:cNvSpPr>
          <p:nvPr/>
        </p:nvSpPr>
        <p:spPr bwMode="auto">
          <a:xfrm>
            <a:off x="79502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49" name="Text Box 37"/>
          <p:cNvSpPr txBox="1">
            <a:spLocks noChangeArrowheads="1"/>
          </p:cNvSpPr>
          <p:nvPr/>
        </p:nvSpPr>
        <p:spPr bwMode="auto">
          <a:xfrm>
            <a:off x="76454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51" name="Text Box 39"/>
          <p:cNvSpPr txBox="1">
            <a:spLocks noChangeArrowheads="1"/>
          </p:cNvSpPr>
          <p:nvPr/>
        </p:nvSpPr>
        <p:spPr bwMode="auto">
          <a:xfrm>
            <a:off x="76454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52" name="Rectangle 44"/>
          <p:cNvSpPr>
            <a:spLocks noChangeArrowheads="1"/>
          </p:cNvSpPr>
          <p:nvPr/>
        </p:nvSpPr>
        <p:spPr bwMode="auto">
          <a:xfrm>
            <a:off x="7645400" y="5514975"/>
            <a:ext cx="11430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3" name="Line 45"/>
          <p:cNvSpPr>
            <a:spLocks noChangeShapeType="1"/>
          </p:cNvSpPr>
          <p:nvPr/>
        </p:nvSpPr>
        <p:spPr bwMode="auto">
          <a:xfrm>
            <a:off x="7645400" y="516572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4" name="Text Box 46"/>
          <p:cNvSpPr txBox="1">
            <a:spLocks noChangeArrowheads="1"/>
          </p:cNvSpPr>
          <p:nvPr/>
        </p:nvSpPr>
        <p:spPr bwMode="auto">
          <a:xfrm>
            <a:off x="7645400" y="52101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10</a:t>
            </a:r>
          </a:p>
        </p:txBody>
      </p:sp>
      <p:sp>
        <p:nvSpPr>
          <p:cNvPr id="55" name="AutoShape 49"/>
          <p:cNvSpPr>
            <a:spLocks noChangeArrowheads="1"/>
          </p:cNvSpPr>
          <p:nvPr/>
        </p:nvSpPr>
        <p:spPr bwMode="auto">
          <a:xfrm>
            <a:off x="70358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6" name="Rectangle 44"/>
          <p:cNvSpPr>
            <a:spLocks noChangeArrowheads="1"/>
          </p:cNvSpPr>
          <p:nvPr/>
        </p:nvSpPr>
        <p:spPr bwMode="auto">
          <a:xfrm>
            <a:off x="7645400" y="4841874"/>
            <a:ext cx="1143000" cy="3524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71600" y="3949700"/>
            <a:ext cx="1790700" cy="2298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3200400" y="3962400"/>
            <a:ext cx="1790700" cy="22987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029200" y="3975100"/>
            <a:ext cx="1790700" cy="22987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858000" y="3987800"/>
            <a:ext cx="1930400" cy="22987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94834" y="3589893"/>
            <a:ext cx="990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8</a:t>
            </a:r>
            <a:r>
              <a:rPr lang="en-US" dirty="0"/>
              <a:t> leaves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47434" y="3589893"/>
            <a:ext cx="1068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9</a:t>
            </a:r>
            <a:r>
              <a:rPr lang="en-US" dirty="0"/>
              <a:t> arrives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00034" y="3589893"/>
            <a:ext cx="1145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10</a:t>
            </a:r>
            <a:r>
              <a:rPr lang="en-US" dirty="0"/>
              <a:t> arrives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52634" y="3589893"/>
            <a:ext cx="990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9</a:t>
            </a:r>
            <a:r>
              <a:rPr lang="en-US" dirty="0"/>
              <a:t> leaves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9" grpId="0" animBg="1"/>
      <p:bldP spid="60" grpId="0" animBg="1"/>
      <p:bldP spid="61" grpId="0" animBg="1"/>
      <p:bldP spid="4" grpId="0"/>
      <p:bldP spid="63" grpId="0"/>
      <p:bldP spid="64" grpId="0"/>
      <p:bldP spid="6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3366FF"/>
                </a:solidFill>
                <a:cs typeface="+mj-cs"/>
              </a:rPr>
              <a:t>Contiguous</a:t>
            </a:r>
            <a:r>
              <a:rPr lang="en-US" dirty="0">
                <a:solidFill>
                  <a:srgbClr val="3366FF"/>
                </a:solidFill>
                <a:cs typeface="+mj-cs"/>
              </a:rPr>
              <a:t> </a:t>
            </a:r>
            <a:r>
              <a:rPr lang="en-US" dirty="0">
                <a:cs typeface="+mj-cs"/>
              </a:rPr>
              <a:t>Allocation (Cont.)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351713" cy="2605087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>
                <a:cs typeface="+mn-cs"/>
              </a:rPr>
              <a:t>Multiple-partition allocation</a:t>
            </a:r>
          </a:p>
          <a:p>
            <a:pPr lvl="1" eaLnBrk="1" hangingPunct="1">
              <a:defRPr/>
            </a:pPr>
            <a:r>
              <a:rPr lang="en-US" sz="2000" b="1" dirty="0">
                <a:solidFill>
                  <a:srgbClr val="3366FF"/>
                </a:solidFill>
              </a:rPr>
              <a:t>Hole</a:t>
            </a:r>
            <a:r>
              <a:rPr lang="en-US" sz="2000" dirty="0"/>
              <a:t> – block of available memory; holes of various size are scattered throughout memory</a:t>
            </a:r>
          </a:p>
          <a:p>
            <a:pPr lvl="1" eaLnBrk="1" hangingPunct="1">
              <a:defRPr/>
            </a:pPr>
            <a:r>
              <a:rPr lang="en-US" sz="2000" dirty="0"/>
              <a:t>When a process arrives, it is allocated memory from a hole large enough to accommodate it</a:t>
            </a:r>
          </a:p>
          <a:p>
            <a:pPr lvl="1" eaLnBrk="1" hangingPunct="1">
              <a:defRPr/>
            </a:pPr>
            <a:r>
              <a:rPr lang="en-US" sz="2000" dirty="0"/>
              <a:t>Operating system maintains information about:</a:t>
            </a:r>
            <a:br>
              <a:rPr lang="en-US" sz="2000" dirty="0"/>
            </a:br>
            <a:r>
              <a:rPr lang="en-US" sz="2000" dirty="0"/>
              <a:t>a) </a:t>
            </a:r>
            <a:r>
              <a:rPr lang="en-US" sz="2000" b="1" dirty="0">
                <a:solidFill>
                  <a:srgbClr val="3366FF"/>
                </a:solidFill>
              </a:rPr>
              <a:t>allocated</a:t>
            </a:r>
            <a:r>
              <a:rPr lang="en-US" sz="2000" dirty="0">
                <a:solidFill>
                  <a:srgbClr val="3366FF"/>
                </a:solidFill>
              </a:rPr>
              <a:t> </a:t>
            </a:r>
            <a:r>
              <a:rPr lang="en-US" sz="2000" dirty="0"/>
              <a:t>partitions    b) </a:t>
            </a:r>
            <a:r>
              <a:rPr lang="en-US" sz="2000" b="1" dirty="0"/>
              <a:t>free</a:t>
            </a:r>
            <a:r>
              <a:rPr lang="en-US" sz="2000" dirty="0"/>
              <a:t> partitions (hole)</a:t>
            </a:r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1524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61" name="Line 5"/>
          <p:cNvSpPr>
            <a:spLocks noChangeShapeType="1"/>
          </p:cNvSpPr>
          <p:nvPr/>
        </p:nvSpPr>
        <p:spPr bwMode="auto">
          <a:xfrm>
            <a:off x="1524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62" name="Line 6"/>
          <p:cNvSpPr>
            <a:spLocks noChangeShapeType="1"/>
          </p:cNvSpPr>
          <p:nvPr/>
        </p:nvSpPr>
        <p:spPr bwMode="auto">
          <a:xfrm>
            <a:off x="1524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63" name="Line 7"/>
          <p:cNvSpPr>
            <a:spLocks noChangeShapeType="1"/>
          </p:cNvSpPr>
          <p:nvPr/>
        </p:nvSpPr>
        <p:spPr bwMode="auto">
          <a:xfrm>
            <a:off x="1524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4572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1524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152400" y="51943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8</a:t>
            </a:r>
          </a:p>
        </p:txBody>
      </p:sp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1524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70670" name="Rectangle 14"/>
          <p:cNvSpPr>
            <a:spLocks noChangeArrowheads="1"/>
          </p:cNvSpPr>
          <p:nvPr/>
        </p:nvSpPr>
        <p:spPr bwMode="auto">
          <a:xfrm>
            <a:off x="19812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71" name="Line 15"/>
          <p:cNvSpPr>
            <a:spLocks noChangeShapeType="1"/>
          </p:cNvSpPr>
          <p:nvPr/>
        </p:nvSpPr>
        <p:spPr bwMode="auto">
          <a:xfrm>
            <a:off x="19812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72" name="Line 16"/>
          <p:cNvSpPr>
            <a:spLocks noChangeShapeType="1"/>
          </p:cNvSpPr>
          <p:nvPr/>
        </p:nvSpPr>
        <p:spPr bwMode="auto">
          <a:xfrm>
            <a:off x="19812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73" name="Line 17"/>
          <p:cNvSpPr>
            <a:spLocks noChangeShapeType="1"/>
          </p:cNvSpPr>
          <p:nvPr/>
        </p:nvSpPr>
        <p:spPr bwMode="auto">
          <a:xfrm>
            <a:off x="19812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74" name="Text Box 18"/>
          <p:cNvSpPr txBox="1">
            <a:spLocks noChangeArrowheads="1"/>
          </p:cNvSpPr>
          <p:nvPr/>
        </p:nvSpPr>
        <p:spPr bwMode="auto">
          <a:xfrm>
            <a:off x="22860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70675" name="Text Box 19"/>
          <p:cNvSpPr txBox="1">
            <a:spLocks noChangeArrowheads="1"/>
          </p:cNvSpPr>
          <p:nvPr/>
        </p:nvSpPr>
        <p:spPr bwMode="auto">
          <a:xfrm>
            <a:off x="19812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70677" name="Text Box 21"/>
          <p:cNvSpPr txBox="1">
            <a:spLocks noChangeArrowheads="1"/>
          </p:cNvSpPr>
          <p:nvPr/>
        </p:nvSpPr>
        <p:spPr bwMode="auto">
          <a:xfrm>
            <a:off x="19812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70679" name="Rectangle 23"/>
          <p:cNvSpPr>
            <a:spLocks noChangeArrowheads="1"/>
          </p:cNvSpPr>
          <p:nvPr/>
        </p:nvSpPr>
        <p:spPr bwMode="auto">
          <a:xfrm>
            <a:off x="38100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80" name="Line 24"/>
          <p:cNvSpPr>
            <a:spLocks noChangeShapeType="1"/>
          </p:cNvSpPr>
          <p:nvPr/>
        </p:nvSpPr>
        <p:spPr bwMode="auto">
          <a:xfrm>
            <a:off x="38100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81" name="Line 25"/>
          <p:cNvSpPr>
            <a:spLocks noChangeShapeType="1"/>
          </p:cNvSpPr>
          <p:nvPr/>
        </p:nvSpPr>
        <p:spPr bwMode="auto">
          <a:xfrm>
            <a:off x="38100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82" name="Line 26"/>
          <p:cNvSpPr>
            <a:spLocks noChangeShapeType="1"/>
          </p:cNvSpPr>
          <p:nvPr/>
        </p:nvSpPr>
        <p:spPr bwMode="auto">
          <a:xfrm>
            <a:off x="38100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83" name="Text Box 27"/>
          <p:cNvSpPr txBox="1">
            <a:spLocks noChangeArrowheads="1"/>
          </p:cNvSpPr>
          <p:nvPr/>
        </p:nvSpPr>
        <p:spPr bwMode="auto">
          <a:xfrm>
            <a:off x="41148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70684" name="Text Box 28"/>
          <p:cNvSpPr txBox="1">
            <a:spLocks noChangeArrowheads="1"/>
          </p:cNvSpPr>
          <p:nvPr/>
        </p:nvSpPr>
        <p:spPr bwMode="auto">
          <a:xfrm>
            <a:off x="38100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70686" name="Text Box 30"/>
          <p:cNvSpPr txBox="1">
            <a:spLocks noChangeArrowheads="1"/>
          </p:cNvSpPr>
          <p:nvPr/>
        </p:nvSpPr>
        <p:spPr bwMode="auto">
          <a:xfrm>
            <a:off x="38100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70688" name="Rectangle 32"/>
          <p:cNvSpPr>
            <a:spLocks noChangeArrowheads="1"/>
          </p:cNvSpPr>
          <p:nvPr/>
        </p:nvSpPr>
        <p:spPr bwMode="auto">
          <a:xfrm>
            <a:off x="56388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89" name="Line 33"/>
          <p:cNvSpPr>
            <a:spLocks noChangeShapeType="1"/>
          </p:cNvSpPr>
          <p:nvPr/>
        </p:nvSpPr>
        <p:spPr bwMode="auto">
          <a:xfrm>
            <a:off x="56388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90" name="Line 34"/>
          <p:cNvSpPr>
            <a:spLocks noChangeShapeType="1"/>
          </p:cNvSpPr>
          <p:nvPr/>
        </p:nvSpPr>
        <p:spPr bwMode="auto">
          <a:xfrm>
            <a:off x="56388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91" name="Line 35"/>
          <p:cNvSpPr>
            <a:spLocks noChangeShapeType="1"/>
          </p:cNvSpPr>
          <p:nvPr/>
        </p:nvSpPr>
        <p:spPr bwMode="auto">
          <a:xfrm>
            <a:off x="56388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92" name="Text Box 36"/>
          <p:cNvSpPr txBox="1">
            <a:spLocks noChangeArrowheads="1"/>
          </p:cNvSpPr>
          <p:nvPr/>
        </p:nvSpPr>
        <p:spPr bwMode="auto">
          <a:xfrm>
            <a:off x="59436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70693" name="Text Box 37"/>
          <p:cNvSpPr txBox="1">
            <a:spLocks noChangeArrowheads="1"/>
          </p:cNvSpPr>
          <p:nvPr/>
        </p:nvSpPr>
        <p:spPr bwMode="auto">
          <a:xfrm>
            <a:off x="56388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70694" name="Text Box 38"/>
          <p:cNvSpPr txBox="1">
            <a:spLocks noChangeArrowheads="1"/>
          </p:cNvSpPr>
          <p:nvPr/>
        </p:nvSpPr>
        <p:spPr bwMode="auto">
          <a:xfrm>
            <a:off x="5638800" y="48291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9</a:t>
            </a:r>
          </a:p>
        </p:txBody>
      </p:sp>
      <p:sp>
        <p:nvSpPr>
          <p:cNvPr id="70695" name="Text Box 39"/>
          <p:cNvSpPr txBox="1">
            <a:spLocks noChangeArrowheads="1"/>
          </p:cNvSpPr>
          <p:nvPr/>
        </p:nvSpPr>
        <p:spPr bwMode="auto">
          <a:xfrm>
            <a:off x="56388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70697" name="Rectangle 41"/>
          <p:cNvSpPr>
            <a:spLocks noChangeArrowheads="1"/>
          </p:cNvSpPr>
          <p:nvPr/>
        </p:nvSpPr>
        <p:spPr bwMode="auto">
          <a:xfrm>
            <a:off x="1981200" y="4829175"/>
            <a:ext cx="11430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98" name="Rectangle 42"/>
          <p:cNvSpPr>
            <a:spLocks noChangeArrowheads="1"/>
          </p:cNvSpPr>
          <p:nvPr/>
        </p:nvSpPr>
        <p:spPr bwMode="auto">
          <a:xfrm>
            <a:off x="3810000" y="5210175"/>
            <a:ext cx="1143000" cy="609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99" name="Text Box 43"/>
          <p:cNvSpPr txBox="1">
            <a:spLocks noChangeArrowheads="1"/>
          </p:cNvSpPr>
          <p:nvPr/>
        </p:nvSpPr>
        <p:spPr bwMode="auto">
          <a:xfrm>
            <a:off x="3810000" y="48291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9</a:t>
            </a:r>
          </a:p>
        </p:txBody>
      </p:sp>
      <p:sp>
        <p:nvSpPr>
          <p:cNvPr id="70700" name="Rectangle 44"/>
          <p:cNvSpPr>
            <a:spLocks noChangeArrowheads="1"/>
          </p:cNvSpPr>
          <p:nvPr/>
        </p:nvSpPr>
        <p:spPr bwMode="auto">
          <a:xfrm>
            <a:off x="5638800" y="5514975"/>
            <a:ext cx="11430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701" name="Line 45"/>
          <p:cNvSpPr>
            <a:spLocks noChangeShapeType="1"/>
          </p:cNvSpPr>
          <p:nvPr/>
        </p:nvSpPr>
        <p:spPr bwMode="auto">
          <a:xfrm>
            <a:off x="5638800" y="516572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702" name="Text Box 46"/>
          <p:cNvSpPr txBox="1">
            <a:spLocks noChangeArrowheads="1"/>
          </p:cNvSpPr>
          <p:nvPr/>
        </p:nvSpPr>
        <p:spPr bwMode="auto">
          <a:xfrm>
            <a:off x="5638800" y="52101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10</a:t>
            </a:r>
          </a:p>
        </p:txBody>
      </p:sp>
      <p:sp>
        <p:nvSpPr>
          <p:cNvPr id="70703" name="AutoShape 47"/>
          <p:cNvSpPr>
            <a:spLocks noChangeArrowheads="1"/>
          </p:cNvSpPr>
          <p:nvPr/>
        </p:nvSpPr>
        <p:spPr bwMode="auto">
          <a:xfrm>
            <a:off x="13716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704" name="AutoShape 48"/>
          <p:cNvSpPr>
            <a:spLocks noChangeArrowheads="1"/>
          </p:cNvSpPr>
          <p:nvPr/>
        </p:nvSpPr>
        <p:spPr bwMode="auto">
          <a:xfrm>
            <a:off x="32004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705" name="AutoShape 49"/>
          <p:cNvSpPr>
            <a:spLocks noChangeArrowheads="1"/>
          </p:cNvSpPr>
          <p:nvPr/>
        </p:nvSpPr>
        <p:spPr bwMode="auto">
          <a:xfrm>
            <a:off x="50292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16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44" name="Rectangle 32"/>
          <p:cNvSpPr>
            <a:spLocks noChangeArrowheads="1"/>
          </p:cNvSpPr>
          <p:nvPr/>
        </p:nvSpPr>
        <p:spPr bwMode="auto">
          <a:xfrm>
            <a:off x="76454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5" name="Line 33"/>
          <p:cNvSpPr>
            <a:spLocks noChangeShapeType="1"/>
          </p:cNvSpPr>
          <p:nvPr/>
        </p:nvSpPr>
        <p:spPr bwMode="auto">
          <a:xfrm>
            <a:off x="76454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6" name="Line 34"/>
          <p:cNvSpPr>
            <a:spLocks noChangeShapeType="1"/>
          </p:cNvSpPr>
          <p:nvPr/>
        </p:nvSpPr>
        <p:spPr bwMode="auto">
          <a:xfrm>
            <a:off x="76454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7" name="Line 35"/>
          <p:cNvSpPr>
            <a:spLocks noChangeShapeType="1"/>
          </p:cNvSpPr>
          <p:nvPr/>
        </p:nvSpPr>
        <p:spPr bwMode="auto">
          <a:xfrm>
            <a:off x="76454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8" name="Text Box 36"/>
          <p:cNvSpPr txBox="1">
            <a:spLocks noChangeArrowheads="1"/>
          </p:cNvSpPr>
          <p:nvPr/>
        </p:nvSpPr>
        <p:spPr bwMode="auto">
          <a:xfrm>
            <a:off x="79502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49" name="Text Box 37"/>
          <p:cNvSpPr txBox="1">
            <a:spLocks noChangeArrowheads="1"/>
          </p:cNvSpPr>
          <p:nvPr/>
        </p:nvSpPr>
        <p:spPr bwMode="auto">
          <a:xfrm>
            <a:off x="76454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51" name="Text Box 39"/>
          <p:cNvSpPr txBox="1">
            <a:spLocks noChangeArrowheads="1"/>
          </p:cNvSpPr>
          <p:nvPr/>
        </p:nvSpPr>
        <p:spPr bwMode="auto">
          <a:xfrm>
            <a:off x="76454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52" name="Rectangle 44"/>
          <p:cNvSpPr>
            <a:spLocks noChangeArrowheads="1"/>
          </p:cNvSpPr>
          <p:nvPr/>
        </p:nvSpPr>
        <p:spPr bwMode="auto">
          <a:xfrm>
            <a:off x="7645400" y="5514975"/>
            <a:ext cx="11430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3" name="Line 45"/>
          <p:cNvSpPr>
            <a:spLocks noChangeShapeType="1"/>
          </p:cNvSpPr>
          <p:nvPr/>
        </p:nvSpPr>
        <p:spPr bwMode="auto">
          <a:xfrm>
            <a:off x="7645400" y="516572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4" name="Text Box 46"/>
          <p:cNvSpPr txBox="1">
            <a:spLocks noChangeArrowheads="1"/>
          </p:cNvSpPr>
          <p:nvPr/>
        </p:nvSpPr>
        <p:spPr bwMode="auto">
          <a:xfrm>
            <a:off x="7645400" y="52101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process 10</a:t>
            </a:r>
          </a:p>
        </p:txBody>
      </p:sp>
      <p:sp>
        <p:nvSpPr>
          <p:cNvPr id="55" name="AutoShape 49"/>
          <p:cNvSpPr>
            <a:spLocks noChangeArrowheads="1"/>
          </p:cNvSpPr>
          <p:nvPr/>
        </p:nvSpPr>
        <p:spPr bwMode="auto">
          <a:xfrm>
            <a:off x="70358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6" name="Rectangle 44"/>
          <p:cNvSpPr>
            <a:spLocks noChangeArrowheads="1"/>
          </p:cNvSpPr>
          <p:nvPr/>
        </p:nvSpPr>
        <p:spPr bwMode="auto">
          <a:xfrm>
            <a:off x="7645400" y="4841874"/>
            <a:ext cx="1143000" cy="3524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019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Dynamic Storage-Allocation Problem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2063" y="1846263"/>
            <a:ext cx="6954837" cy="31178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3366FF"/>
                </a:solidFill>
                <a:cs typeface="+mn-cs"/>
              </a:rPr>
              <a:t>First-fit</a:t>
            </a:r>
            <a:r>
              <a:rPr lang="en-US" sz="2000" dirty="0">
                <a:cs typeface="+mn-cs"/>
              </a:rPr>
              <a:t>:  Allocate the </a:t>
            </a:r>
            <a:r>
              <a:rPr lang="en-US" sz="2000" i="1" dirty="0">
                <a:cs typeface="+mn-cs"/>
              </a:rPr>
              <a:t>first</a:t>
            </a:r>
            <a:r>
              <a:rPr lang="en-US" sz="2000" dirty="0">
                <a:cs typeface="+mn-cs"/>
              </a:rPr>
              <a:t> hole that is big enough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3366FF"/>
                </a:solidFill>
                <a:cs typeface="+mn-cs"/>
              </a:rPr>
              <a:t>Best-fit</a:t>
            </a:r>
            <a:r>
              <a:rPr lang="en-US" sz="2000" dirty="0">
                <a:cs typeface="+mn-cs"/>
              </a:rPr>
              <a:t>:  Allocate the </a:t>
            </a:r>
            <a:r>
              <a:rPr lang="en-US" sz="2000" i="1" dirty="0">
                <a:cs typeface="+mn-cs"/>
              </a:rPr>
              <a:t>smallest</a:t>
            </a:r>
            <a:r>
              <a:rPr lang="en-US" sz="2000" dirty="0">
                <a:cs typeface="+mn-cs"/>
              </a:rPr>
              <a:t> hole that is big enough; must search entire list, unless ordered by size 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/>
              <a:t>Produces the </a:t>
            </a:r>
            <a:r>
              <a:rPr lang="en-US" sz="2000" b="1" dirty="0">
                <a:solidFill>
                  <a:srgbClr val="0000FF"/>
                </a:solidFill>
              </a:rPr>
              <a:t>smallest</a:t>
            </a:r>
            <a:r>
              <a:rPr lang="en-US" sz="2000" dirty="0">
                <a:solidFill>
                  <a:srgbClr val="0000FF"/>
                </a:solidFill>
              </a:rPr>
              <a:t> leftover </a:t>
            </a:r>
            <a:r>
              <a:rPr lang="en-US" sz="2000" dirty="0"/>
              <a:t>hole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3366FF"/>
                </a:solidFill>
                <a:cs typeface="+mn-cs"/>
              </a:rPr>
              <a:t>Worst-fit</a:t>
            </a:r>
            <a:r>
              <a:rPr lang="en-US" sz="2000" dirty="0">
                <a:cs typeface="+mn-cs"/>
              </a:rPr>
              <a:t>:  Allocate the </a:t>
            </a:r>
            <a:r>
              <a:rPr lang="en-US" sz="2000" i="1" dirty="0">
                <a:cs typeface="+mn-cs"/>
              </a:rPr>
              <a:t>largest</a:t>
            </a:r>
            <a:r>
              <a:rPr lang="en-US" sz="2000" dirty="0">
                <a:cs typeface="+mn-cs"/>
              </a:rPr>
              <a:t> hole; must also search entire list 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/>
              <a:t>Produces the </a:t>
            </a:r>
            <a:r>
              <a:rPr lang="en-US" sz="2000" b="1" dirty="0">
                <a:solidFill>
                  <a:srgbClr val="0000FF"/>
                </a:solidFill>
              </a:rPr>
              <a:t>largest</a:t>
            </a:r>
            <a:r>
              <a:rPr lang="en-US" sz="2000" dirty="0">
                <a:solidFill>
                  <a:srgbClr val="0000FF"/>
                </a:solidFill>
              </a:rPr>
              <a:t> leftover </a:t>
            </a:r>
            <a:r>
              <a:rPr lang="en-US" sz="2000" dirty="0"/>
              <a:t>hole</a:t>
            </a:r>
          </a:p>
          <a:p>
            <a:pPr>
              <a:defRPr/>
            </a:pPr>
            <a:r>
              <a:rPr lang="en-US" sz="2300" b="1" dirty="0">
                <a:solidFill>
                  <a:srgbClr val="3366FF"/>
                </a:solidFill>
              </a:rPr>
              <a:t>Question</a:t>
            </a:r>
            <a:r>
              <a:rPr lang="en-US" sz="2300" dirty="0"/>
              <a:t>: how to judge a placement strategy?</a:t>
            </a:r>
          </a:p>
          <a:p>
            <a:pPr lvl="1">
              <a:defRPr/>
            </a:pPr>
            <a:r>
              <a:rPr lang="en-US" sz="2000" b="1" dirty="0">
                <a:solidFill>
                  <a:srgbClr val="3366FF"/>
                </a:solidFill>
              </a:rPr>
              <a:t>Answer</a:t>
            </a:r>
            <a:r>
              <a:rPr lang="en-US" sz="2000" dirty="0"/>
              <a:t>:  </a:t>
            </a:r>
            <a:r>
              <a:rPr lang="en-US" sz="2000" b="1" dirty="0">
                <a:solidFill>
                  <a:srgbClr val="3366FF"/>
                </a:solidFill>
              </a:rPr>
              <a:t>fragmentation</a:t>
            </a:r>
          </a:p>
          <a:p>
            <a:pPr>
              <a:defRPr/>
            </a:pPr>
            <a:endParaRPr lang="en-US" sz="2300" dirty="0"/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781050" y="1239838"/>
            <a:ext cx="653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Helvetica" charset="0"/>
                <a:cs typeface="+mn-cs"/>
              </a:rPr>
              <a:t>How to satisfy a request of size </a:t>
            </a:r>
            <a:r>
              <a:rPr lang="en-US" sz="2000" i="1">
                <a:latin typeface="Helvetica" charset="0"/>
                <a:cs typeface="+mn-cs"/>
              </a:rPr>
              <a:t>n</a:t>
            </a:r>
            <a:r>
              <a:rPr lang="en-US" sz="2000">
                <a:latin typeface="Helvetica" charset="0"/>
                <a:cs typeface="+mn-cs"/>
              </a:rPr>
              <a:t> from a list of free holes</a:t>
            </a:r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762000" y="5403919"/>
            <a:ext cx="65309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Char char="-"/>
              <a:defRPr/>
            </a:pPr>
            <a:r>
              <a:rPr lang="en-US" sz="2000" dirty="0">
                <a:latin typeface="Helvetica" charset="0"/>
                <a:cs typeface="+mn-cs"/>
              </a:rPr>
              <a:t>First-fit and best-fit better than worst-fit in terms of speed and storage utilization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17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 bldLvl="2"/>
      <p:bldP spid="7168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to evaluate a placement strategy?</a:t>
            </a:r>
          </a:p>
          <a:p>
            <a:r>
              <a:rPr lang="en-US" b="1" dirty="0">
                <a:solidFill>
                  <a:srgbClr val="3366FF"/>
                </a:solidFill>
              </a:rPr>
              <a:t>Answer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fragmentation of the memory!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There are two types of fragmentation: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External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Internal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to reduce fragmentation (Internal and External)?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in Chapter on Main Memory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Sub Section </a:t>
            </a:r>
            <a:r>
              <a:rPr lang="en-US" i="1" dirty="0">
                <a:solidFill>
                  <a:srgbClr val="0000FF"/>
                </a:solidFill>
              </a:rPr>
              <a:t>Fragmentation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Contiguous Placement Strategies</a:t>
            </a:r>
          </a:p>
        </p:txBody>
      </p:sp>
    </p:spTree>
    <p:extLst>
      <p:ext uri="{BB962C8B-B14F-4D97-AF65-F5344CB8AC3E}">
        <p14:creationId xmlns:p14="http://schemas.microsoft.com/office/powerpoint/2010/main" val="253514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Fragmentation</a:t>
            </a:r>
          </a:p>
        </p:txBody>
      </p:sp>
      <p:sp>
        <p:nvSpPr>
          <p:cNvPr id="727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92100" y="1468439"/>
            <a:ext cx="7351713" cy="3255962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b="1" dirty="0">
                <a:solidFill>
                  <a:srgbClr val="3366FF"/>
                </a:solidFill>
                <a:cs typeface="+mn-cs"/>
              </a:rPr>
              <a:t>External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cs"/>
              </a:rPr>
              <a:t>Fragmentation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cs typeface="+mn-cs"/>
              </a:rPr>
              <a:t> </a:t>
            </a:r>
            <a:r>
              <a:rPr lang="en-US" sz="2000" dirty="0">
                <a:cs typeface="+mn-cs"/>
              </a:rPr>
              <a:t>– total memory space exists to satisfy a request, but it is not contiguous</a:t>
            </a:r>
          </a:p>
          <a:p>
            <a:pPr lvl="1">
              <a:defRPr/>
            </a:pPr>
            <a:r>
              <a:rPr lang="en-US" sz="1700" dirty="0"/>
              <a:t>happens </a:t>
            </a:r>
            <a:r>
              <a:rPr lang="en-US" sz="1700" b="1" dirty="0">
                <a:solidFill>
                  <a:srgbClr val="3366FF"/>
                </a:solidFill>
              </a:rPr>
              <a:t>ALWAYS</a:t>
            </a:r>
            <a:r>
              <a:rPr lang="en-US" sz="1700" dirty="0">
                <a:solidFill>
                  <a:srgbClr val="3366FF"/>
                </a:solidFill>
              </a:rPr>
              <a:t> </a:t>
            </a:r>
            <a:r>
              <a:rPr lang="en-US" sz="1700" dirty="0"/>
              <a:t>when using </a:t>
            </a:r>
            <a:r>
              <a:rPr lang="en-US" sz="1700" b="1" dirty="0">
                <a:solidFill>
                  <a:srgbClr val="3366FF"/>
                </a:solidFill>
              </a:rPr>
              <a:t>variable</a:t>
            </a:r>
            <a:r>
              <a:rPr lang="en-US" sz="1700" dirty="0">
                <a:solidFill>
                  <a:srgbClr val="3366FF"/>
                </a:solidFill>
              </a:rPr>
              <a:t> </a:t>
            </a:r>
            <a:r>
              <a:rPr lang="en-US" sz="1700" dirty="0"/>
              <a:t>partitioning</a:t>
            </a:r>
          </a:p>
          <a:p>
            <a:pPr lvl="1">
              <a:defRPr/>
            </a:pPr>
            <a:endParaRPr lang="en-US" sz="1700" dirty="0">
              <a:cs typeface="+mn-cs"/>
            </a:endParaRPr>
          </a:p>
          <a:p>
            <a:pPr lvl="1">
              <a:defRPr/>
            </a:pPr>
            <a:endParaRPr lang="en-US" sz="1700" dirty="0"/>
          </a:p>
          <a:p>
            <a:pPr lvl="1">
              <a:defRPr/>
            </a:pPr>
            <a:endParaRPr lang="en-US" sz="1700" dirty="0">
              <a:cs typeface="+mn-cs"/>
            </a:endParaRPr>
          </a:p>
          <a:p>
            <a:pPr>
              <a:defRPr/>
            </a:pPr>
            <a:r>
              <a:rPr lang="en-US" sz="2000" b="1" dirty="0">
                <a:solidFill>
                  <a:srgbClr val="3366FF"/>
                </a:solidFill>
                <a:cs typeface="+mn-cs"/>
              </a:rPr>
              <a:t>Internal </a:t>
            </a:r>
            <a:r>
              <a:rPr lang="en-US" sz="2000" b="1" dirty="0">
                <a:solidFill>
                  <a:srgbClr val="7F7F7F"/>
                </a:solidFill>
                <a:cs typeface="+mn-cs"/>
              </a:rPr>
              <a:t>Fragmentation</a:t>
            </a:r>
            <a:r>
              <a:rPr lang="en-US" sz="2000" dirty="0">
                <a:solidFill>
                  <a:srgbClr val="7F7F7F"/>
                </a:solidFill>
                <a:cs typeface="+mn-cs"/>
              </a:rPr>
              <a:t> </a:t>
            </a:r>
            <a:r>
              <a:rPr lang="en-US" sz="2000" dirty="0">
                <a:cs typeface="+mn-cs"/>
              </a:rPr>
              <a:t>– allocated memory may be slightly larger than requested memory; this size difference is memory internal to a partition, but not being </a:t>
            </a:r>
            <a:r>
              <a:rPr lang="en-US" sz="2000" dirty="0"/>
              <a:t>used</a:t>
            </a:r>
          </a:p>
          <a:p>
            <a:pPr lvl="1">
              <a:defRPr/>
            </a:pPr>
            <a:r>
              <a:rPr lang="en-US" sz="1700" dirty="0"/>
              <a:t>happens </a:t>
            </a:r>
            <a:r>
              <a:rPr lang="en-US" sz="1700" b="1" dirty="0">
                <a:solidFill>
                  <a:srgbClr val="3366FF"/>
                </a:solidFill>
              </a:rPr>
              <a:t>ALWAYS</a:t>
            </a:r>
            <a:r>
              <a:rPr lang="en-US" sz="1700" dirty="0">
                <a:solidFill>
                  <a:srgbClr val="3366FF"/>
                </a:solidFill>
              </a:rPr>
              <a:t> </a:t>
            </a:r>
            <a:r>
              <a:rPr lang="en-US" sz="1700" dirty="0"/>
              <a:t>when using </a:t>
            </a:r>
            <a:r>
              <a:rPr lang="en-US" sz="1700" b="1" dirty="0">
                <a:solidFill>
                  <a:srgbClr val="3366FF"/>
                </a:solidFill>
              </a:rPr>
              <a:t>fixed </a:t>
            </a:r>
            <a:r>
              <a:rPr lang="en-US" sz="1700" dirty="0"/>
              <a:t>partitioning (allocation is made in fixed sizes)</a:t>
            </a:r>
            <a:endParaRPr lang="en-US" sz="2000" dirty="0">
              <a:cs typeface="+mn-cs"/>
            </a:endParaRPr>
          </a:p>
          <a:p>
            <a:pPr lvl="1">
              <a:defRPr/>
            </a:pPr>
            <a:endParaRPr lang="en-US" sz="1700" dirty="0">
              <a:cs typeface="+mn-cs"/>
            </a:endParaRPr>
          </a:p>
          <a:p>
            <a:pPr lvl="1" eaLnBrk="1" hangingPunct="1">
              <a:defRPr/>
            </a:pPr>
            <a:endParaRPr lang="en-US" sz="200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19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861300" y="4194175"/>
            <a:ext cx="1143000" cy="2133600"/>
            <a:chOff x="6934200" y="4194175"/>
            <a:chExt cx="1143000" cy="2133600"/>
          </a:xfrm>
        </p:grpSpPr>
        <p:sp>
          <p:nvSpPr>
            <p:cNvPr id="5" name="Rectangle 32"/>
            <p:cNvSpPr>
              <a:spLocks noChangeArrowheads="1"/>
            </p:cNvSpPr>
            <p:nvPr/>
          </p:nvSpPr>
          <p:spPr bwMode="auto">
            <a:xfrm>
              <a:off x="6934200" y="4194175"/>
              <a:ext cx="1143000" cy="2133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6" name="Line 33"/>
            <p:cNvSpPr>
              <a:spLocks noChangeShapeType="1"/>
            </p:cNvSpPr>
            <p:nvPr/>
          </p:nvSpPr>
          <p:spPr bwMode="auto">
            <a:xfrm>
              <a:off x="6934200" y="4557713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" name="Line 34"/>
            <p:cNvSpPr>
              <a:spLocks noChangeShapeType="1"/>
            </p:cNvSpPr>
            <p:nvPr/>
          </p:nvSpPr>
          <p:spPr bwMode="auto">
            <a:xfrm>
              <a:off x="6934200" y="4968875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8" name="Line 35"/>
            <p:cNvSpPr>
              <a:spLocks noChangeShapeType="1"/>
            </p:cNvSpPr>
            <p:nvPr/>
          </p:nvSpPr>
          <p:spPr bwMode="auto">
            <a:xfrm>
              <a:off x="6934200" y="5900738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9" name="Text Box 36"/>
            <p:cNvSpPr txBox="1">
              <a:spLocks noChangeArrowheads="1"/>
            </p:cNvSpPr>
            <p:nvPr/>
          </p:nvSpPr>
          <p:spPr bwMode="auto">
            <a:xfrm>
              <a:off x="7239000" y="4194175"/>
              <a:ext cx="4413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>
                  <a:latin typeface="Helvetica" charset="0"/>
                  <a:cs typeface="+mn-cs"/>
                </a:rPr>
                <a:t>OS</a:t>
              </a:r>
            </a:p>
          </p:txBody>
        </p:sp>
        <p:sp>
          <p:nvSpPr>
            <p:cNvPr id="10" name="Text Box 37"/>
            <p:cNvSpPr txBox="1">
              <a:spLocks noChangeArrowheads="1"/>
            </p:cNvSpPr>
            <p:nvPr/>
          </p:nvSpPr>
          <p:spPr bwMode="auto">
            <a:xfrm>
              <a:off x="6934200" y="4638675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>
                  <a:latin typeface="Helvetica" charset="0"/>
                  <a:cs typeface="+mn-cs"/>
                </a:rPr>
                <a:t>process 5</a:t>
              </a:r>
            </a:p>
          </p:txBody>
        </p:sp>
        <p:sp>
          <p:nvSpPr>
            <p:cNvPr id="11" name="Text Box 39"/>
            <p:cNvSpPr txBox="1">
              <a:spLocks noChangeArrowheads="1"/>
            </p:cNvSpPr>
            <p:nvPr/>
          </p:nvSpPr>
          <p:spPr bwMode="auto">
            <a:xfrm>
              <a:off x="6934200" y="5918200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>
                  <a:latin typeface="Helvetica" charset="0"/>
                  <a:cs typeface="+mn-cs"/>
                </a:rPr>
                <a:t>process 2</a:t>
              </a:r>
            </a:p>
          </p:txBody>
        </p:sp>
        <p:sp>
          <p:nvSpPr>
            <p:cNvPr id="12" name="Rectangle 44"/>
            <p:cNvSpPr>
              <a:spLocks noChangeArrowheads="1"/>
            </p:cNvSpPr>
            <p:nvPr/>
          </p:nvSpPr>
          <p:spPr bwMode="auto">
            <a:xfrm>
              <a:off x="6934200" y="5641975"/>
              <a:ext cx="1143000" cy="304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3" name="Line 45"/>
            <p:cNvSpPr>
              <a:spLocks noChangeShapeType="1"/>
            </p:cNvSpPr>
            <p:nvPr/>
          </p:nvSpPr>
          <p:spPr bwMode="auto">
            <a:xfrm>
              <a:off x="6934200" y="5292725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4" name="Text Box 46"/>
            <p:cNvSpPr txBox="1">
              <a:spLocks noChangeArrowheads="1"/>
            </p:cNvSpPr>
            <p:nvPr/>
          </p:nvSpPr>
          <p:spPr bwMode="auto">
            <a:xfrm>
              <a:off x="6934200" y="5337175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 dirty="0">
                  <a:latin typeface="Helvetica" charset="0"/>
                  <a:cs typeface="+mn-cs"/>
                </a:rPr>
                <a:t>process 10</a:t>
              </a:r>
            </a:p>
          </p:txBody>
        </p:sp>
        <p:sp>
          <p:nvSpPr>
            <p:cNvPr id="15" name="Rectangle 44"/>
            <p:cNvSpPr>
              <a:spLocks noChangeArrowheads="1"/>
            </p:cNvSpPr>
            <p:nvPr/>
          </p:nvSpPr>
          <p:spPr bwMode="auto">
            <a:xfrm>
              <a:off x="6934200" y="4968874"/>
              <a:ext cx="1143000" cy="352425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261100" y="5362575"/>
            <a:ext cx="1143000" cy="512762"/>
            <a:chOff x="4127500" y="5295901"/>
            <a:chExt cx="1143000" cy="512762"/>
          </a:xfrm>
        </p:grpSpPr>
        <p:sp>
          <p:nvSpPr>
            <p:cNvPr id="16" name="Text Box 46"/>
            <p:cNvSpPr txBox="1">
              <a:spLocks noChangeArrowheads="1"/>
            </p:cNvSpPr>
            <p:nvPr/>
          </p:nvSpPr>
          <p:spPr bwMode="auto">
            <a:xfrm>
              <a:off x="4178300" y="5345113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 dirty="0">
                  <a:latin typeface="Helvetica" charset="0"/>
                  <a:cs typeface="+mn-cs"/>
                </a:rPr>
                <a:t>process 11</a:t>
              </a:r>
            </a:p>
          </p:txBody>
        </p:sp>
        <p:sp>
          <p:nvSpPr>
            <p:cNvPr id="17" name="Rectangle 44"/>
            <p:cNvSpPr>
              <a:spLocks noChangeArrowheads="1"/>
            </p:cNvSpPr>
            <p:nvPr/>
          </p:nvSpPr>
          <p:spPr bwMode="auto">
            <a:xfrm>
              <a:off x="4127500" y="5295901"/>
              <a:ext cx="1143000" cy="5127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Memory Management Strategy to Choose?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193801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What is more flexible?  Variable partition or fixed partition?</a:t>
            </a:r>
          </a:p>
          <a:p>
            <a:pPr>
              <a:defRPr/>
            </a:pPr>
            <a:r>
              <a:rPr lang="en-US" sz="2000" b="1" dirty="0">
                <a:solidFill>
                  <a:srgbClr val="3366FF"/>
                </a:solidFill>
              </a:rPr>
              <a:t>Answer</a:t>
            </a:r>
            <a:r>
              <a:rPr lang="en-US" sz="2000" dirty="0"/>
              <a:t>: It seems variable partition would be more flexible.</a:t>
            </a:r>
          </a:p>
          <a:p>
            <a:pPr>
              <a:defRPr/>
            </a:pPr>
            <a:r>
              <a:rPr lang="en-US" sz="2000" dirty="0"/>
              <a:t>But, variable partition incurs external fragmentation.</a:t>
            </a:r>
          </a:p>
          <a:p>
            <a:pPr>
              <a:defRPr/>
            </a:pPr>
            <a:r>
              <a:rPr lang="en-US" sz="2000" dirty="0"/>
              <a:t>How to reduce external fragmentation?</a:t>
            </a:r>
          </a:p>
          <a:p>
            <a:pPr>
              <a:defRPr/>
            </a:pPr>
            <a:r>
              <a:rPr lang="en-US" sz="2000" b="1" dirty="0">
                <a:solidFill>
                  <a:srgbClr val="3366FF"/>
                </a:solidFill>
              </a:rPr>
              <a:t>Answer</a:t>
            </a:r>
            <a:r>
              <a:rPr lang="en-US" sz="2000" dirty="0"/>
              <a:t>:  Reduce </a:t>
            </a:r>
            <a:r>
              <a:rPr lang="en-US" sz="2000" b="1" dirty="0">
                <a:solidFill>
                  <a:srgbClr val="3366FF"/>
                </a:solidFill>
              </a:rPr>
              <a:t>external</a:t>
            </a:r>
            <a:r>
              <a:rPr lang="en-US" sz="2000" dirty="0">
                <a:solidFill>
                  <a:srgbClr val="3366FF"/>
                </a:solidFill>
              </a:rPr>
              <a:t> </a:t>
            </a:r>
            <a:r>
              <a:rPr lang="en-US" sz="2000" dirty="0"/>
              <a:t>fragmentation by </a:t>
            </a:r>
            <a:r>
              <a:rPr lang="en-US" sz="2000" b="1" dirty="0">
                <a:solidFill>
                  <a:srgbClr val="3366FF"/>
                </a:solidFill>
              </a:rPr>
              <a:t>compaction</a:t>
            </a:r>
          </a:p>
          <a:p>
            <a:pPr lvl="1">
              <a:defRPr/>
            </a:pPr>
            <a:r>
              <a:rPr lang="en-US" sz="2000" dirty="0"/>
              <a:t>Shuffle memory contents to place all free memory together in one large block</a:t>
            </a:r>
          </a:p>
          <a:p>
            <a:pPr lvl="1">
              <a:defRPr/>
            </a:pPr>
            <a:r>
              <a:rPr lang="en-US" sz="2000" dirty="0"/>
              <a:t>Compaction is possible </a:t>
            </a:r>
            <a:r>
              <a:rPr lang="en-US" sz="2000" i="1" dirty="0"/>
              <a:t>only</a:t>
            </a:r>
            <a:r>
              <a:rPr lang="en-US" sz="2000" dirty="0"/>
              <a:t> if </a:t>
            </a:r>
            <a:r>
              <a:rPr lang="en-US" sz="2000" dirty="0">
                <a:solidFill>
                  <a:srgbClr val="3366FF"/>
                </a:solidFill>
              </a:rPr>
              <a:t>relocation is dynamic</a:t>
            </a:r>
            <a:r>
              <a:rPr lang="en-US" sz="2000" dirty="0"/>
              <a:t>, and is done at </a:t>
            </a:r>
            <a:r>
              <a:rPr lang="en-US" sz="2000" dirty="0">
                <a:solidFill>
                  <a:srgbClr val="3366FF"/>
                </a:solidFill>
              </a:rPr>
              <a:t>execution time</a:t>
            </a:r>
          </a:p>
          <a:p>
            <a:pPr lvl="1">
              <a:defRPr/>
            </a:pPr>
            <a:endParaRPr lang="en-US" sz="2000" dirty="0">
              <a:solidFill>
                <a:srgbClr val="3366FF"/>
              </a:solidFill>
            </a:endParaRPr>
          </a:p>
          <a:p>
            <a:pPr>
              <a:defRPr/>
            </a:pPr>
            <a:r>
              <a:rPr lang="en-US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But, </a:t>
            </a:r>
            <a:r>
              <a:rPr lang="en-US" sz="2300" b="1" dirty="0">
                <a:solidFill>
                  <a:srgbClr val="3366FF"/>
                </a:solidFill>
              </a:rPr>
              <a:t>compaction is costly</a:t>
            </a:r>
            <a:r>
              <a:rPr lang="en-US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</a:p>
          <a:p>
            <a:pPr lvl="1">
              <a:defRPr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Computing how to shuffle around pieces, and</a:t>
            </a:r>
          </a:p>
          <a:p>
            <a:pPr lvl="1">
              <a:defRPr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Transfer time to move data in memory</a:t>
            </a:r>
          </a:p>
          <a:p>
            <a:pPr lvl="1">
              <a:defRPr/>
            </a:pP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defRPr/>
            </a:pPr>
            <a:r>
              <a:rPr lang="en-US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So, what to do?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7850E7-7C6C-754D-81F8-C814130E13C9}" type="slidenum">
              <a:rPr lang="en-US" smtClean="0"/>
              <a:pPr algn="r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86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Do To Have Flexibility and Avoid Compaction?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00" y="1003301"/>
            <a:ext cx="8229600" cy="1015999"/>
          </a:xfrm>
        </p:spPr>
        <p:txBody>
          <a:bodyPr/>
          <a:lstStyle/>
          <a:p>
            <a:r>
              <a:rPr lang="en-US" b="1" dirty="0">
                <a:solidFill>
                  <a:srgbClr val="3366FF"/>
                </a:solidFill>
              </a:rPr>
              <a:t>Give up </a:t>
            </a:r>
            <a:r>
              <a:rPr lang="en-US" dirty="0"/>
              <a:t>the requirement of </a:t>
            </a:r>
            <a:r>
              <a:rPr lang="en-US" b="1" dirty="0">
                <a:solidFill>
                  <a:srgbClr val="3366FF"/>
                </a:solidFill>
              </a:rPr>
              <a:t>contiguous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placement! Meaning:</a:t>
            </a:r>
          </a:p>
          <a:p>
            <a:r>
              <a:rPr lang="en-US" dirty="0"/>
              <a:t>Cut the user program in “small” fixed size “pieces” and scatter them in the physical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7850E7-7C6C-754D-81F8-C814130E13C9}" type="slidenum">
              <a:rPr lang="en-US" smtClean="0"/>
              <a:pPr algn="r"/>
              <a:t>21</a:t>
            </a:fld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8" t="639" r="20580" b="639"/>
          <a:stretch>
            <a:fillRect/>
          </a:stretch>
        </p:blipFill>
        <p:spPr bwMode="auto">
          <a:xfrm>
            <a:off x="1901825" y="1982788"/>
            <a:ext cx="3617913" cy="45053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276600" y="2578100"/>
            <a:ext cx="1117600" cy="135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67300" y="2578100"/>
            <a:ext cx="279400" cy="1104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067300" y="4673600"/>
            <a:ext cx="279400" cy="1104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714500" y="4038600"/>
            <a:ext cx="1397000" cy="4445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368800" y="6134101"/>
            <a:ext cx="1397000" cy="4445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768600" y="2311400"/>
            <a:ext cx="2120900" cy="261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806700" y="2844800"/>
            <a:ext cx="2120900" cy="261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667000" y="2946400"/>
            <a:ext cx="2260600" cy="48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667000" y="3429000"/>
            <a:ext cx="2260600" cy="48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96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Keep Track of the Small “Pieces”?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00" y="1003301"/>
            <a:ext cx="8229600" cy="1015999"/>
          </a:xfrm>
        </p:spPr>
        <p:txBody>
          <a:bodyPr/>
          <a:lstStyle/>
          <a:p>
            <a:r>
              <a:rPr lang="en-US" dirty="0"/>
              <a:t>Small pieces in the </a:t>
            </a:r>
            <a:r>
              <a:rPr lang="en-US" b="1" dirty="0">
                <a:solidFill>
                  <a:srgbClr val="0000FF"/>
                </a:solidFill>
              </a:rPr>
              <a:t>logical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space are called </a:t>
            </a:r>
            <a:r>
              <a:rPr lang="en-US" b="1" dirty="0">
                <a:solidFill>
                  <a:srgbClr val="3366FF"/>
                </a:solidFill>
              </a:rPr>
              <a:t>PAGES</a:t>
            </a:r>
            <a:r>
              <a:rPr lang="en-US" dirty="0"/>
              <a:t>. We number them.</a:t>
            </a:r>
          </a:p>
          <a:p>
            <a:r>
              <a:rPr lang="en-US" dirty="0"/>
              <a:t>Small pieces in the </a:t>
            </a:r>
            <a:r>
              <a:rPr lang="en-US" b="1" dirty="0">
                <a:solidFill>
                  <a:srgbClr val="0000FF"/>
                </a:solidFill>
              </a:rPr>
              <a:t>physical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space are called </a:t>
            </a:r>
            <a:r>
              <a:rPr lang="en-US" b="1" dirty="0">
                <a:solidFill>
                  <a:srgbClr val="3366FF"/>
                </a:solidFill>
              </a:rPr>
              <a:t>FRAMES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7850E7-7C6C-754D-81F8-C814130E13C9}" type="slidenum">
              <a:rPr lang="en-US" smtClean="0"/>
              <a:pPr algn="r"/>
              <a:t>22</a:t>
            </a:fld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8" t="639" r="20580" b="639"/>
          <a:stretch>
            <a:fillRect/>
          </a:stretch>
        </p:blipFill>
        <p:spPr bwMode="auto">
          <a:xfrm>
            <a:off x="1901825" y="1982788"/>
            <a:ext cx="3617913" cy="45053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067300" y="2578100"/>
            <a:ext cx="279400" cy="1104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067300" y="4673600"/>
            <a:ext cx="279400" cy="1104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714500" y="4038600"/>
            <a:ext cx="1397000" cy="4445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368800" y="6134101"/>
            <a:ext cx="1397000" cy="4445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92100" y="3111500"/>
            <a:ext cx="79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Pages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990841" y="2298700"/>
            <a:ext cx="1142759" cy="1638300"/>
            <a:chOff x="990841" y="2298700"/>
            <a:chExt cx="1142759" cy="1638300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990841" y="2298700"/>
              <a:ext cx="1142759" cy="9652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V="1">
              <a:off x="990841" y="2882900"/>
              <a:ext cx="1142759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1" idx="3"/>
            </p:cNvCxnSpPr>
            <p:nvPr/>
          </p:nvCxnSpPr>
          <p:spPr>
            <a:xfrm>
              <a:off x="1087773" y="3296166"/>
              <a:ext cx="944227" cy="820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1" idx="3"/>
            </p:cNvCxnSpPr>
            <p:nvPr/>
          </p:nvCxnSpPr>
          <p:spPr>
            <a:xfrm>
              <a:off x="1087773" y="3296166"/>
              <a:ext cx="944227" cy="6408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2400300" y="1675011"/>
            <a:ext cx="1422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3366FF"/>
                </a:solidFill>
              </a:rPr>
              <a:t>Page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3322" y="2094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6022" y="2602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8722" y="3110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41422" y="3618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9300" y="3249136"/>
            <a:ext cx="992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Frames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5905500" y="2298700"/>
            <a:ext cx="1079500" cy="3683000"/>
            <a:chOff x="5905500" y="2298700"/>
            <a:chExt cx="1079500" cy="3683000"/>
          </a:xfrm>
        </p:grpSpPr>
        <p:cxnSp>
          <p:nvCxnSpPr>
            <p:cNvPr id="27" name="Straight Arrow Connector 26"/>
            <p:cNvCxnSpPr/>
            <p:nvPr/>
          </p:nvCxnSpPr>
          <p:spPr>
            <a:xfrm flipH="1" flipV="1">
              <a:off x="6007100" y="2298700"/>
              <a:ext cx="977900" cy="11811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 flipV="1">
              <a:off x="6007100" y="2882900"/>
              <a:ext cx="977900" cy="5979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 flipV="1">
              <a:off x="6007100" y="3378200"/>
              <a:ext cx="977900" cy="1016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H="1">
              <a:off x="5905500" y="3479800"/>
              <a:ext cx="1079500" cy="457200"/>
            </a:xfrm>
            <a:prstGeom prst="straightConnector1">
              <a:avLst/>
            </a:prstGeom>
            <a:ln>
              <a:prstDash val="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6032500" y="3480832"/>
              <a:ext cx="952500" cy="1751568"/>
            </a:xfrm>
            <a:prstGeom prst="straightConnector1">
              <a:avLst/>
            </a:prstGeom>
            <a:ln>
              <a:prstDash val="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5905500" y="3480832"/>
              <a:ext cx="1079500" cy="250086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/>
          <p:cNvSpPr txBox="1"/>
          <p:nvPr/>
        </p:nvSpPr>
        <p:spPr>
          <a:xfrm>
            <a:off x="5092700" y="1613456"/>
            <a:ext cx="1575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Frame Numbers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10959" y="21267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23659" y="2634734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6359" y="31427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059" y="37269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8600" y="41793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6241" y="4687332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5195332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6700" y="57795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53" name="Oval 52"/>
          <p:cNvSpPr/>
          <p:nvPr/>
        </p:nvSpPr>
        <p:spPr>
          <a:xfrm>
            <a:off x="3263900" y="3479800"/>
            <a:ext cx="927100" cy="247134"/>
          </a:xfrm>
          <a:prstGeom prst="ellipse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200222" y="2679700"/>
            <a:ext cx="1117600" cy="135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5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  <p:bldP spid="10" grpId="0" animBg="1"/>
      <p:bldP spid="11" grpId="0"/>
      <p:bldP spid="20" grpId="0"/>
      <p:bldP spid="21" grpId="0"/>
      <p:bldP spid="22" grpId="0"/>
      <p:bldP spid="23" grpId="0"/>
      <p:bldP spid="24" grpId="0"/>
      <p:bldP spid="25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3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Keep Track of the Small “Pieces”?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00" y="1003301"/>
            <a:ext cx="8229600" cy="1015999"/>
          </a:xfrm>
        </p:spPr>
        <p:txBody>
          <a:bodyPr/>
          <a:lstStyle/>
          <a:p>
            <a:r>
              <a:rPr lang="en-US" dirty="0"/>
              <a:t>Small pieces in the </a:t>
            </a:r>
            <a:r>
              <a:rPr lang="en-US" b="1" dirty="0">
                <a:solidFill>
                  <a:srgbClr val="0000FF"/>
                </a:solidFill>
              </a:rPr>
              <a:t>logical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space are called </a:t>
            </a:r>
            <a:r>
              <a:rPr lang="en-US" b="1" dirty="0">
                <a:solidFill>
                  <a:srgbClr val="3366FF"/>
                </a:solidFill>
              </a:rPr>
              <a:t>PAGES</a:t>
            </a:r>
            <a:r>
              <a:rPr lang="en-US" dirty="0"/>
              <a:t>. We number them.</a:t>
            </a:r>
          </a:p>
          <a:p>
            <a:r>
              <a:rPr lang="en-US" dirty="0"/>
              <a:t>Small pieces in the </a:t>
            </a:r>
            <a:r>
              <a:rPr lang="en-US" b="1" dirty="0">
                <a:solidFill>
                  <a:srgbClr val="0000FF"/>
                </a:solidFill>
              </a:rPr>
              <a:t>physical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space are called </a:t>
            </a:r>
            <a:r>
              <a:rPr lang="en-US" b="1" dirty="0">
                <a:solidFill>
                  <a:srgbClr val="3366FF"/>
                </a:solidFill>
              </a:rPr>
              <a:t>FRAMES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50E7-7C6C-754D-81F8-C814130E13C9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8" t="639" r="20580" b="639"/>
          <a:stretch>
            <a:fillRect/>
          </a:stretch>
        </p:blipFill>
        <p:spPr bwMode="auto">
          <a:xfrm>
            <a:off x="1901825" y="1982788"/>
            <a:ext cx="3617913" cy="45053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" name="Oval 8"/>
          <p:cNvSpPr/>
          <p:nvPr/>
        </p:nvSpPr>
        <p:spPr>
          <a:xfrm>
            <a:off x="1714500" y="4038600"/>
            <a:ext cx="1397000" cy="4445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368800" y="6134101"/>
            <a:ext cx="1397000" cy="4445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92100" y="3111500"/>
            <a:ext cx="79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Pages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990841" y="2298700"/>
            <a:ext cx="1142759" cy="1638300"/>
            <a:chOff x="990841" y="2298700"/>
            <a:chExt cx="1142759" cy="1638300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990841" y="2298700"/>
              <a:ext cx="1142759" cy="9652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V="1">
              <a:off x="990841" y="2882900"/>
              <a:ext cx="1142759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1" idx="3"/>
            </p:cNvCxnSpPr>
            <p:nvPr/>
          </p:nvCxnSpPr>
          <p:spPr>
            <a:xfrm>
              <a:off x="1087773" y="3296166"/>
              <a:ext cx="944227" cy="820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1" idx="3"/>
            </p:cNvCxnSpPr>
            <p:nvPr/>
          </p:nvCxnSpPr>
          <p:spPr>
            <a:xfrm>
              <a:off x="1087773" y="3296166"/>
              <a:ext cx="944227" cy="6408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2400300" y="1675011"/>
            <a:ext cx="1422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3366FF"/>
                </a:solidFill>
              </a:rPr>
              <a:t>Page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3322" y="2094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6022" y="2602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8722" y="3110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41422" y="3618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9300" y="3249136"/>
            <a:ext cx="992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Frames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5905500" y="2298700"/>
            <a:ext cx="1079500" cy="3683000"/>
            <a:chOff x="5905500" y="2298700"/>
            <a:chExt cx="1079500" cy="3683000"/>
          </a:xfrm>
        </p:grpSpPr>
        <p:cxnSp>
          <p:nvCxnSpPr>
            <p:cNvPr id="27" name="Straight Arrow Connector 26"/>
            <p:cNvCxnSpPr/>
            <p:nvPr/>
          </p:nvCxnSpPr>
          <p:spPr>
            <a:xfrm flipH="1" flipV="1">
              <a:off x="6007100" y="2298700"/>
              <a:ext cx="977900" cy="11811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 flipV="1">
              <a:off x="6007100" y="2882900"/>
              <a:ext cx="977900" cy="5979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 flipV="1">
              <a:off x="6007100" y="3378200"/>
              <a:ext cx="977900" cy="1016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H="1">
              <a:off x="5905500" y="3479800"/>
              <a:ext cx="1079500" cy="457200"/>
            </a:xfrm>
            <a:prstGeom prst="straightConnector1">
              <a:avLst/>
            </a:prstGeom>
            <a:ln>
              <a:prstDash val="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6032500" y="3480832"/>
              <a:ext cx="952500" cy="1751568"/>
            </a:xfrm>
            <a:prstGeom prst="straightConnector1">
              <a:avLst/>
            </a:prstGeom>
            <a:ln>
              <a:prstDash val="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5905500" y="3480832"/>
              <a:ext cx="1079500" cy="250086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/>
          <p:cNvSpPr txBox="1"/>
          <p:nvPr/>
        </p:nvSpPr>
        <p:spPr>
          <a:xfrm>
            <a:off x="5092700" y="1613456"/>
            <a:ext cx="1575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Frame Numbers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10959" y="21267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23659" y="2634734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6359" y="31427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059" y="37269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8600" y="41793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6241" y="4687332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5195332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6700" y="57795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53" name="Oval 52"/>
          <p:cNvSpPr/>
          <p:nvPr/>
        </p:nvSpPr>
        <p:spPr>
          <a:xfrm>
            <a:off x="3263900" y="3479800"/>
            <a:ext cx="927100" cy="247134"/>
          </a:xfrm>
          <a:prstGeom prst="ellipse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98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Paging?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does it work?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Benefits and drawbacks (Overhead)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in Chapter on Main Memory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Section </a:t>
            </a:r>
            <a:r>
              <a:rPr lang="en-US" i="1" dirty="0">
                <a:solidFill>
                  <a:srgbClr val="0000FF"/>
                </a:solidFill>
              </a:rPr>
              <a:t>Paging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</a:t>
            </a:r>
          </a:p>
        </p:txBody>
      </p:sp>
    </p:spTree>
    <p:extLst>
      <p:ext uri="{BB962C8B-B14F-4D97-AF65-F5344CB8AC3E}">
        <p14:creationId xmlns:p14="http://schemas.microsoft.com/office/powerpoint/2010/main" val="238678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Paging</a:t>
            </a:r>
          </a:p>
        </p:txBody>
      </p:sp>
      <p:sp>
        <p:nvSpPr>
          <p:cNvPr id="737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6883400" cy="4524375"/>
          </a:xfrm>
        </p:spPr>
        <p:txBody>
          <a:bodyPr/>
          <a:lstStyle/>
          <a:p>
            <a:pPr>
              <a:defRPr/>
            </a:pPr>
            <a:r>
              <a:rPr lang="en-US" sz="1600" dirty="0"/>
              <a:t>Logical address space of a process can be noncontiguous: it is divided in equal size pieces called </a:t>
            </a:r>
            <a:r>
              <a:rPr lang="en-US" sz="1600" b="1" dirty="0">
                <a:solidFill>
                  <a:srgbClr val="0000FF"/>
                </a:solidFill>
              </a:rPr>
              <a:t>pages </a:t>
            </a:r>
            <a:r>
              <a:rPr lang="en-US" sz="1600" dirty="0"/>
              <a:t>(size is </a:t>
            </a:r>
            <a:r>
              <a:rPr lang="en-US" sz="1600" b="1" dirty="0">
                <a:solidFill>
                  <a:srgbClr val="0000FF"/>
                </a:solidFill>
              </a:rPr>
              <a:t>power of 2</a:t>
            </a:r>
            <a:r>
              <a:rPr lang="en-US" sz="1600" dirty="0"/>
              <a:t>, between 512 bytes and 8,192 bytes).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r>
              <a:rPr lang="en-US" sz="1600" dirty="0"/>
              <a:t> The physical memory is divided into blocks of </a:t>
            </a:r>
            <a:r>
              <a:rPr lang="en-US" sz="1600" b="1" dirty="0">
                <a:solidFill>
                  <a:srgbClr val="3366FF"/>
                </a:solidFill>
              </a:rPr>
              <a:t>same size </a:t>
            </a:r>
            <a:r>
              <a:rPr lang="en-US" sz="1600" dirty="0"/>
              <a:t>(as pages) called </a:t>
            </a:r>
            <a:r>
              <a:rPr lang="en-US" sz="1600" b="1" dirty="0">
                <a:solidFill>
                  <a:srgbClr val="0000FF"/>
                </a:solidFill>
              </a:rPr>
              <a:t>frames. </a:t>
            </a:r>
          </a:p>
          <a:p>
            <a:pPr eaLnBrk="1" hangingPunct="1">
              <a:defRPr/>
            </a:pPr>
            <a:endParaRPr lang="en-US" sz="1600" dirty="0"/>
          </a:p>
          <a:p>
            <a:pPr eaLnBrk="1" hangingPunct="1">
              <a:defRPr/>
            </a:pPr>
            <a:r>
              <a:rPr lang="en-US" sz="1600" dirty="0"/>
              <a:t>The process is allocated physical memory whenever there are enough available </a:t>
            </a:r>
            <a:r>
              <a:rPr lang="en-US" sz="1600" b="1" dirty="0">
                <a:solidFill>
                  <a:srgbClr val="0000FF"/>
                </a:solidFill>
              </a:rPr>
              <a:t>frames</a:t>
            </a:r>
            <a:r>
              <a:rPr lang="en-US" sz="1600" dirty="0"/>
              <a:t>, even scattered.</a:t>
            </a:r>
          </a:p>
          <a:p>
            <a:pPr marL="0" indent="0" eaLnBrk="1" hangingPunct="1">
              <a:buNone/>
              <a:defRPr/>
            </a:pPr>
            <a:endParaRPr lang="en-US" sz="1600" dirty="0"/>
          </a:p>
          <a:p>
            <a:pPr eaLnBrk="1" hangingPunct="1">
              <a:defRPr/>
            </a:pPr>
            <a:r>
              <a:rPr lang="en-US" sz="1600" dirty="0"/>
              <a:t>Keep track of all free frames</a:t>
            </a:r>
          </a:p>
          <a:p>
            <a:pPr eaLnBrk="1" hangingPunct="1">
              <a:defRPr/>
            </a:pPr>
            <a:endParaRPr lang="en-US" sz="1600" dirty="0"/>
          </a:p>
          <a:p>
            <a:pPr eaLnBrk="1" hangingPunct="1">
              <a:defRPr/>
            </a:pPr>
            <a:r>
              <a:rPr lang="en-US" sz="1600" dirty="0"/>
              <a:t>To run a program of size </a:t>
            </a:r>
            <a:r>
              <a:rPr lang="en-US" sz="1600" b="1" i="1" dirty="0">
                <a:solidFill>
                  <a:srgbClr val="FF0000"/>
                </a:solidFill>
              </a:rPr>
              <a:t>n</a:t>
            </a:r>
            <a:r>
              <a:rPr lang="en-US" sz="1600" dirty="0"/>
              <a:t> pages, need to find </a:t>
            </a:r>
            <a:r>
              <a:rPr lang="en-US" sz="1600" i="1" dirty="0"/>
              <a:t>n</a:t>
            </a:r>
            <a:r>
              <a:rPr lang="en-US" sz="1600" dirty="0"/>
              <a:t> free frames and load program</a:t>
            </a:r>
          </a:p>
          <a:p>
            <a:pPr eaLnBrk="1" hangingPunct="1">
              <a:defRPr/>
            </a:pPr>
            <a:endParaRPr lang="en-US" sz="1600" dirty="0"/>
          </a:p>
          <a:p>
            <a:pPr eaLnBrk="1" hangingPunct="1">
              <a:defRPr/>
            </a:pPr>
            <a:r>
              <a:rPr lang="en-US" sz="1600" dirty="0"/>
              <a:t>Set up a </a:t>
            </a:r>
            <a:r>
              <a:rPr lang="en-US" sz="1600" b="1" dirty="0">
                <a:solidFill>
                  <a:srgbClr val="3366FF"/>
                </a:solidFill>
              </a:rPr>
              <a:t>page table </a:t>
            </a:r>
            <a:r>
              <a:rPr lang="en-US" sz="1600" dirty="0"/>
              <a:t>to translate (</a:t>
            </a:r>
            <a:r>
              <a:rPr lang="en-US" sz="1600" b="1" dirty="0">
                <a:solidFill>
                  <a:srgbClr val="3366FF"/>
                </a:solidFill>
              </a:rPr>
              <a:t>map</a:t>
            </a:r>
            <a:r>
              <a:rPr lang="en-US" sz="1600" dirty="0"/>
              <a:t>)  logical to physical addresses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25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7F7F7F"/>
                </a:solidFill>
                <a:cs typeface="+mj-cs"/>
              </a:rPr>
              <a:t>Example 2: Paging Model of Logical and Physical Memory</a:t>
            </a:r>
            <a:endParaRPr lang="en-US" sz="2000" dirty="0">
              <a:solidFill>
                <a:srgbClr val="7F7F7F"/>
              </a:solidFill>
              <a:cs typeface="+mj-cs"/>
            </a:endParaRPr>
          </a:p>
        </p:txBody>
      </p:sp>
      <p:pic>
        <p:nvPicPr>
          <p:cNvPr id="6" name="Picture 10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1" t="623" r="10611" b="951"/>
          <a:stretch>
            <a:fillRect/>
          </a:stretch>
        </p:blipFill>
        <p:spPr bwMode="auto">
          <a:xfrm>
            <a:off x="2225675" y="1824038"/>
            <a:ext cx="4429125" cy="413861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26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30900" y="2679700"/>
            <a:ext cx="723900" cy="3429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930900" y="3454400"/>
            <a:ext cx="723900" cy="4445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30900" y="3860800"/>
            <a:ext cx="723900" cy="4445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30900" y="5092700"/>
            <a:ext cx="723900" cy="4445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5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Address Translation Scheme: How to Translate?</a:t>
            </a:r>
          </a:p>
        </p:txBody>
      </p:sp>
      <p:sp>
        <p:nvSpPr>
          <p:cNvPr id="7475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6808788" cy="5073650"/>
          </a:xfrm>
        </p:spPr>
        <p:txBody>
          <a:bodyPr/>
          <a:lstStyle/>
          <a:p>
            <a:pPr marL="137160" lvl="1">
              <a:spcBef>
                <a:spcPts val="900"/>
              </a:spcBef>
              <a:spcAft>
                <a:spcPts val="0"/>
              </a:spcAft>
              <a:defRPr/>
            </a:pPr>
            <a:r>
              <a:rPr lang="en-US" sz="2000" dirty="0">
                <a:cs typeface="+mn-cs"/>
              </a:rPr>
              <a:t>Consider a CPU with </a:t>
            </a:r>
            <a:r>
              <a:rPr lang="en-US" sz="2000" dirty="0"/>
              <a:t>an address bus of size is </a:t>
            </a:r>
            <a:r>
              <a:rPr lang="en-US" sz="2000" b="1" dirty="0">
                <a:solidFill>
                  <a:srgbClr val="0000FF"/>
                </a:solidFill>
              </a:rPr>
              <a:t>m</a:t>
            </a:r>
            <a:r>
              <a:rPr lang="en-US" sz="2000" dirty="0"/>
              <a:t> bits </a:t>
            </a:r>
          </a:p>
          <a:p>
            <a:pPr marL="137160" lvl="1">
              <a:spcBef>
                <a:spcPts val="900"/>
              </a:spcBef>
              <a:spcAft>
                <a:spcPts val="0"/>
              </a:spcAft>
              <a:defRPr/>
            </a:pPr>
            <a:r>
              <a:rPr lang="en-US" sz="2000" dirty="0"/>
              <a:t> Page size = 2</a:t>
            </a:r>
            <a:r>
              <a:rPr lang="en-US" sz="2000" b="1" baseline="30000" dirty="0">
                <a:solidFill>
                  <a:srgbClr val="0000FF"/>
                </a:solidFill>
              </a:rPr>
              <a:t>n</a:t>
            </a:r>
            <a:endParaRPr lang="en-US" sz="2000" dirty="0"/>
          </a:p>
          <a:p>
            <a:pPr eaLnBrk="1" hangingPunct="1">
              <a:defRPr/>
            </a:pPr>
            <a:r>
              <a:rPr lang="en-US" sz="2000" dirty="0">
                <a:cs typeface="+mn-cs"/>
              </a:rPr>
              <a:t>Address of an item generated by CPU is divided into:</a:t>
            </a:r>
            <a:br>
              <a:rPr lang="en-US" sz="2000" dirty="0">
                <a:cs typeface="+mn-cs"/>
              </a:rPr>
            </a:br>
            <a:endParaRPr lang="en-US" sz="2000" dirty="0">
              <a:cs typeface="+mn-cs"/>
            </a:endParaRPr>
          </a:p>
          <a:p>
            <a:pPr lvl="1">
              <a:defRPr/>
            </a:pPr>
            <a:r>
              <a:rPr lang="en-US" sz="2000" b="1" dirty="0"/>
              <a:t>Page offset (d)</a:t>
            </a:r>
            <a:r>
              <a:rPr lang="en-US" sz="2000" dirty="0"/>
              <a:t> – provides the offset (position) of the item inside the page. </a:t>
            </a:r>
            <a:r>
              <a:rPr lang="en-US" sz="2000" dirty="0">
                <a:solidFill>
                  <a:srgbClr val="3366FF"/>
                </a:solidFill>
              </a:rPr>
              <a:t>Offset = Logical Address % Page Size</a:t>
            </a:r>
          </a:p>
          <a:p>
            <a:pPr lvl="1" eaLnBrk="1" hangingPunct="1">
              <a:defRPr/>
            </a:pPr>
            <a:endParaRPr lang="en-US" sz="2000" b="1" dirty="0"/>
          </a:p>
          <a:p>
            <a:pPr lvl="1" eaLnBrk="1" hangingPunct="1">
              <a:defRPr/>
            </a:pPr>
            <a:r>
              <a:rPr lang="en-US" sz="2000" b="1" dirty="0"/>
              <a:t>Page number (</a:t>
            </a:r>
            <a:r>
              <a:rPr lang="en-US" sz="2000" b="1" i="1" dirty="0"/>
              <a:t>p</a:t>
            </a:r>
            <a:r>
              <a:rPr lang="en-US" sz="2000" b="1" dirty="0"/>
              <a:t>)</a:t>
            </a:r>
            <a:r>
              <a:rPr lang="en-US" sz="2000" dirty="0"/>
              <a:t> – used as an index into a </a:t>
            </a:r>
            <a:r>
              <a:rPr lang="en-US" sz="2000" i="1" dirty="0"/>
              <a:t>page</a:t>
            </a:r>
            <a:r>
              <a:rPr lang="en-US" sz="2000" dirty="0"/>
              <a:t> </a:t>
            </a:r>
            <a:r>
              <a:rPr lang="en-US" sz="2000" i="1" dirty="0"/>
              <a:t>table</a:t>
            </a:r>
            <a:r>
              <a:rPr lang="en-US" sz="2000" dirty="0"/>
              <a:t> which contains the frame number. </a:t>
            </a:r>
            <a:r>
              <a:rPr lang="en-US" sz="2000" dirty="0">
                <a:solidFill>
                  <a:srgbClr val="3366FF"/>
                </a:solidFill>
              </a:rPr>
              <a:t>Page Number = Logical Address / Page Size</a:t>
            </a:r>
          </a:p>
          <a:p>
            <a:pPr lvl="1" eaLnBrk="1" hangingPunct="1">
              <a:defRPr/>
            </a:pPr>
            <a:endParaRPr lang="en-US" sz="2000" dirty="0">
              <a:solidFill>
                <a:srgbClr val="3366FF"/>
              </a:solidFill>
            </a:endParaRPr>
          </a:p>
          <a:p>
            <a:pPr lvl="1" eaLnBrk="1" hangingPunct="1">
              <a:defRPr/>
            </a:pPr>
            <a:endParaRPr lang="en-US" sz="2000" dirty="0"/>
          </a:p>
          <a:p>
            <a:pPr lvl="1" eaLnBrk="1" hangingPunct="1">
              <a:defRPr/>
            </a:pPr>
            <a:endParaRPr lang="en-US" sz="2000" dirty="0"/>
          </a:p>
          <a:p>
            <a:pPr lvl="1" eaLnBrk="1" hangingPunct="1">
              <a:defRPr/>
            </a:pPr>
            <a:endParaRPr lang="en-US" sz="2000" dirty="0"/>
          </a:p>
          <a:p>
            <a:pPr lvl="1" eaLnBrk="1" hangingPunct="1">
              <a:defRPr/>
            </a:pPr>
            <a:endParaRPr lang="en-US" sz="2000" dirty="0"/>
          </a:p>
        </p:txBody>
      </p:sp>
      <p:sp>
        <p:nvSpPr>
          <p:cNvPr id="74756" name="Rectangle 1028"/>
          <p:cNvSpPr>
            <a:spLocks noChangeArrowheads="1"/>
          </p:cNvSpPr>
          <p:nvPr/>
        </p:nvSpPr>
        <p:spPr bwMode="auto">
          <a:xfrm>
            <a:off x="2592388" y="5170488"/>
            <a:ext cx="3105150" cy="4381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4758" name="Line 1030"/>
          <p:cNvSpPr>
            <a:spLocks noChangeShapeType="1"/>
          </p:cNvSpPr>
          <p:nvPr/>
        </p:nvSpPr>
        <p:spPr bwMode="auto">
          <a:xfrm>
            <a:off x="4225925" y="51704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4759" name="Text Box 1031"/>
          <p:cNvSpPr txBox="1">
            <a:spLocks noChangeArrowheads="1"/>
          </p:cNvSpPr>
          <p:nvPr/>
        </p:nvSpPr>
        <p:spPr bwMode="auto">
          <a:xfrm>
            <a:off x="2605088" y="4724400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Helvetica" charset="0"/>
                <a:cs typeface="+mn-cs"/>
              </a:rPr>
              <a:t>page number</a:t>
            </a:r>
          </a:p>
        </p:txBody>
      </p:sp>
      <p:sp>
        <p:nvSpPr>
          <p:cNvPr id="74760" name="Text Box 1032"/>
          <p:cNvSpPr txBox="1">
            <a:spLocks noChangeArrowheads="1"/>
          </p:cNvSpPr>
          <p:nvPr/>
        </p:nvSpPr>
        <p:spPr bwMode="auto">
          <a:xfrm>
            <a:off x="4297363" y="4708525"/>
            <a:ext cx="1314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latin typeface="Helvetica" charset="0"/>
                <a:cs typeface="+mn-cs"/>
              </a:rPr>
              <a:t>page offset</a:t>
            </a:r>
          </a:p>
        </p:txBody>
      </p:sp>
      <p:sp>
        <p:nvSpPr>
          <p:cNvPr id="74761" name="Text Box 1033"/>
          <p:cNvSpPr txBox="1">
            <a:spLocks noChangeArrowheads="1"/>
          </p:cNvSpPr>
          <p:nvPr/>
        </p:nvSpPr>
        <p:spPr bwMode="auto">
          <a:xfrm>
            <a:off x="3146425" y="51831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i="1">
                <a:latin typeface="Helvetica" charset="0"/>
                <a:cs typeface="+mn-cs"/>
              </a:rPr>
              <a:t>p</a:t>
            </a:r>
            <a:endParaRPr lang="en-US">
              <a:latin typeface="Helvetica" charset="0"/>
              <a:cs typeface="+mn-cs"/>
            </a:endParaRPr>
          </a:p>
        </p:txBody>
      </p:sp>
      <p:sp>
        <p:nvSpPr>
          <p:cNvPr id="74763" name="Text Box 1035"/>
          <p:cNvSpPr txBox="1">
            <a:spLocks noChangeArrowheads="1"/>
          </p:cNvSpPr>
          <p:nvPr/>
        </p:nvSpPr>
        <p:spPr bwMode="auto">
          <a:xfrm>
            <a:off x="4595813" y="51847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i="1">
                <a:latin typeface="Helvetica" charset="0"/>
                <a:cs typeface="+mn-cs"/>
              </a:rPr>
              <a:t>d</a:t>
            </a:r>
            <a:endParaRPr lang="en-US">
              <a:latin typeface="Helvetica" charset="0"/>
              <a:cs typeface="+mn-cs"/>
            </a:endParaRPr>
          </a:p>
        </p:txBody>
      </p:sp>
      <p:sp>
        <p:nvSpPr>
          <p:cNvPr id="74764" name="Text Box 1036"/>
          <p:cNvSpPr txBox="1">
            <a:spLocks noChangeArrowheads="1"/>
          </p:cNvSpPr>
          <p:nvPr/>
        </p:nvSpPr>
        <p:spPr bwMode="auto">
          <a:xfrm>
            <a:off x="2952750" y="5673725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i="1">
                <a:latin typeface="Helvetica" charset="0"/>
                <a:cs typeface="+mn-cs"/>
              </a:rPr>
              <a:t>m - n</a:t>
            </a:r>
          </a:p>
        </p:txBody>
      </p:sp>
      <p:sp>
        <p:nvSpPr>
          <p:cNvPr id="74766" name="Text Box 1038"/>
          <p:cNvSpPr txBox="1">
            <a:spLocks noChangeArrowheads="1"/>
          </p:cNvSpPr>
          <p:nvPr/>
        </p:nvSpPr>
        <p:spPr bwMode="auto">
          <a:xfrm>
            <a:off x="4549775" y="566896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1" i="1" dirty="0">
                <a:solidFill>
                  <a:srgbClr val="0000FF"/>
                </a:solidFill>
                <a:latin typeface="Helvetica" charset="0"/>
                <a:cs typeface="+mn-cs"/>
              </a:rPr>
              <a:t>n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27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100" y="5184775"/>
            <a:ext cx="182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Logical Address =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601229" y="6040438"/>
            <a:ext cx="0" cy="119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687329" y="6027738"/>
            <a:ext cx="0" cy="119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605088" y="6146800"/>
            <a:ext cx="3092450" cy="12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8100" y="6070600"/>
            <a:ext cx="801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m</a:t>
            </a:r>
            <a:r>
              <a:rPr lang="en-US" dirty="0">
                <a:solidFill>
                  <a:srgbClr val="3366FF"/>
                </a:solidFill>
              </a:rPr>
              <a:t> bits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499630" y="5116513"/>
            <a:ext cx="3229658" cy="557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605089" y="5616575"/>
            <a:ext cx="1530350" cy="4111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198938" y="5616575"/>
            <a:ext cx="1530350" cy="4238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99630" y="6027738"/>
            <a:ext cx="3393170" cy="4121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73100" y="5193744"/>
            <a:ext cx="1826529" cy="4238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302126" y="4697413"/>
            <a:ext cx="1530350" cy="4238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679701" y="4692650"/>
            <a:ext cx="1530350" cy="4238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592388" y="5170488"/>
            <a:ext cx="3136900" cy="4471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4225925" y="5170488"/>
            <a:ext cx="0" cy="438150"/>
          </a:xfrm>
          <a:prstGeom prst="line">
            <a:avLst/>
          </a:prstGeom>
          <a:ln w="38100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bldLvl="2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Address Translation Scheme: How to Translate?</a:t>
            </a:r>
          </a:p>
        </p:txBody>
      </p:sp>
      <p:sp>
        <p:nvSpPr>
          <p:cNvPr id="7475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6808788" cy="5073650"/>
          </a:xfrm>
        </p:spPr>
        <p:txBody>
          <a:bodyPr/>
          <a:lstStyle/>
          <a:p>
            <a:pPr marL="137160" lvl="1">
              <a:spcBef>
                <a:spcPts val="900"/>
              </a:spcBef>
              <a:spcAft>
                <a:spcPts val="0"/>
              </a:spcAft>
              <a:defRPr/>
            </a:pPr>
            <a:r>
              <a:rPr lang="en-US" sz="2000" dirty="0">
                <a:cs typeface="+mn-cs"/>
              </a:rPr>
              <a:t>Consider a CPU with </a:t>
            </a:r>
            <a:r>
              <a:rPr lang="en-US" sz="2000" dirty="0"/>
              <a:t>an address bus of size is </a:t>
            </a:r>
            <a:r>
              <a:rPr lang="en-US" sz="2000" b="1" dirty="0">
                <a:solidFill>
                  <a:srgbClr val="0000FF"/>
                </a:solidFill>
              </a:rPr>
              <a:t>m</a:t>
            </a:r>
            <a:r>
              <a:rPr lang="en-US" sz="2000" dirty="0"/>
              <a:t> bits </a:t>
            </a:r>
          </a:p>
          <a:p>
            <a:pPr marL="137160" lvl="1">
              <a:spcBef>
                <a:spcPts val="900"/>
              </a:spcBef>
              <a:spcAft>
                <a:spcPts val="0"/>
              </a:spcAft>
              <a:defRPr/>
            </a:pPr>
            <a:r>
              <a:rPr lang="en-US" sz="2000" dirty="0"/>
              <a:t> Page size = 2</a:t>
            </a:r>
            <a:r>
              <a:rPr lang="en-US" sz="2000" b="1" baseline="30000" dirty="0">
                <a:solidFill>
                  <a:srgbClr val="0000FF"/>
                </a:solidFill>
              </a:rPr>
              <a:t>n</a:t>
            </a:r>
            <a:endParaRPr lang="en-US" sz="2000" dirty="0"/>
          </a:p>
          <a:p>
            <a:pPr eaLnBrk="1" hangingPunct="1">
              <a:defRPr/>
            </a:pPr>
            <a:r>
              <a:rPr lang="en-US" sz="2000" dirty="0">
                <a:cs typeface="+mn-cs"/>
              </a:rPr>
              <a:t>Address generated by CPU is divided into:</a:t>
            </a:r>
            <a:br>
              <a:rPr lang="en-US" sz="2000" dirty="0">
                <a:cs typeface="+mn-cs"/>
              </a:rPr>
            </a:br>
            <a:endParaRPr lang="en-US" sz="2000" dirty="0">
              <a:cs typeface="+mn-cs"/>
            </a:endParaRPr>
          </a:p>
          <a:p>
            <a:pPr lvl="1">
              <a:defRPr/>
            </a:pPr>
            <a:r>
              <a:rPr lang="en-US" sz="2000" b="1" dirty="0"/>
              <a:t>Page offset (d)</a:t>
            </a:r>
            <a:r>
              <a:rPr lang="en-US" sz="2000" dirty="0"/>
              <a:t> – provides the offset (position) of the item inside the page. </a:t>
            </a:r>
            <a:r>
              <a:rPr lang="en-US" sz="2000" dirty="0">
                <a:solidFill>
                  <a:srgbClr val="3366FF"/>
                </a:solidFill>
              </a:rPr>
              <a:t>Offset = Logical Address % Page Size</a:t>
            </a:r>
          </a:p>
          <a:p>
            <a:pPr lvl="1" eaLnBrk="1" hangingPunct="1">
              <a:defRPr/>
            </a:pPr>
            <a:endParaRPr lang="en-US" sz="2000" b="1" dirty="0"/>
          </a:p>
          <a:p>
            <a:pPr lvl="1" eaLnBrk="1" hangingPunct="1">
              <a:defRPr/>
            </a:pPr>
            <a:r>
              <a:rPr lang="en-US" sz="2000" b="1" dirty="0"/>
              <a:t>Page number (</a:t>
            </a:r>
            <a:r>
              <a:rPr lang="en-US" sz="2000" b="1" i="1" dirty="0"/>
              <a:t>p</a:t>
            </a:r>
            <a:r>
              <a:rPr lang="en-US" sz="2000" b="1" dirty="0"/>
              <a:t>)</a:t>
            </a:r>
            <a:r>
              <a:rPr lang="en-US" sz="2000" dirty="0"/>
              <a:t> – used as an index into a </a:t>
            </a:r>
            <a:r>
              <a:rPr lang="en-US" sz="2000" i="1" dirty="0"/>
              <a:t>page</a:t>
            </a:r>
            <a:r>
              <a:rPr lang="en-US" sz="2000" dirty="0"/>
              <a:t> </a:t>
            </a:r>
            <a:r>
              <a:rPr lang="en-US" sz="2000" i="1" dirty="0"/>
              <a:t>table</a:t>
            </a:r>
            <a:r>
              <a:rPr lang="en-US" sz="2000" dirty="0"/>
              <a:t> which contains the frame number. </a:t>
            </a:r>
            <a:r>
              <a:rPr lang="en-US" sz="2000" dirty="0">
                <a:solidFill>
                  <a:srgbClr val="3366FF"/>
                </a:solidFill>
              </a:rPr>
              <a:t>Page Number = Logical Address / Page Size</a:t>
            </a:r>
          </a:p>
          <a:p>
            <a:pPr lvl="1" eaLnBrk="1" hangingPunct="1">
              <a:defRPr/>
            </a:pPr>
            <a:endParaRPr lang="en-US" sz="2000" dirty="0">
              <a:solidFill>
                <a:srgbClr val="3366FF"/>
              </a:solidFill>
            </a:endParaRPr>
          </a:p>
          <a:p>
            <a:pPr lvl="1" eaLnBrk="1" hangingPunct="1">
              <a:defRPr/>
            </a:pPr>
            <a:endParaRPr lang="en-US" sz="2000" dirty="0"/>
          </a:p>
          <a:p>
            <a:pPr lvl="1" eaLnBrk="1" hangingPunct="1">
              <a:defRPr/>
            </a:pPr>
            <a:endParaRPr lang="en-US" sz="2000" dirty="0"/>
          </a:p>
          <a:p>
            <a:pPr lvl="1" eaLnBrk="1" hangingPunct="1">
              <a:defRPr/>
            </a:pPr>
            <a:endParaRPr lang="en-US" sz="2000" dirty="0"/>
          </a:p>
          <a:p>
            <a:pPr lvl="1" eaLnBrk="1" hangingPunct="1">
              <a:defRPr/>
            </a:pPr>
            <a:endParaRPr lang="en-US" sz="2000" dirty="0"/>
          </a:p>
        </p:txBody>
      </p:sp>
      <p:sp>
        <p:nvSpPr>
          <p:cNvPr id="74756" name="Rectangle 1028"/>
          <p:cNvSpPr>
            <a:spLocks noChangeArrowheads="1"/>
          </p:cNvSpPr>
          <p:nvPr/>
        </p:nvSpPr>
        <p:spPr bwMode="auto">
          <a:xfrm>
            <a:off x="2592388" y="5170488"/>
            <a:ext cx="3105150" cy="4381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4758" name="Line 1030"/>
          <p:cNvSpPr>
            <a:spLocks noChangeShapeType="1"/>
          </p:cNvSpPr>
          <p:nvPr/>
        </p:nvSpPr>
        <p:spPr bwMode="auto">
          <a:xfrm>
            <a:off x="4225925" y="51704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4759" name="Text Box 1031"/>
          <p:cNvSpPr txBox="1">
            <a:spLocks noChangeArrowheads="1"/>
          </p:cNvSpPr>
          <p:nvPr/>
        </p:nvSpPr>
        <p:spPr bwMode="auto">
          <a:xfrm>
            <a:off x="2605088" y="4724400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Helvetica" charset="0"/>
                <a:cs typeface="+mn-cs"/>
              </a:rPr>
              <a:t>page number</a:t>
            </a:r>
          </a:p>
        </p:txBody>
      </p:sp>
      <p:sp>
        <p:nvSpPr>
          <p:cNvPr id="74760" name="Text Box 1032"/>
          <p:cNvSpPr txBox="1">
            <a:spLocks noChangeArrowheads="1"/>
          </p:cNvSpPr>
          <p:nvPr/>
        </p:nvSpPr>
        <p:spPr bwMode="auto">
          <a:xfrm>
            <a:off x="4297363" y="4708525"/>
            <a:ext cx="1314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latin typeface="Helvetica" charset="0"/>
                <a:cs typeface="+mn-cs"/>
              </a:rPr>
              <a:t>page offset</a:t>
            </a:r>
          </a:p>
        </p:txBody>
      </p:sp>
      <p:sp>
        <p:nvSpPr>
          <p:cNvPr id="74761" name="Text Box 1033"/>
          <p:cNvSpPr txBox="1">
            <a:spLocks noChangeArrowheads="1"/>
          </p:cNvSpPr>
          <p:nvPr/>
        </p:nvSpPr>
        <p:spPr bwMode="auto">
          <a:xfrm>
            <a:off x="3146425" y="51831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i="1">
                <a:latin typeface="Helvetica" charset="0"/>
                <a:cs typeface="+mn-cs"/>
              </a:rPr>
              <a:t>p</a:t>
            </a:r>
            <a:endParaRPr lang="en-US">
              <a:latin typeface="Helvetica" charset="0"/>
              <a:cs typeface="+mn-cs"/>
            </a:endParaRPr>
          </a:p>
        </p:txBody>
      </p:sp>
      <p:sp>
        <p:nvSpPr>
          <p:cNvPr id="74763" name="Text Box 1035"/>
          <p:cNvSpPr txBox="1">
            <a:spLocks noChangeArrowheads="1"/>
          </p:cNvSpPr>
          <p:nvPr/>
        </p:nvSpPr>
        <p:spPr bwMode="auto">
          <a:xfrm>
            <a:off x="4595813" y="51847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i="1">
                <a:latin typeface="Helvetica" charset="0"/>
                <a:cs typeface="+mn-cs"/>
              </a:rPr>
              <a:t>d</a:t>
            </a:r>
            <a:endParaRPr lang="en-US">
              <a:latin typeface="Helvetica" charset="0"/>
              <a:cs typeface="+mn-cs"/>
            </a:endParaRPr>
          </a:p>
        </p:txBody>
      </p:sp>
      <p:sp>
        <p:nvSpPr>
          <p:cNvPr id="74764" name="Text Box 1036"/>
          <p:cNvSpPr txBox="1">
            <a:spLocks noChangeArrowheads="1"/>
          </p:cNvSpPr>
          <p:nvPr/>
        </p:nvSpPr>
        <p:spPr bwMode="auto">
          <a:xfrm>
            <a:off x="2952750" y="5673725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i="1">
                <a:latin typeface="Helvetica" charset="0"/>
                <a:cs typeface="+mn-cs"/>
              </a:rPr>
              <a:t>m - n</a:t>
            </a:r>
          </a:p>
        </p:txBody>
      </p:sp>
      <p:sp>
        <p:nvSpPr>
          <p:cNvPr id="74766" name="Text Box 1038"/>
          <p:cNvSpPr txBox="1">
            <a:spLocks noChangeArrowheads="1"/>
          </p:cNvSpPr>
          <p:nvPr/>
        </p:nvSpPr>
        <p:spPr bwMode="auto">
          <a:xfrm>
            <a:off x="4549775" y="566896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1" i="1" dirty="0">
                <a:solidFill>
                  <a:srgbClr val="0000FF"/>
                </a:solidFill>
                <a:latin typeface="Helvetica" charset="0"/>
                <a:cs typeface="+mn-cs"/>
              </a:rPr>
              <a:t>n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28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100" y="5184775"/>
            <a:ext cx="182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Logical Address =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601229" y="6040438"/>
            <a:ext cx="0" cy="119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687329" y="6027738"/>
            <a:ext cx="0" cy="119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605088" y="6146800"/>
            <a:ext cx="3092450" cy="12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8100" y="6070600"/>
            <a:ext cx="801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m</a:t>
            </a:r>
            <a:r>
              <a:rPr lang="en-US" dirty="0">
                <a:solidFill>
                  <a:srgbClr val="3366FF"/>
                </a:solidFill>
              </a:rPr>
              <a:t> bits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2388" y="5170488"/>
            <a:ext cx="3136900" cy="4471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4225925" y="5170488"/>
            <a:ext cx="0" cy="438150"/>
          </a:xfrm>
          <a:prstGeom prst="line">
            <a:avLst/>
          </a:prstGeom>
          <a:ln w="38100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041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457200" y="277813"/>
            <a:ext cx="8229600" cy="576262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spc="-45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Paging </a:t>
            </a:r>
            <a:r>
              <a:rPr lang="en-US" b="1" dirty="0">
                <a:solidFill>
                  <a:srgbClr val="0000FF"/>
                </a:solidFill>
              </a:rPr>
              <a:t>Hardware</a:t>
            </a: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" t="10748" r="620" b="11162"/>
          <a:stretch>
            <a:fillRect/>
          </a:stretch>
        </p:blipFill>
        <p:spPr bwMode="auto">
          <a:xfrm>
            <a:off x="1233488" y="1506538"/>
            <a:ext cx="7251700" cy="42989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2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29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32100" y="2959100"/>
            <a:ext cx="20574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49500" y="3479800"/>
            <a:ext cx="863600" cy="146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025900" y="3479800"/>
            <a:ext cx="863600" cy="146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52900" y="3225800"/>
            <a:ext cx="4572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97400" y="3225800"/>
            <a:ext cx="381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2438400" y="2489200"/>
            <a:ext cx="927100" cy="558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425950" y="2489200"/>
            <a:ext cx="927100" cy="558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2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9" grpId="0" animBg="1"/>
      <p:bldP spid="3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457200" y="277813"/>
            <a:ext cx="8229600" cy="576262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spc="-45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Paging Hardware</a:t>
            </a: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" t="10748" r="620" b="11162"/>
          <a:stretch>
            <a:fillRect/>
          </a:stretch>
        </p:blipFill>
        <p:spPr bwMode="auto">
          <a:xfrm>
            <a:off x="1233488" y="1506538"/>
            <a:ext cx="7251700" cy="42989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2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30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2206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Implementation of Page Table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496175" cy="4970462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>
                <a:cs typeface="+mn-cs"/>
              </a:rPr>
              <a:t>Page table is kept in main memory</a:t>
            </a:r>
          </a:p>
          <a:p>
            <a:pPr eaLnBrk="1" hangingPunct="1">
              <a:defRPr/>
            </a:pPr>
            <a:r>
              <a:rPr lang="en-US" sz="2000" b="1" dirty="0">
                <a:cs typeface="+mn-cs"/>
              </a:rPr>
              <a:t>Page-table base register (PTBR)</a:t>
            </a:r>
            <a:r>
              <a:rPr lang="en-US" sz="2000" dirty="0">
                <a:cs typeface="+mn-cs"/>
              </a:rPr>
              <a:t> points to the page table</a:t>
            </a:r>
          </a:p>
          <a:p>
            <a:pPr eaLnBrk="1" hangingPunct="1">
              <a:defRPr/>
            </a:pPr>
            <a:r>
              <a:rPr lang="en-US" sz="2000" b="1" dirty="0">
                <a:cs typeface="+mn-cs"/>
              </a:rPr>
              <a:t>Page-table length register (PRLR)</a:t>
            </a:r>
            <a:r>
              <a:rPr lang="en-US" sz="2000" dirty="0">
                <a:cs typeface="+mn-cs"/>
              </a:rPr>
              <a:t> indicates size of the page table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31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01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and Drawbacks of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3366FF"/>
                </a:solidFill>
              </a:rPr>
              <a:t>Benefits</a:t>
            </a:r>
            <a:r>
              <a:rPr lang="en-US" dirty="0"/>
              <a:t>: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Flexibility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to place processes: as long as there are enough frames, a process can be placed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External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fragmentation is </a:t>
            </a:r>
            <a:r>
              <a:rPr lang="en-US" b="1" dirty="0">
                <a:solidFill>
                  <a:srgbClr val="3366FF"/>
                </a:solidFill>
              </a:rPr>
              <a:t>eliminated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Internal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fragmentation </a:t>
            </a:r>
            <a:r>
              <a:rPr lang="en-US" b="1" dirty="0">
                <a:solidFill>
                  <a:srgbClr val="3366FF"/>
                </a:solidFill>
              </a:rPr>
              <a:t>limited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to the last frame of a process (Size of a process is not always a multiple of pages)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3366FF"/>
                </a:solidFill>
              </a:rPr>
              <a:t>Drawbacks</a:t>
            </a:r>
          </a:p>
          <a:p>
            <a:pPr lvl="1"/>
            <a:r>
              <a:rPr lang="en-US" dirty="0"/>
              <a:t>Each data/instruction accesses requires two memory accesses</a:t>
            </a:r>
          </a:p>
          <a:p>
            <a:pPr lvl="1"/>
            <a:r>
              <a:rPr lang="en-US" dirty="0"/>
              <a:t>Space overhead for the page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50E7-7C6C-754D-81F8-C814130E13C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5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 a imaginary CPU with a small address bus (just to make the example simple)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CPU generates a logical/virtual address LA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Learn about how to translate LA into a physical address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in Chapter on Main Memory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in Section Paging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Sub Section </a:t>
            </a:r>
            <a:r>
              <a:rPr lang="en-US" i="1" dirty="0">
                <a:solidFill>
                  <a:srgbClr val="0000FF"/>
                </a:solidFill>
              </a:rPr>
              <a:t>Basic Method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Sub Section </a:t>
            </a:r>
            <a:r>
              <a:rPr lang="en-US" i="1" dirty="0">
                <a:solidFill>
                  <a:srgbClr val="0000FF"/>
                </a:solidFill>
              </a:rPr>
              <a:t>Protection</a:t>
            </a:r>
          </a:p>
          <a:p>
            <a:pPr marL="308610" lvl="1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 Address Translation</a:t>
            </a:r>
            <a:br>
              <a:rPr lang="en-US" dirty="0"/>
            </a:br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53433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Example 1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496175" cy="4970462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>
                <a:cs typeface="+mn-cs"/>
              </a:rPr>
              <a:t>Consider a CPU with a </a:t>
            </a:r>
            <a:r>
              <a:rPr lang="en-US" sz="2000" dirty="0"/>
              <a:t>12</a:t>
            </a:r>
            <a:r>
              <a:rPr lang="en-US" sz="2000" dirty="0">
                <a:cs typeface="+mn-cs"/>
              </a:rPr>
              <a:t> bit address bus and a 512-byte page size.</a:t>
            </a:r>
          </a:p>
          <a:p>
            <a:pPr eaLnBrk="1" hangingPunct="1">
              <a:defRPr/>
            </a:pPr>
            <a:r>
              <a:rPr lang="en-US" sz="2000" dirty="0"/>
              <a:t> Consider this page table:</a:t>
            </a:r>
          </a:p>
          <a:p>
            <a:pPr eaLnBrk="1" hangingPunct="1">
              <a:defRPr/>
            </a:pPr>
            <a:r>
              <a:rPr lang="en-US" sz="2000" b="1" dirty="0">
                <a:cs typeface="+mn-cs"/>
              </a:rPr>
              <a:t>Example </a:t>
            </a:r>
            <a:r>
              <a:rPr lang="en-US" sz="2000" dirty="0">
                <a:cs typeface="+mn-cs"/>
              </a:rPr>
              <a:t>: CPU generates the logical address LA = 0xB62 (</a:t>
            </a:r>
            <a:r>
              <a:rPr lang="en-US" sz="2000" dirty="0" err="1">
                <a:cs typeface="+mn-cs"/>
              </a:rPr>
              <a:t>hexa</a:t>
            </a:r>
            <a:r>
              <a:rPr lang="en-US" sz="2000" dirty="0">
                <a:cs typeface="+mn-cs"/>
              </a:rPr>
              <a:t>)</a:t>
            </a:r>
          </a:p>
          <a:p>
            <a:pPr>
              <a:defRPr/>
            </a:pPr>
            <a:r>
              <a:rPr lang="en-US" sz="2000" dirty="0"/>
              <a:t>In binary, 0xB62 = (1011 0110 0010</a:t>
            </a:r>
            <a:r>
              <a:rPr lang="en-US" sz="2000" dirty="0">
                <a:solidFill>
                  <a:srgbClr val="000000"/>
                </a:solidFill>
              </a:rPr>
              <a:t>)</a:t>
            </a:r>
            <a:r>
              <a:rPr lang="en-US" sz="2000" baseline="-25000" dirty="0">
                <a:solidFill>
                  <a:srgbClr val="000000"/>
                </a:solidFill>
              </a:rPr>
              <a:t>2</a:t>
            </a:r>
            <a:endParaRPr lang="en-US" sz="2000" dirty="0"/>
          </a:p>
          <a:p>
            <a:pPr eaLnBrk="1" hangingPunct="1">
              <a:defRPr/>
            </a:pPr>
            <a:r>
              <a:rPr lang="en-US" sz="2000" dirty="0">
                <a:cs typeface="+mn-cs"/>
              </a:rPr>
              <a:t>Since the page size = 512 = 2</a:t>
            </a:r>
            <a:r>
              <a:rPr lang="en-US" sz="2000" b="1" baseline="30000" dirty="0">
                <a:solidFill>
                  <a:srgbClr val="3366FF"/>
                </a:solidFill>
                <a:cs typeface="+mn-cs"/>
              </a:rPr>
              <a:t>9</a:t>
            </a:r>
            <a:r>
              <a:rPr lang="en-US" sz="2000" dirty="0">
                <a:cs typeface="+mn-cs"/>
              </a:rPr>
              <a:t>, then n=9 (</a:t>
            </a:r>
            <a:r>
              <a:rPr lang="en-US" sz="2000" i="1" dirty="0">
                <a:cs typeface="+mn-cs"/>
              </a:rPr>
              <a:t>See Slide 27</a:t>
            </a:r>
            <a:r>
              <a:rPr lang="en-US" sz="2000" dirty="0">
                <a:cs typeface="+mn-cs"/>
              </a:rPr>
              <a:t>) and</a:t>
            </a:r>
          </a:p>
          <a:p>
            <a:pPr lvl="1">
              <a:defRPr/>
            </a:pPr>
            <a:r>
              <a:rPr lang="en-US" sz="1700" dirty="0">
                <a:cs typeface="+mn-cs"/>
              </a:rPr>
              <a:t> the </a:t>
            </a:r>
            <a:r>
              <a:rPr lang="en-US" sz="1700" b="1" dirty="0">
                <a:solidFill>
                  <a:srgbClr val="3366FF"/>
                </a:solidFill>
                <a:cs typeface="+mn-cs"/>
              </a:rPr>
              <a:t>offset</a:t>
            </a:r>
            <a:r>
              <a:rPr lang="en-US" sz="1700" dirty="0">
                <a:solidFill>
                  <a:srgbClr val="3366FF"/>
                </a:solidFill>
                <a:cs typeface="+mn-cs"/>
              </a:rPr>
              <a:t> </a:t>
            </a:r>
            <a:r>
              <a:rPr lang="en-US" sz="1700" dirty="0">
                <a:cs typeface="+mn-cs"/>
              </a:rPr>
              <a:t>is then made of the </a:t>
            </a:r>
            <a:r>
              <a:rPr lang="en-US" sz="1700" b="1" dirty="0">
                <a:solidFill>
                  <a:srgbClr val="3366FF"/>
                </a:solidFill>
                <a:cs typeface="+mn-cs"/>
              </a:rPr>
              <a:t>9</a:t>
            </a:r>
            <a:r>
              <a:rPr lang="en-US" sz="1700" dirty="0">
                <a:solidFill>
                  <a:srgbClr val="3366FF"/>
                </a:solidFill>
                <a:cs typeface="+mn-cs"/>
              </a:rPr>
              <a:t> </a:t>
            </a:r>
            <a:r>
              <a:rPr lang="en-US" sz="1700" dirty="0">
                <a:cs typeface="+mn-cs"/>
              </a:rPr>
              <a:t>least significant bits (highlighted in </a:t>
            </a:r>
            <a:r>
              <a:rPr lang="en-US" sz="1700" b="1" dirty="0">
                <a:solidFill>
                  <a:srgbClr val="3366FF"/>
                </a:solidFill>
                <a:cs typeface="+mn-cs"/>
              </a:rPr>
              <a:t>blue</a:t>
            </a:r>
            <a:r>
              <a:rPr lang="en-US" sz="1700" dirty="0">
                <a:cs typeface="+mn-cs"/>
              </a:rPr>
              <a:t>)</a:t>
            </a:r>
          </a:p>
          <a:p>
            <a:pPr lvl="1">
              <a:defRPr/>
            </a:pPr>
            <a:r>
              <a:rPr lang="en-US" sz="1700" dirty="0"/>
              <a:t>the </a:t>
            </a:r>
            <a:r>
              <a:rPr lang="en-US" sz="1700" b="1" dirty="0">
                <a:solidFill>
                  <a:srgbClr val="FF0000"/>
                </a:solidFill>
              </a:rPr>
              <a:t>page number </a:t>
            </a:r>
            <a:r>
              <a:rPr lang="en-US" sz="1700" dirty="0"/>
              <a:t>is made of the remaining left most 3 bits (3 = 12-9)</a:t>
            </a:r>
          </a:p>
          <a:p>
            <a:pPr lvl="1">
              <a:defRPr/>
            </a:pP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 = 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sz="1800" b="1" dirty="0">
                <a:solidFill>
                  <a:srgbClr val="FF0000"/>
                </a:solidFill>
              </a:rPr>
              <a:t>101</a:t>
            </a:r>
            <a:r>
              <a:rPr lang="en-US" sz="1800" b="1" dirty="0">
                <a:solidFill>
                  <a:srgbClr val="3366FF"/>
                </a:solidFill>
              </a:rPr>
              <a:t>1 0110 0010</a:t>
            </a:r>
            <a:r>
              <a:rPr lang="en-US" sz="1800" dirty="0">
                <a:solidFill>
                  <a:srgbClr val="000000"/>
                </a:solidFill>
              </a:rPr>
              <a:t>)</a:t>
            </a:r>
            <a:r>
              <a:rPr lang="en-US" sz="1800" baseline="-25000" dirty="0">
                <a:solidFill>
                  <a:srgbClr val="000000"/>
                </a:solidFill>
              </a:rPr>
              <a:t>2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</a:t>
            </a:r>
            <a:r>
              <a:rPr lang="en-US" sz="1800" dirty="0">
                <a:solidFill>
                  <a:srgbClr val="FF0000"/>
                </a:solidFill>
              </a:rPr>
              <a:t>page number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is (</a:t>
            </a:r>
            <a:r>
              <a:rPr lang="en-US" sz="1800" dirty="0">
                <a:solidFill>
                  <a:srgbClr val="FF0000"/>
                </a:solidFill>
              </a:rPr>
              <a:t>101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sz="18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sz="1800" b="1" dirty="0">
                <a:solidFill>
                  <a:srgbClr val="FF0000"/>
                </a:solidFill>
              </a:rPr>
              <a:t>5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</a:t>
            </a:r>
            <a:r>
              <a:rPr lang="en-US" sz="1800" dirty="0">
                <a:solidFill>
                  <a:srgbClr val="0000FF"/>
                </a:solidFill>
              </a:rPr>
              <a:t>offset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is   (</a:t>
            </a:r>
            <a:r>
              <a:rPr lang="en-US" sz="1800" dirty="0">
                <a:solidFill>
                  <a:srgbClr val="0000FF"/>
                </a:solidFill>
              </a:rPr>
              <a:t>1 0110 0010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sz="18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The physical address will be built as follows: LA =   </a:t>
            </a:r>
            <a:r>
              <a:rPr lang="en-US" sz="1800" b="1" dirty="0">
                <a:solidFill>
                  <a:srgbClr val="FF0000"/>
                </a:solidFill>
              </a:rPr>
              <a:t>101</a:t>
            </a:r>
            <a:r>
              <a:rPr lang="en-US" sz="1800" b="1" dirty="0">
                <a:solidFill>
                  <a:srgbClr val="3366FF"/>
                </a:solidFill>
              </a:rPr>
              <a:t>1 0110 0010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</a:t>
            </a:r>
            <a:endParaRPr lang="en-US" sz="1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>
              <a:defRPr/>
            </a:pPr>
            <a:endParaRPr lang="en-US" sz="1700" dirty="0"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34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8013124" y="516498"/>
            <a:ext cx="1130876" cy="3395102"/>
            <a:chOff x="8013124" y="516498"/>
            <a:chExt cx="1130876" cy="3395102"/>
          </a:xfrm>
        </p:grpSpPr>
        <p:grpSp>
          <p:nvGrpSpPr>
            <p:cNvPr id="5" name="Group 4"/>
            <p:cNvGrpSpPr/>
            <p:nvPr/>
          </p:nvGrpSpPr>
          <p:grpSpPr>
            <a:xfrm>
              <a:off x="8293100" y="960438"/>
              <a:ext cx="642230" cy="2951162"/>
              <a:chOff x="8293100" y="960438"/>
              <a:chExt cx="642230" cy="2951162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8623300" y="9641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8623300" y="13324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9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623300" y="17007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623300" y="20690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8623300" y="24373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623300" y="2805668"/>
                <a:ext cx="312030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8000"/>
                    </a:solidFill>
                  </a:rPr>
                  <a:t>3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8623300" y="31739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8623300" y="35422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4</a:t>
                </a:r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8293100" y="9604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8293100" y="13033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293100" y="16462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8293100" y="20399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8293100" y="24336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8293100" y="2827338"/>
                <a:ext cx="312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5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8293100" y="31829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8293100" y="35385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8013124" y="516498"/>
              <a:ext cx="1130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Page Table</a:t>
              </a:r>
            </a:p>
          </p:txBody>
        </p:sp>
      </p:grpSp>
      <p:cxnSp>
        <p:nvCxnSpPr>
          <p:cNvPr id="23" name="Straight Connector 22"/>
          <p:cNvCxnSpPr/>
          <p:nvPr/>
        </p:nvCxnSpPr>
        <p:spPr>
          <a:xfrm>
            <a:off x="6553200" y="4838700"/>
            <a:ext cx="1219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099300" y="4838700"/>
            <a:ext cx="12700" cy="711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83998" y="5524500"/>
            <a:ext cx="164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b="1" dirty="0">
                <a:solidFill>
                  <a:srgbClr val="3366FF"/>
                </a:solidFill>
              </a:rPr>
              <a:t>1 0110 0010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51725" y="4995902"/>
            <a:ext cx="132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Copy Offset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0825" y="4995902"/>
            <a:ext cx="2174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Replace with Table[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]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6311900" y="4864100"/>
            <a:ext cx="12700" cy="711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37243" y="5524500"/>
            <a:ext cx="566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</a:rPr>
              <a:t>011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88033" y="5537200"/>
            <a:ext cx="241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Address = PA 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 bldLvl="2"/>
      <p:bldP spid="26" grpId="0"/>
      <p:bldP spid="27" grpId="0"/>
      <p:bldP spid="30" grpId="0"/>
      <p:bldP spid="28" grpId="0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Example 1I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496175" cy="4970462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>
                <a:cs typeface="+mn-cs"/>
              </a:rPr>
              <a:t>Consider a CPU with a </a:t>
            </a:r>
            <a:r>
              <a:rPr lang="en-US" sz="2000" dirty="0"/>
              <a:t>12</a:t>
            </a:r>
            <a:r>
              <a:rPr lang="en-US" sz="2000" dirty="0">
                <a:cs typeface="+mn-cs"/>
              </a:rPr>
              <a:t> bit address bus and a 512-byte page size.</a:t>
            </a:r>
          </a:p>
          <a:p>
            <a:pPr eaLnBrk="1" hangingPunct="1">
              <a:defRPr/>
            </a:pPr>
            <a:r>
              <a:rPr lang="en-US" sz="2000" dirty="0"/>
              <a:t> Consider this page table:</a:t>
            </a:r>
          </a:p>
          <a:p>
            <a:pPr>
              <a:defRPr/>
            </a:pPr>
            <a:r>
              <a:rPr lang="en-US" sz="2000" b="1" dirty="0">
                <a:cs typeface="+mn-cs"/>
              </a:rPr>
              <a:t>Example </a:t>
            </a:r>
            <a:r>
              <a:rPr lang="en-US" sz="2000" dirty="0">
                <a:cs typeface="+mn-cs"/>
              </a:rPr>
              <a:t>: CPU generates the </a:t>
            </a:r>
            <a:r>
              <a:rPr lang="en-US" sz="2000" dirty="0"/>
              <a:t> logical address LA = 0x529 </a:t>
            </a:r>
            <a:r>
              <a:rPr lang="en-US" sz="2000" dirty="0">
                <a:cs typeface="+mn-cs"/>
              </a:rPr>
              <a:t>(</a:t>
            </a:r>
            <a:r>
              <a:rPr lang="en-US" sz="2000" dirty="0" err="1">
                <a:cs typeface="+mn-cs"/>
              </a:rPr>
              <a:t>hexa</a:t>
            </a:r>
            <a:r>
              <a:rPr lang="en-US" sz="2000" dirty="0">
                <a:cs typeface="+mn-cs"/>
              </a:rPr>
              <a:t>)</a:t>
            </a:r>
          </a:p>
          <a:p>
            <a:pPr>
              <a:defRPr/>
            </a:pPr>
            <a:r>
              <a:rPr lang="en-US" sz="2000" dirty="0"/>
              <a:t>In binary, LA = 0x529 = (0101 0010 1001</a:t>
            </a:r>
            <a:r>
              <a:rPr lang="en-US" sz="2000" dirty="0">
                <a:solidFill>
                  <a:srgbClr val="000000"/>
                </a:solidFill>
              </a:rPr>
              <a:t>)</a:t>
            </a:r>
            <a:r>
              <a:rPr lang="en-US" sz="2000" baseline="-25000" dirty="0">
                <a:solidFill>
                  <a:srgbClr val="000000"/>
                </a:solidFill>
              </a:rPr>
              <a:t>2</a:t>
            </a:r>
            <a:endParaRPr lang="en-US" sz="2000" dirty="0"/>
          </a:p>
          <a:p>
            <a:pPr>
              <a:defRPr/>
            </a:pPr>
            <a:r>
              <a:rPr lang="en-US" sz="2000" dirty="0">
                <a:cs typeface="+mn-cs"/>
              </a:rPr>
              <a:t>Since the page size = 512 = 2</a:t>
            </a:r>
            <a:r>
              <a:rPr lang="en-US" sz="2000" b="1" baseline="30000" dirty="0">
                <a:solidFill>
                  <a:srgbClr val="3366FF"/>
                </a:solidFill>
                <a:cs typeface="+mn-cs"/>
              </a:rPr>
              <a:t>9</a:t>
            </a:r>
            <a:r>
              <a:rPr lang="en-US" sz="2000" dirty="0">
                <a:cs typeface="+mn-cs"/>
              </a:rPr>
              <a:t>, </a:t>
            </a:r>
            <a:r>
              <a:rPr lang="en-US" sz="2000" dirty="0"/>
              <a:t>then n=9 (</a:t>
            </a:r>
            <a:r>
              <a:rPr lang="en-US" sz="2000" i="1" dirty="0"/>
              <a:t>See Slide 27</a:t>
            </a:r>
            <a:r>
              <a:rPr lang="en-US" sz="2000" dirty="0"/>
              <a:t>) and</a:t>
            </a:r>
            <a:endParaRPr lang="en-US" sz="2000" dirty="0">
              <a:cs typeface="+mn-cs"/>
            </a:endParaRPr>
          </a:p>
          <a:p>
            <a:pPr lvl="1">
              <a:defRPr/>
            </a:pPr>
            <a:r>
              <a:rPr lang="en-US" sz="1700" dirty="0">
                <a:cs typeface="+mn-cs"/>
              </a:rPr>
              <a:t> the </a:t>
            </a:r>
            <a:r>
              <a:rPr lang="en-US" sz="1700" b="1" dirty="0">
                <a:solidFill>
                  <a:srgbClr val="3366FF"/>
                </a:solidFill>
                <a:cs typeface="+mn-cs"/>
              </a:rPr>
              <a:t>offset</a:t>
            </a:r>
            <a:r>
              <a:rPr lang="en-US" sz="1700" dirty="0">
                <a:solidFill>
                  <a:srgbClr val="3366FF"/>
                </a:solidFill>
                <a:cs typeface="+mn-cs"/>
              </a:rPr>
              <a:t> </a:t>
            </a:r>
            <a:r>
              <a:rPr lang="en-US" sz="1700" dirty="0">
                <a:cs typeface="+mn-cs"/>
              </a:rPr>
              <a:t>is made of the </a:t>
            </a:r>
            <a:r>
              <a:rPr lang="en-US" sz="1700" b="1" dirty="0">
                <a:solidFill>
                  <a:srgbClr val="3366FF"/>
                </a:solidFill>
                <a:cs typeface="+mn-cs"/>
              </a:rPr>
              <a:t>9</a:t>
            </a:r>
            <a:r>
              <a:rPr lang="en-US" sz="1700" dirty="0">
                <a:solidFill>
                  <a:srgbClr val="3366FF"/>
                </a:solidFill>
                <a:cs typeface="+mn-cs"/>
              </a:rPr>
              <a:t> </a:t>
            </a:r>
            <a:r>
              <a:rPr lang="en-US" sz="1700" dirty="0">
                <a:cs typeface="+mn-cs"/>
              </a:rPr>
              <a:t>least significant bits (highlighted in </a:t>
            </a:r>
            <a:r>
              <a:rPr lang="en-US" sz="1700" b="1" dirty="0">
                <a:solidFill>
                  <a:srgbClr val="3366FF"/>
                </a:solidFill>
                <a:cs typeface="+mn-cs"/>
              </a:rPr>
              <a:t>blue</a:t>
            </a:r>
            <a:r>
              <a:rPr lang="en-US" sz="1700" dirty="0">
                <a:cs typeface="+mn-cs"/>
              </a:rPr>
              <a:t>)</a:t>
            </a:r>
          </a:p>
          <a:p>
            <a:pPr lvl="1">
              <a:defRPr/>
            </a:pPr>
            <a:r>
              <a:rPr lang="en-US" sz="1700" dirty="0"/>
              <a:t>the </a:t>
            </a:r>
            <a:r>
              <a:rPr lang="en-US" sz="1700" b="1" dirty="0">
                <a:solidFill>
                  <a:srgbClr val="FF0000"/>
                </a:solidFill>
              </a:rPr>
              <a:t>page number </a:t>
            </a:r>
            <a:r>
              <a:rPr lang="en-US" sz="1700" dirty="0"/>
              <a:t>is made of the remaining left most 3 bits (3 = 12-9)</a:t>
            </a:r>
          </a:p>
          <a:p>
            <a:pPr lvl="1">
              <a:defRPr/>
            </a:pP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 = 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sz="1800" b="1" dirty="0">
                <a:solidFill>
                  <a:srgbClr val="FF0000"/>
                </a:solidFill>
              </a:rPr>
              <a:t>010</a:t>
            </a:r>
            <a:r>
              <a:rPr lang="en-US" sz="1800" b="1" dirty="0">
                <a:solidFill>
                  <a:srgbClr val="3366FF"/>
                </a:solidFill>
              </a:rPr>
              <a:t>1 0010 1001</a:t>
            </a:r>
            <a:r>
              <a:rPr lang="en-US" sz="1800" dirty="0">
                <a:solidFill>
                  <a:srgbClr val="000000"/>
                </a:solidFill>
              </a:rPr>
              <a:t>)</a:t>
            </a:r>
            <a:r>
              <a:rPr lang="en-US" sz="1800" baseline="-25000" dirty="0">
                <a:solidFill>
                  <a:srgbClr val="000000"/>
                </a:solidFill>
              </a:rPr>
              <a:t>2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</a:t>
            </a:r>
            <a:r>
              <a:rPr lang="en-US" sz="1800" dirty="0">
                <a:solidFill>
                  <a:srgbClr val="FF0000"/>
                </a:solidFill>
              </a:rPr>
              <a:t>page number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is (</a:t>
            </a:r>
            <a:r>
              <a:rPr lang="en-US" sz="1800" dirty="0">
                <a:solidFill>
                  <a:srgbClr val="FF0000"/>
                </a:solidFill>
              </a:rPr>
              <a:t>010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sz="18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sz="1800" b="1" dirty="0">
                <a:solidFill>
                  <a:srgbClr val="FF0000"/>
                </a:solidFill>
              </a:rPr>
              <a:t>2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</a:t>
            </a:r>
            <a:r>
              <a:rPr lang="en-US" sz="1800" dirty="0">
                <a:solidFill>
                  <a:srgbClr val="0000FF"/>
                </a:solidFill>
              </a:rPr>
              <a:t>offset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is   (</a:t>
            </a:r>
            <a:r>
              <a:rPr lang="en-US" sz="1800" dirty="0">
                <a:solidFill>
                  <a:srgbClr val="0000FF"/>
                </a:solidFill>
              </a:rPr>
              <a:t>1 0010 1001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sz="18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The physical address will be built as follows: LA =   </a:t>
            </a:r>
            <a:r>
              <a:rPr lang="en-US" sz="1800" b="1" dirty="0">
                <a:solidFill>
                  <a:srgbClr val="FF0000"/>
                </a:solidFill>
              </a:rPr>
              <a:t>010</a:t>
            </a:r>
            <a:r>
              <a:rPr lang="en-US" sz="1800" b="1" dirty="0">
                <a:solidFill>
                  <a:srgbClr val="3366FF"/>
                </a:solidFill>
              </a:rPr>
              <a:t>1 0010 1001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</a:t>
            </a:r>
            <a:endParaRPr lang="en-US" sz="1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>
              <a:defRPr/>
            </a:pPr>
            <a:endParaRPr lang="en-US" sz="1700" dirty="0"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35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8013124" y="516498"/>
            <a:ext cx="1130876" cy="3395102"/>
            <a:chOff x="8013124" y="516498"/>
            <a:chExt cx="1130876" cy="3395102"/>
          </a:xfrm>
        </p:grpSpPr>
        <p:grpSp>
          <p:nvGrpSpPr>
            <p:cNvPr id="5" name="Group 4"/>
            <p:cNvGrpSpPr/>
            <p:nvPr/>
          </p:nvGrpSpPr>
          <p:grpSpPr>
            <a:xfrm>
              <a:off x="8293100" y="960438"/>
              <a:ext cx="642230" cy="2951162"/>
              <a:chOff x="8293100" y="960438"/>
              <a:chExt cx="642230" cy="2951162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8623300" y="9641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8623300" y="13324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9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623300" y="1700768"/>
                <a:ext cx="312030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8000"/>
                    </a:solidFill>
                  </a:rPr>
                  <a:t>0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623300" y="20690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8623300" y="24373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623300" y="2805668"/>
                <a:ext cx="312030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8623300" y="31739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8623300" y="3542268"/>
                <a:ext cx="300082" cy="369332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4</a:t>
                </a:r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8293100" y="9604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8293100" y="13033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293100" y="164623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8293100" y="20399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8293100" y="24336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8293100" y="2827338"/>
                <a:ext cx="312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8293100" y="31829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8293100" y="353853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8013124" y="516498"/>
              <a:ext cx="1130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Page Table</a:t>
              </a:r>
            </a:p>
          </p:txBody>
        </p:sp>
      </p:grpSp>
      <p:cxnSp>
        <p:nvCxnSpPr>
          <p:cNvPr id="23" name="Straight Connector 22"/>
          <p:cNvCxnSpPr/>
          <p:nvPr/>
        </p:nvCxnSpPr>
        <p:spPr>
          <a:xfrm>
            <a:off x="6553200" y="4838700"/>
            <a:ext cx="1219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099300" y="4838700"/>
            <a:ext cx="12700" cy="711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83998" y="5524500"/>
            <a:ext cx="164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b="1" dirty="0">
                <a:solidFill>
                  <a:srgbClr val="3366FF"/>
                </a:solidFill>
              </a:rPr>
              <a:t>1 0010 1001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51725" y="4995902"/>
            <a:ext cx="132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Copy Offset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0825" y="4995902"/>
            <a:ext cx="2185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Replace with Table[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]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6311900" y="4864100"/>
            <a:ext cx="12700" cy="711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37243" y="5524500"/>
            <a:ext cx="566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</a:rPr>
              <a:t>000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88033" y="5537200"/>
            <a:ext cx="241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Address = PA =</a:t>
            </a:r>
          </a:p>
        </p:txBody>
      </p:sp>
    </p:spTree>
    <p:extLst>
      <p:ext uri="{BB962C8B-B14F-4D97-AF65-F5344CB8AC3E}">
        <p14:creationId xmlns:p14="http://schemas.microsoft.com/office/powerpoint/2010/main" val="420147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 bldLvl="2"/>
      <p:bldP spid="26" grpId="0"/>
      <p:bldP spid="27" grpId="0"/>
      <p:bldP spid="30" grpId="0"/>
      <p:bldP spid="28" grpId="0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Valid/Invalid </a:t>
            </a:r>
            <a:r>
              <a:rPr lang="en-US" dirty="0">
                <a:cs typeface="+mj-cs"/>
              </a:rPr>
              <a:t>Entry</a:t>
            </a:r>
          </a:p>
        </p:txBody>
      </p:sp>
      <p:sp>
        <p:nvSpPr>
          <p:cNvPr id="80899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697788" cy="4468812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How do we know that the frame number in an entry </a:t>
            </a:r>
            <a:r>
              <a:rPr lang="en-US" dirty="0"/>
              <a:t>points to a page INDEED in the memory</a:t>
            </a:r>
            <a:r>
              <a:rPr lang="en-US" dirty="0">
                <a:cs typeface="+mn-cs"/>
              </a:rPr>
              <a:t> ?</a:t>
            </a:r>
          </a:p>
          <a:p>
            <a:pPr lvl="1">
              <a:defRPr/>
            </a:pPr>
            <a:r>
              <a:rPr lang="en-US" b="1" dirty="0">
                <a:solidFill>
                  <a:srgbClr val="3366FF"/>
                </a:solidFill>
              </a:rPr>
              <a:t>Answer</a:t>
            </a:r>
            <a:r>
              <a:rPr lang="en-US" dirty="0"/>
              <a:t>: use an extra bit to indicate if the page is indeed in the physical memory. This bit is called the </a:t>
            </a:r>
            <a:r>
              <a:rPr lang="en-US" b="1" dirty="0">
                <a:solidFill>
                  <a:srgbClr val="3366FF"/>
                </a:solidFill>
              </a:rPr>
              <a:t>validity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bit.</a:t>
            </a: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3366FF"/>
                </a:solidFill>
                <a:cs typeface="+mn-cs"/>
              </a:rPr>
              <a:t>Validity</a:t>
            </a:r>
            <a:r>
              <a:rPr lang="en-US" dirty="0">
                <a:solidFill>
                  <a:srgbClr val="3366FF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bit: it is a bit attached to </a:t>
            </a:r>
            <a:r>
              <a:rPr lang="en-US" b="1" dirty="0">
                <a:solidFill>
                  <a:srgbClr val="3366FF"/>
                </a:solidFill>
                <a:cs typeface="+mn-cs"/>
              </a:rPr>
              <a:t>each</a:t>
            </a:r>
            <a:r>
              <a:rPr lang="en-US" dirty="0">
                <a:solidFill>
                  <a:srgbClr val="3366FF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entry in the page table:</a:t>
            </a:r>
          </a:p>
          <a:p>
            <a:pPr lvl="1" eaLnBrk="1" hangingPunct="1">
              <a:defRPr/>
            </a:pPr>
            <a:r>
              <a:rPr lang="ja-JP" altLang="en-US" dirty="0">
                <a:latin typeface="Arial"/>
              </a:rPr>
              <a:t>“</a:t>
            </a:r>
            <a:r>
              <a:rPr lang="en-US" dirty="0"/>
              <a:t>valid</a:t>
            </a:r>
            <a:r>
              <a:rPr lang="ja-JP" altLang="en-US" dirty="0">
                <a:latin typeface="Arial"/>
              </a:rPr>
              <a:t>”</a:t>
            </a:r>
            <a:r>
              <a:rPr lang="en-US" dirty="0"/>
              <a:t> indicates that the associated page is in the process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/>
              <a:t> </a:t>
            </a:r>
            <a:r>
              <a:rPr lang="en-US" b="1" dirty="0">
                <a:solidFill>
                  <a:srgbClr val="3366FF"/>
                </a:solidFill>
              </a:rPr>
              <a:t>physical address space</a:t>
            </a:r>
            <a:r>
              <a:rPr lang="en-US" dirty="0"/>
              <a:t>, and is thus a legal (valid) page</a:t>
            </a:r>
          </a:p>
          <a:p>
            <a:pPr lvl="1" eaLnBrk="1" hangingPunct="1">
              <a:defRPr/>
            </a:pPr>
            <a:r>
              <a:rPr lang="ja-JP" altLang="en-US" dirty="0">
                <a:latin typeface="Arial"/>
              </a:rPr>
              <a:t>“</a:t>
            </a:r>
            <a:r>
              <a:rPr lang="en-US" dirty="0"/>
              <a:t>invalid</a:t>
            </a:r>
            <a:r>
              <a:rPr lang="ja-JP" altLang="en-US" dirty="0">
                <a:latin typeface="Arial"/>
              </a:rPr>
              <a:t>”</a:t>
            </a:r>
            <a:r>
              <a:rPr lang="en-US" dirty="0"/>
              <a:t> indicates that the page is </a:t>
            </a:r>
            <a:r>
              <a:rPr lang="en-US" b="1" dirty="0">
                <a:solidFill>
                  <a:srgbClr val="3366FF"/>
                </a:solidFill>
              </a:rPr>
              <a:t>not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in the process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/>
              <a:t> physical address space.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36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412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 bldLvl="2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22338" y="0"/>
            <a:ext cx="8161337" cy="8445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7F7F7F"/>
                </a:solidFill>
                <a:cs typeface="+mj-cs"/>
              </a:rPr>
              <a:t>Valid (v) or Invalid (</a:t>
            </a:r>
            <a:r>
              <a:rPr lang="en-US" dirty="0" err="1">
                <a:solidFill>
                  <a:srgbClr val="7F7F7F"/>
                </a:solidFill>
                <a:cs typeface="+mj-cs"/>
              </a:rPr>
              <a:t>i</a:t>
            </a:r>
            <a:r>
              <a:rPr lang="en-US" dirty="0">
                <a:solidFill>
                  <a:srgbClr val="7F7F7F"/>
                </a:solidFill>
                <a:cs typeface="+mj-cs"/>
              </a:rPr>
              <a:t>) Bit In A Page Table</a:t>
            </a:r>
          </a:p>
        </p:txBody>
      </p:sp>
      <p:pic>
        <p:nvPicPr>
          <p:cNvPr id="1628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1" t="603" r="7301" b="603"/>
          <a:stretch>
            <a:fillRect/>
          </a:stretch>
        </p:blipFill>
        <p:spPr bwMode="auto">
          <a:xfrm>
            <a:off x="1885950" y="1389063"/>
            <a:ext cx="5137150" cy="44577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37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90687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Paging Time Overhead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496175" cy="4970462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>
                <a:cs typeface="+mn-cs"/>
              </a:rPr>
              <a:t>In this scheme every data/instruction access requires two memory accesses:</a:t>
            </a:r>
          </a:p>
          <a:p>
            <a:pPr lvl="1">
              <a:defRPr/>
            </a:pPr>
            <a:r>
              <a:rPr lang="en-US" sz="1700" dirty="0">
                <a:cs typeface="+mn-cs"/>
              </a:rPr>
              <a:t> </a:t>
            </a:r>
            <a:r>
              <a:rPr lang="en-US" sz="1700" dirty="0"/>
              <a:t>o</a:t>
            </a:r>
            <a:r>
              <a:rPr lang="en-US" sz="1700" dirty="0">
                <a:cs typeface="+mn-cs"/>
              </a:rPr>
              <a:t>ne for the page table and</a:t>
            </a:r>
          </a:p>
          <a:p>
            <a:pPr lvl="1">
              <a:defRPr/>
            </a:pPr>
            <a:r>
              <a:rPr lang="en-US" sz="1700" dirty="0">
                <a:cs typeface="+mn-cs"/>
              </a:rPr>
              <a:t> one for the data/instruction.</a:t>
            </a:r>
          </a:p>
          <a:p>
            <a:pPr eaLnBrk="1" hangingPunct="1">
              <a:defRPr/>
            </a:pPr>
            <a:r>
              <a:rPr lang="en-US" sz="2000" dirty="0">
                <a:cs typeface="+mn-cs"/>
              </a:rPr>
              <a:t>The two memory access problem can be solved by the use of a special fast-lookup hardware cache called </a:t>
            </a:r>
            <a:r>
              <a:rPr lang="en-US" sz="2000" b="1" dirty="0">
                <a:cs typeface="+mn-cs"/>
              </a:rPr>
              <a:t>translation look-aside buffers (TLBs). </a:t>
            </a:r>
            <a:r>
              <a:rPr lang="en-US" sz="2000" dirty="0">
                <a:cs typeface="+mn-cs"/>
              </a:rPr>
              <a:t>Fundamentally, it is a fast cache.</a:t>
            </a:r>
            <a:endParaRPr lang="en-US" sz="2000" b="1" dirty="0"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38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634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 bldLvl="2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are the TLBs used?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in Chapter on Main Memory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in Section Paging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Sub Section </a:t>
            </a:r>
            <a:r>
              <a:rPr lang="en-US" i="1" dirty="0">
                <a:solidFill>
                  <a:srgbClr val="0000FF"/>
                </a:solidFill>
              </a:rPr>
              <a:t>Hardware Support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Access Time for Paging</a:t>
            </a:r>
          </a:p>
        </p:txBody>
      </p:sp>
    </p:spTree>
    <p:extLst>
      <p:ext uri="{BB962C8B-B14F-4D97-AF65-F5344CB8AC3E}">
        <p14:creationId xmlns:p14="http://schemas.microsoft.com/office/powerpoint/2010/main" val="75454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Paging Hardware With TLB</a:t>
            </a:r>
            <a:endParaRPr lang="en-US" sz="240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pic>
        <p:nvPicPr>
          <p:cNvPr id="161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" t="1041" r="1292" b="682"/>
          <a:stretch>
            <a:fillRect/>
          </a:stretch>
        </p:blipFill>
        <p:spPr bwMode="auto">
          <a:xfrm>
            <a:off x="1784350" y="1649413"/>
            <a:ext cx="5402263" cy="40862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40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489200" y="2247900"/>
            <a:ext cx="1714500" cy="2628900"/>
            <a:chOff x="2489200" y="2247900"/>
            <a:chExt cx="1714500" cy="2628900"/>
          </a:xfrm>
          <a:solidFill>
            <a:srgbClr val="FFFFFF"/>
          </a:solidFill>
        </p:grpSpPr>
        <p:sp>
          <p:nvSpPr>
            <p:cNvPr id="2" name="Rectangle 1"/>
            <p:cNvSpPr/>
            <p:nvPr/>
          </p:nvSpPr>
          <p:spPr>
            <a:xfrm>
              <a:off x="2705100" y="2247900"/>
              <a:ext cx="88900" cy="26289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2489200" y="4064000"/>
              <a:ext cx="1714500" cy="8128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4902200" y="3683000"/>
            <a:ext cx="330200" cy="1193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3149600" y="1828800"/>
            <a:ext cx="2514600" cy="1625600"/>
            <a:chOff x="3149600" y="1828800"/>
            <a:chExt cx="2514600" cy="1625600"/>
          </a:xfrm>
          <a:solidFill>
            <a:srgbClr val="FFFFFF"/>
          </a:solidFill>
        </p:grpSpPr>
        <p:sp>
          <p:nvSpPr>
            <p:cNvPr id="7" name="Rectangle 6"/>
            <p:cNvSpPr/>
            <p:nvPr/>
          </p:nvSpPr>
          <p:spPr>
            <a:xfrm>
              <a:off x="3149600" y="1828800"/>
              <a:ext cx="2514600" cy="203200"/>
            </a:xfrm>
            <a:prstGeom prst="rec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372100" y="1828800"/>
              <a:ext cx="177800" cy="1625600"/>
            </a:xfrm>
            <a:prstGeom prst="rec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4318000" y="2971800"/>
            <a:ext cx="914400" cy="482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34000" y="3454400"/>
            <a:ext cx="381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965700" y="3454400"/>
            <a:ext cx="381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705100" y="2247900"/>
            <a:ext cx="444500" cy="1435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540000" y="1473200"/>
            <a:ext cx="558800" cy="558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549900" y="2971800"/>
            <a:ext cx="698500" cy="4826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3" grpId="0" animBg="1"/>
      <p:bldP spid="12" grpId="0" animBg="1"/>
      <p:bldP spid="16" grpId="0" animBg="1"/>
      <p:bldP spid="1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Paging Hardware With TLB</a:t>
            </a:r>
            <a:endParaRPr lang="en-US" sz="240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pic>
        <p:nvPicPr>
          <p:cNvPr id="161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" t="1041" r="1292" b="682"/>
          <a:stretch>
            <a:fillRect/>
          </a:stretch>
        </p:blipFill>
        <p:spPr bwMode="auto">
          <a:xfrm>
            <a:off x="1784350" y="1649413"/>
            <a:ext cx="5402263" cy="40862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41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4100" y="1072634"/>
            <a:ext cx="3872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Does the TLB improve the access time?</a:t>
            </a:r>
          </a:p>
        </p:txBody>
      </p:sp>
    </p:spTree>
    <p:extLst>
      <p:ext uri="{BB962C8B-B14F-4D97-AF65-F5344CB8AC3E}">
        <p14:creationId xmlns:p14="http://schemas.microsoft.com/office/powerpoint/2010/main" val="75623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Effective (</a:t>
            </a:r>
            <a:r>
              <a:rPr lang="en-US" dirty="0">
                <a:solidFill>
                  <a:srgbClr val="3366FF"/>
                </a:solidFill>
                <a:cs typeface="+mj-cs"/>
              </a:rPr>
              <a:t>Average</a:t>
            </a:r>
            <a:r>
              <a:rPr lang="en-US" dirty="0">
                <a:cs typeface="+mj-cs"/>
              </a:rPr>
              <a:t>) Access Time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061200" cy="4868862"/>
          </a:xfrm>
        </p:spPr>
        <p:txBody>
          <a:bodyPr/>
          <a:lstStyle/>
          <a:p>
            <a:pPr eaLnBrk="1" hangingPunct="1">
              <a:tabLst>
                <a:tab pos="2063750" algn="l"/>
                <a:tab pos="2568575" algn="l"/>
              </a:tabLst>
              <a:defRPr/>
            </a:pPr>
            <a:r>
              <a:rPr lang="en-US" dirty="0">
                <a:cs typeface="+mn-cs"/>
              </a:rPr>
              <a:t>Assume we are looking for an </a:t>
            </a:r>
            <a:r>
              <a:rPr lang="en-US" b="1" dirty="0">
                <a:solidFill>
                  <a:srgbClr val="3366FF"/>
                </a:solidFill>
                <a:cs typeface="+mn-cs"/>
              </a:rPr>
              <a:t>item</a:t>
            </a:r>
            <a:r>
              <a:rPr lang="en-US" dirty="0">
                <a:cs typeface="+mn-cs"/>
              </a:rPr>
              <a:t>: data or instruction</a:t>
            </a:r>
          </a:p>
          <a:p>
            <a:pPr eaLnBrk="1" hangingPunct="1">
              <a:tabLst>
                <a:tab pos="2063750" algn="l"/>
                <a:tab pos="2568575" algn="l"/>
              </a:tabLst>
              <a:defRPr/>
            </a:pPr>
            <a:r>
              <a:rPr lang="en-US" dirty="0">
                <a:solidFill>
                  <a:srgbClr val="0000FF"/>
                </a:solidFill>
                <a:cs typeface="+mn-cs"/>
              </a:rPr>
              <a:t>TLB Lookup </a:t>
            </a:r>
            <a:r>
              <a:rPr lang="en-US" dirty="0">
                <a:cs typeface="+mn-cs"/>
              </a:rPr>
              <a:t>(for the page number entry)= </a:t>
            </a:r>
            <a:r>
              <a:rPr lang="en-US" dirty="0">
                <a:solidFill>
                  <a:srgbClr val="0000FF"/>
                </a:solidFill>
                <a:cs typeface="+mn-cs"/>
                <a:sym typeface="Symbol" charset="0"/>
              </a:rPr>
              <a:t></a:t>
            </a:r>
            <a:r>
              <a:rPr lang="en-US" dirty="0">
                <a:cs typeface="+mn-cs"/>
                <a:sym typeface="Symbol" charset="0"/>
              </a:rPr>
              <a:t> time unit</a:t>
            </a:r>
          </a:p>
          <a:p>
            <a:pPr eaLnBrk="1" hangingPunct="1">
              <a:tabLst>
                <a:tab pos="2063750" algn="l"/>
                <a:tab pos="2568575" algn="l"/>
              </a:tabLst>
              <a:defRPr/>
            </a:pPr>
            <a:r>
              <a:rPr lang="en-US" dirty="0">
                <a:cs typeface="+mn-cs"/>
                <a:sym typeface="Symbol" charset="0"/>
              </a:rPr>
              <a:t>Assume memory access time is 1 unit time</a:t>
            </a:r>
          </a:p>
          <a:p>
            <a:pPr eaLnBrk="1" hangingPunct="1">
              <a:tabLst>
                <a:tab pos="2063750" algn="l"/>
                <a:tab pos="2568575" algn="l"/>
              </a:tabLst>
              <a:defRPr/>
            </a:pPr>
            <a:r>
              <a:rPr lang="en-US" dirty="0">
                <a:sym typeface="Symbol" charset="0"/>
              </a:rPr>
              <a:t>A </a:t>
            </a:r>
            <a:r>
              <a:rPr lang="en-US" b="1" dirty="0">
                <a:solidFill>
                  <a:srgbClr val="3366FF"/>
                </a:solidFill>
                <a:sym typeface="Symbol" charset="0"/>
              </a:rPr>
              <a:t>hit</a:t>
            </a:r>
            <a:r>
              <a:rPr lang="en-US" dirty="0">
                <a:solidFill>
                  <a:srgbClr val="3366FF"/>
                </a:solidFill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occurs when the page number entry is found in the TLB</a:t>
            </a:r>
            <a:endParaRPr lang="en-US" dirty="0">
              <a:cs typeface="+mn-cs"/>
              <a:sym typeface="Symbol" charset="0"/>
            </a:endParaRPr>
          </a:p>
          <a:p>
            <a:pPr>
              <a:tabLst>
                <a:tab pos="2063750" algn="l"/>
                <a:tab pos="2568575" algn="l"/>
              </a:tabLst>
              <a:defRPr/>
            </a:pPr>
            <a:r>
              <a:rPr lang="en-US" dirty="0">
                <a:solidFill>
                  <a:srgbClr val="3366FF"/>
                </a:solidFill>
                <a:cs typeface="+mn-cs"/>
                <a:sym typeface="Symbol" charset="0"/>
              </a:rPr>
              <a:t>Hit ratio </a:t>
            </a:r>
            <a:r>
              <a:rPr lang="en-US" dirty="0">
                <a:sym typeface="Symbol" charset="0"/>
              </a:rPr>
              <a:t>= </a:t>
            </a:r>
            <a:r>
              <a:rPr lang="en-US" dirty="0">
                <a:solidFill>
                  <a:srgbClr val="3366FF"/>
                </a:solidFill>
                <a:cs typeface="+mn-cs"/>
                <a:sym typeface="Symbol" charset="0"/>
              </a:rPr>
              <a:t> </a:t>
            </a:r>
            <a:r>
              <a:rPr lang="en-US" dirty="0">
                <a:sym typeface="Symbol" charset="0"/>
              </a:rPr>
              <a:t>= Number of hits/Number of accesses to the TLB</a:t>
            </a:r>
            <a:endParaRPr lang="en-US" dirty="0">
              <a:cs typeface="+mn-cs"/>
              <a:sym typeface="Symbol" charset="0"/>
            </a:endParaRPr>
          </a:p>
          <a:p>
            <a:pPr eaLnBrk="1" hangingPunct="1">
              <a:tabLst>
                <a:tab pos="2063750" algn="l"/>
                <a:tab pos="2568575" algn="l"/>
              </a:tabLst>
              <a:defRPr/>
            </a:pPr>
            <a:r>
              <a:rPr lang="en-US" dirty="0">
                <a:sym typeface="Symbol" charset="0"/>
              </a:rPr>
              <a:t>If the page number entry is found in the TLB (</a:t>
            </a:r>
            <a:r>
              <a:rPr lang="en-US" dirty="0">
                <a:solidFill>
                  <a:srgbClr val="3366FF"/>
                </a:solidFill>
                <a:sym typeface="Symbol" charset="0"/>
              </a:rPr>
              <a:t>hit</a:t>
            </a:r>
            <a:r>
              <a:rPr lang="en-US" dirty="0">
                <a:sym typeface="Symbol" charset="0"/>
              </a:rPr>
              <a:t>):</a:t>
            </a:r>
          </a:p>
          <a:p>
            <a:pPr lvl="1">
              <a:tabLst>
                <a:tab pos="2063750" algn="l"/>
                <a:tab pos="2568575" algn="l"/>
              </a:tabLst>
              <a:defRPr/>
            </a:pPr>
            <a:r>
              <a:rPr lang="en-US" dirty="0">
                <a:sym typeface="Symbol" charset="0"/>
              </a:rPr>
              <a:t> </a:t>
            </a:r>
            <a:r>
              <a:rPr lang="en-US" dirty="0">
                <a:solidFill>
                  <a:srgbClr val="3366FF"/>
                </a:solidFill>
                <a:sym typeface="Symbol" charset="0"/>
              </a:rPr>
              <a:t>access time </a:t>
            </a:r>
            <a:r>
              <a:rPr lang="en-US" dirty="0">
                <a:sym typeface="Symbol" charset="0"/>
              </a:rPr>
              <a:t>= time to access the TLB + time to access the item =  +1 </a:t>
            </a:r>
          </a:p>
          <a:p>
            <a:pPr>
              <a:tabLst>
                <a:tab pos="2063750" algn="l"/>
                <a:tab pos="2568575" algn="l"/>
              </a:tabLst>
              <a:defRPr/>
            </a:pPr>
            <a:r>
              <a:rPr lang="en-US" dirty="0">
                <a:sym typeface="Symbol" charset="0"/>
              </a:rPr>
              <a:t>If the page number entry is </a:t>
            </a:r>
            <a:r>
              <a:rPr lang="en-US" b="1" dirty="0">
                <a:sym typeface="Symbol" charset="0"/>
              </a:rPr>
              <a:t>NOT</a:t>
            </a:r>
            <a:r>
              <a:rPr lang="en-US" dirty="0">
                <a:sym typeface="Symbol" charset="0"/>
              </a:rPr>
              <a:t> found in the TLB (</a:t>
            </a:r>
            <a:r>
              <a:rPr lang="en-US" dirty="0">
                <a:solidFill>
                  <a:srgbClr val="3366FF"/>
                </a:solidFill>
                <a:sym typeface="Symbol" charset="0"/>
              </a:rPr>
              <a:t>miss</a:t>
            </a:r>
            <a:r>
              <a:rPr lang="en-US" dirty="0">
                <a:sym typeface="Symbol" charset="0"/>
              </a:rPr>
              <a:t>):</a:t>
            </a:r>
          </a:p>
          <a:p>
            <a:pPr lvl="1">
              <a:tabLst>
                <a:tab pos="2063750" algn="l"/>
                <a:tab pos="2568575" algn="l"/>
              </a:tabLst>
              <a:defRPr/>
            </a:pPr>
            <a:r>
              <a:rPr lang="en-US" dirty="0">
                <a:sym typeface="Symbol" charset="0"/>
              </a:rPr>
              <a:t> </a:t>
            </a:r>
            <a:r>
              <a:rPr lang="en-US" dirty="0">
                <a:solidFill>
                  <a:srgbClr val="3366FF"/>
                </a:solidFill>
                <a:sym typeface="Symbol" charset="0"/>
              </a:rPr>
              <a:t>access time </a:t>
            </a:r>
            <a:r>
              <a:rPr lang="en-US" dirty="0">
                <a:sym typeface="Symbol" charset="0"/>
              </a:rPr>
              <a:t>= time to access the TLB </a:t>
            </a:r>
          </a:p>
          <a:p>
            <a:pPr marL="377190" lvl="1" indent="0">
              <a:buNone/>
              <a:tabLst>
                <a:tab pos="2063750" algn="l"/>
                <a:tab pos="2568575" algn="l"/>
              </a:tabLst>
              <a:defRPr/>
            </a:pPr>
            <a:r>
              <a:rPr lang="en-US" dirty="0">
                <a:sym typeface="Symbol" charset="0"/>
              </a:rPr>
              <a:t>                         + time to access the page table in main memory</a:t>
            </a:r>
          </a:p>
          <a:p>
            <a:pPr marL="377190" lvl="1" indent="0">
              <a:buNone/>
              <a:tabLst>
                <a:tab pos="2063750" algn="l"/>
                <a:tab pos="2568575" algn="l"/>
              </a:tabLst>
              <a:defRPr/>
            </a:pPr>
            <a:r>
              <a:rPr lang="en-US" dirty="0">
                <a:sym typeface="Symbol" charset="0"/>
              </a:rPr>
              <a:t>                         + time to access the item in memory =   + 1 + 1 = 2 +  </a:t>
            </a:r>
            <a:endParaRPr lang="en-US" dirty="0">
              <a:cs typeface="+mn-cs"/>
              <a:sym typeface="Symbol" charset="0"/>
            </a:endParaRPr>
          </a:p>
          <a:p>
            <a:pPr eaLnBrk="1" hangingPunct="1">
              <a:tabLst>
                <a:tab pos="2063750" algn="l"/>
                <a:tab pos="2568575" algn="l"/>
              </a:tabLst>
              <a:defRPr/>
            </a:pPr>
            <a:r>
              <a:rPr lang="en-US" b="1" dirty="0">
                <a:cs typeface="+mn-cs"/>
                <a:sym typeface="Symbol" charset="0"/>
              </a:rPr>
              <a:t>Effective  (</a:t>
            </a:r>
            <a:r>
              <a:rPr lang="en-US" b="1" dirty="0">
                <a:solidFill>
                  <a:srgbClr val="3366FF"/>
                </a:solidFill>
                <a:cs typeface="+mn-cs"/>
                <a:sym typeface="Symbol" charset="0"/>
              </a:rPr>
              <a:t>Average</a:t>
            </a:r>
            <a:r>
              <a:rPr lang="en-US" b="1" dirty="0">
                <a:cs typeface="+mn-cs"/>
                <a:sym typeface="Symbol" charset="0"/>
              </a:rPr>
              <a:t>) Access Time</a:t>
            </a:r>
            <a:r>
              <a:rPr lang="en-US" dirty="0">
                <a:cs typeface="+mn-cs"/>
                <a:sym typeface="Symbol" charset="0"/>
              </a:rPr>
              <a:t> (EAT)</a:t>
            </a:r>
          </a:p>
          <a:p>
            <a:pPr eaLnBrk="1" hangingPunct="1">
              <a:buFont typeface="Wingdings" charset="0"/>
              <a:buNone/>
              <a:tabLst>
                <a:tab pos="2063750" algn="l"/>
                <a:tab pos="2568575" algn="l"/>
              </a:tabLst>
              <a:defRPr/>
            </a:pPr>
            <a:r>
              <a:rPr lang="en-US" dirty="0">
                <a:cs typeface="+mn-cs"/>
              </a:rPr>
              <a:t>		EAT = (1 + </a:t>
            </a:r>
            <a:r>
              <a:rPr lang="en-US" dirty="0">
                <a:cs typeface="+mn-cs"/>
                <a:sym typeface="Symbol" charset="0"/>
              </a:rPr>
              <a:t>) </a:t>
            </a:r>
            <a:r>
              <a:rPr lang="en-US" dirty="0">
                <a:solidFill>
                  <a:srgbClr val="3366FF"/>
                </a:solidFill>
                <a:cs typeface="+mn-cs"/>
                <a:sym typeface="Symbol" charset="0"/>
              </a:rPr>
              <a:t></a:t>
            </a:r>
            <a:r>
              <a:rPr lang="en-US" dirty="0">
                <a:cs typeface="+mn-cs"/>
                <a:sym typeface="Symbol" charset="0"/>
              </a:rPr>
              <a:t> + (2 + )</a:t>
            </a:r>
            <a:r>
              <a:rPr lang="en-US" dirty="0">
                <a:solidFill>
                  <a:srgbClr val="3366FF"/>
                </a:solidFill>
                <a:cs typeface="+mn-cs"/>
                <a:sym typeface="Symbol" charset="0"/>
              </a:rPr>
              <a:t>(1 – )</a:t>
            </a:r>
          </a:p>
          <a:p>
            <a:pPr eaLnBrk="1" hangingPunct="1">
              <a:buFont typeface="Wingdings" charset="0"/>
              <a:buNone/>
              <a:tabLst>
                <a:tab pos="2063750" algn="l"/>
                <a:tab pos="2568575" algn="l"/>
              </a:tabLst>
              <a:defRPr/>
            </a:pPr>
            <a:r>
              <a:rPr lang="en-US" dirty="0">
                <a:cs typeface="+mn-cs"/>
                <a:sym typeface="Symbol" charset="0"/>
              </a:rPr>
              <a:t>			= 2 +  – </a:t>
            </a:r>
          </a:p>
          <a:p>
            <a:pPr eaLnBrk="1" hangingPunct="1">
              <a:buFont typeface="Wingdings" charset="0"/>
              <a:buNone/>
              <a:tabLst>
                <a:tab pos="2063750" algn="l"/>
                <a:tab pos="2568575" algn="l"/>
              </a:tabLst>
              <a:defRPr/>
            </a:pPr>
            <a:r>
              <a:rPr lang="en-US" dirty="0">
                <a:cs typeface="+mn-cs"/>
              </a:rPr>
              <a:t> </a:t>
            </a:r>
          </a:p>
        </p:txBody>
      </p:sp>
      <p:sp>
        <p:nvSpPr>
          <p:cNvPr id="4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42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bldLvl="3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Page Table Overhead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812088" cy="479266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Paging has two overheads:</a:t>
            </a:r>
          </a:p>
          <a:p>
            <a:pPr lvl="1">
              <a:defRPr/>
            </a:pPr>
            <a:r>
              <a:rPr lang="en-US" dirty="0">
                <a:cs typeface="+mn-cs"/>
              </a:rPr>
              <a:t>Access </a:t>
            </a:r>
            <a:r>
              <a:rPr lang="en-US" b="1" dirty="0">
                <a:solidFill>
                  <a:srgbClr val="3366FF"/>
                </a:solidFill>
                <a:cs typeface="+mn-cs"/>
              </a:rPr>
              <a:t>time</a:t>
            </a:r>
            <a:r>
              <a:rPr lang="en-US" dirty="0">
                <a:cs typeface="+mn-cs"/>
              </a:rPr>
              <a:t>:  each data or instruction access requires two memory accesses</a:t>
            </a:r>
          </a:p>
          <a:p>
            <a:pPr lvl="1">
              <a:defRPr/>
            </a:pPr>
            <a:r>
              <a:rPr lang="en-US" b="1" dirty="0">
                <a:solidFill>
                  <a:srgbClr val="3366FF"/>
                </a:solidFill>
              </a:rPr>
              <a:t>Space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overhead:</a:t>
            </a:r>
          </a:p>
          <a:p>
            <a:pPr lvl="2">
              <a:defRPr/>
            </a:pPr>
            <a:r>
              <a:rPr lang="en-US" dirty="0"/>
              <a:t>each process requires its own page table</a:t>
            </a:r>
          </a:p>
          <a:p>
            <a:pPr lvl="2">
              <a:defRPr/>
            </a:pPr>
            <a:r>
              <a:rPr lang="en-US" dirty="0"/>
              <a:t>each page table can be </a:t>
            </a:r>
            <a:r>
              <a:rPr lang="en-US" b="1" dirty="0">
                <a:solidFill>
                  <a:srgbClr val="0000FF"/>
                </a:solidFill>
              </a:rPr>
              <a:t>very large </a:t>
            </a:r>
          </a:p>
          <a:p>
            <a:pPr lvl="2"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cs typeface="+mn-cs"/>
              </a:rPr>
              <a:t>How to alleviate these two overhead?</a:t>
            </a:r>
          </a:p>
          <a:p>
            <a:pPr lvl="1">
              <a:defRPr/>
            </a:pPr>
            <a:r>
              <a:rPr lang="en-US" b="1" dirty="0">
                <a:solidFill>
                  <a:srgbClr val="3366FF"/>
                </a:solidFill>
              </a:rPr>
              <a:t>time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(already seen)</a:t>
            </a:r>
            <a:r>
              <a:rPr lang="en-US" dirty="0"/>
              <a:t>: use of  TLBs</a:t>
            </a:r>
          </a:p>
          <a:p>
            <a:pPr lvl="1">
              <a:defRPr/>
            </a:pPr>
            <a:r>
              <a:rPr lang="en-US" b="1" dirty="0">
                <a:solidFill>
                  <a:srgbClr val="3366FF"/>
                </a:solidFill>
                <a:cs typeface="+mn-cs"/>
              </a:rPr>
              <a:t>space</a:t>
            </a:r>
            <a:r>
              <a:rPr lang="en-US" dirty="0">
                <a:cs typeface="+mn-cs"/>
              </a:rPr>
              <a:t>: consider inverted page table (see next slide)</a:t>
            </a:r>
          </a:p>
          <a:p>
            <a:pPr lvl="1">
              <a:defRPr/>
            </a:pPr>
            <a:endParaRPr lang="en-US" dirty="0">
              <a:cs typeface="+mn-cs"/>
            </a:endParaRPr>
          </a:p>
          <a:p>
            <a:pPr lvl="1">
              <a:defRPr/>
            </a:pPr>
            <a:endParaRPr lang="en-US" dirty="0"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43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 bldLvl="3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Considerable space overhead</a:t>
            </a:r>
          </a:p>
          <a:p>
            <a:pPr lvl="2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One page table per process</a:t>
            </a:r>
          </a:p>
          <a:p>
            <a:pPr lvl="2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Each page table can be very large.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to minimize this space overhead?</a:t>
            </a:r>
          </a:p>
          <a:p>
            <a:pPr lvl="2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Answer: use an </a:t>
            </a:r>
            <a:r>
              <a:rPr lang="en-US" dirty="0">
                <a:solidFill>
                  <a:srgbClr val="0000FF"/>
                </a:solidFill>
              </a:rPr>
              <a:t>inverted page table</a:t>
            </a:r>
          </a:p>
          <a:p>
            <a:pPr lvl="2"/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in Chapter on Main Memory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in Section Paging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Sub Section </a:t>
            </a:r>
            <a:r>
              <a:rPr lang="en-US" i="1" dirty="0">
                <a:solidFill>
                  <a:srgbClr val="0000FF"/>
                </a:solidFill>
              </a:rPr>
              <a:t>Inverted Page Tables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Space Overhead for Paging</a:t>
            </a:r>
          </a:p>
        </p:txBody>
      </p:sp>
    </p:spTree>
    <p:extLst>
      <p:ext uri="{BB962C8B-B14F-4D97-AF65-F5344CB8AC3E}">
        <p14:creationId xmlns:p14="http://schemas.microsoft.com/office/powerpoint/2010/main" val="135483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Inverted Page Table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812088" cy="4792662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cs typeface="+mn-cs"/>
              </a:rPr>
              <a:t>Inverted</a:t>
            </a:r>
            <a:r>
              <a:rPr lang="en-US" dirty="0">
                <a:cs typeface="+mn-cs"/>
              </a:rPr>
              <a:t> because the table is indexed with the frame #: One entry for each real frame of memory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3366FF"/>
                </a:solidFill>
                <a:cs typeface="+mn-cs"/>
              </a:rPr>
              <a:t>One single </a:t>
            </a:r>
            <a:r>
              <a:rPr lang="en-US" dirty="0">
                <a:cs typeface="+mn-cs"/>
              </a:rPr>
              <a:t>inverted page table is required for ALL processes.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Entry </a:t>
            </a:r>
            <a:r>
              <a:rPr lang="en-US" dirty="0"/>
              <a:t>contains</a:t>
            </a:r>
            <a:r>
              <a:rPr lang="en-US" dirty="0">
                <a:cs typeface="+mn-cs"/>
              </a:rPr>
              <a:t> page number stored in that real memory location, with information about the process that owns that page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Decreases memory needed to store each page table, but </a:t>
            </a:r>
            <a:r>
              <a:rPr lang="en-US" b="1" dirty="0">
                <a:solidFill>
                  <a:srgbClr val="3366FF"/>
                </a:solidFill>
                <a:cs typeface="+mn-cs"/>
              </a:rPr>
              <a:t>increases time </a:t>
            </a:r>
            <a:r>
              <a:rPr lang="en-US" dirty="0">
                <a:cs typeface="+mn-cs"/>
              </a:rPr>
              <a:t>needed to search the table when a page reference occurs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Use hash table to limit the search to one — or at most a few — page-table entries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45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77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7F7F7F"/>
                </a:solidFill>
                <a:cs typeface="+mj-cs"/>
              </a:rPr>
              <a:t>Inverted Page Table Architecture</a:t>
            </a:r>
            <a:endParaRPr lang="en-US" sz="2400" dirty="0">
              <a:solidFill>
                <a:srgbClr val="7F7F7F"/>
              </a:solidFill>
              <a:cs typeface="+mj-cs"/>
            </a:endParaRPr>
          </a:p>
        </p:txBody>
      </p:sp>
      <p:pic>
        <p:nvPicPr>
          <p:cNvPr id="870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" t="4347" r="706" b="4672"/>
          <a:stretch>
            <a:fillRect/>
          </a:stretch>
        </p:blipFill>
        <p:spPr bwMode="auto">
          <a:xfrm>
            <a:off x="1668463" y="1728788"/>
            <a:ext cx="5654675" cy="39131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46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Segmentation?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does it work?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in Chapter on Main Memory</a:t>
            </a:r>
          </a:p>
          <a:p>
            <a:pPr lvl="1"/>
            <a:r>
              <a:rPr lang="en-US">
                <a:solidFill>
                  <a:srgbClr val="0000FF"/>
                </a:solidFill>
              </a:rPr>
              <a:t>Section Segmentation</a:t>
            </a:r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</a:p>
        </p:txBody>
      </p:sp>
    </p:spTree>
    <p:extLst>
      <p:ext uri="{BB962C8B-B14F-4D97-AF65-F5344CB8AC3E}">
        <p14:creationId xmlns:p14="http://schemas.microsoft.com/office/powerpoint/2010/main" val="135483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Segmentation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6819900" cy="45418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833563" algn="l"/>
              </a:tabLst>
              <a:defRPr/>
            </a:pPr>
            <a:r>
              <a:rPr lang="en-US" sz="2000" dirty="0">
                <a:cs typeface="+mn-cs"/>
              </a:rPr>
              <a:t>Memory-management scheme that supports user view of memory </a:t>
            </a:r>
          </a:p>
          <a:p>
            <a:pPr eaLnBrk="1" hangingPunct="1">
              <a:lnSpc>
                <a:spcPct val="90000"/>
              </a:lnSpc>
              <a:tabLst>
                <a:tab pos="1833563" algn="l"/>
              </a:tabLst>
              <a:defRPr/>
            </a:pPr>
            <a:r>
              <a:rPr lang="en-US" sz="2000" dirty="0">
                <a:cs typeface="+mn-cs"/>
              </a:rPr>
              <a:t>A program is a collection of segments.  A segment is a logical unit such as: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1833563" algn="l"/>
              </a:tabLst>
              <a:defRPr/>
            </a:pPr>
            <a:r>
              <a:rPr lang="en-US" sz="2000" dirty="0">
                <a:cs typeface="+mn-cs"/>
              </a:rPr>
              <a:t>		main program,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1833563" algn="l"/>
              </a:tabLst>
              <a:defRPr/>
            </a:pPr>
            <a:r>
              <a:rPr lang="en-US" sz="2000" dirty="0">
                <a:cs typeface="+mn-cs"/>
              </a:rPr>
              <a:t>		procedure,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1833563" algn="l"/>
              </a:tabLst>
              <a:defRPr/>
            </a:pPr>
            <a:r>
              <a:rPr lang="en-US" sz="2000" dirty="0">
                <a:cs typeface="+mn-cs"/>
              </a:rPr>
              <a:t>		function,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1833563" algn="l"/>
              </a:tabLst>
              <a:defRPr/>
            </a:pPr>
            <a:r>
              <a:rPr lang="en-US" sz="2000" dirty="0">
                <a:cs typeface="+mn-cs"/>
              </a:rPr>
              <a:t>		method,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1833563" algn="l"/>
              </a:tabLst>
              <a:defRPr/>
            </a:pPr>
            <a:r>
              <a:rPr lang="en-US" sz="2000" dirty="0">
                <a:cs typeface="+mn-cs"/>
              </a:rPr>
              <a:t>		object,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1833563" algn="l"/>
              </a:tabLst>
              <a:defRPr/>
            </a:pPr>
            <a:r>
              <a:rPr lang="en-US" sz="2000" dirty="0">
                <a:cs typeface="+mn-cs"/>
              </a:rPr>
              <a:t>		local variables, global variables,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1833563" algn="l"/>
              </a:tabLst>
              <a:defRPr/>
            </a:pPr>
            <a:r>
              <a:rPr lang="en-US" sz="2000" dirty="0">
                <a:cs typeface="+mn-cs"/>
              </a:rPr>
              <a:t>		common block,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1833563" algn="l"/>
              </a:tabLst>
              <a:defRPr/>
            </a:pPr>
            <a:r>
              <a:rPr lang="en-US" sz="2000" dirty="0">
                <a:cs typeface="+mn-cs"/>
              </a:rPr>
              <a:t>		stack,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1833563" algn="l"/>
              </a:tabLst>
              <a:defRPr/>
            </a:pPr>
            <a:r>
              <a:rPr lang="en-US" sz="2000" dirty="0">
                <a:cs typeface="+mn-cs"/>
              </a:rPr>
              <a:t>		symbol table, arrays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48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User</a:t>
            </a:r>
            <a:r>
              <a:rPr lang="ja-JP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+mj-cs"/>
              </a:rPr>
              <a:t>’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s View of a Program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cs typeface="+mj-cs"/>
            </a:endParaRPr>
          </a:p>
        </p:txBody>
      </p:sp>
      <p:pic>
        <p:nvPicPr>
          <p:cNvPr id="1699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12" t="632" r="21811" b="964"/>
          <a:stretch>
            <a:fillRect/>
          </a:stretch>
        </p:blipFill>
        <p:spPr bwMode="auto">
          <a:xfrm>
            <a:off x="2836863" y="1541463"/>
            <a:ext cx="3232150" cy="42306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49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+mj-cs"/>
              </a:rPr>
              <a:t>Logical View of Segmentation</a:t>
            </a:r>
          </a:p>
        </p:txBody>
      </p:sp>
      <p:sp>
        <p:nvSpPr>
          <p:cNvPr id="91139" name="Oval 3"/>
          <p:cNvSpPr>
            <a:spLocks noChangeArrowheads="1"/>
          </p:cNvSpPr>
          <p:nvPr/>
        </p:nvSpPr>
        <p:spPr bwMode="auto">
          <a:xfrm>
            <a:off x="1533525" y="1820863"/>
            <a:ext cx="2733675" cy="33131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2068513" y="2387600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latin typeface="Helvetica" charset="0"/>
                <a:cs typeface="+mn-cs"/>
              </a:rPr>
              <a:t>1</a:t>
            </a:r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1900238" y="3368675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latin typeface="Helvetica" charset="0"/>
                <a:cs typeface="+mn-cs"/>
              </a:rPr>
              <a:t>3</a:t>
            </a:r>
          </a:p>
        </p:txBody>
      </p:sp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3198813" y="3160713"/>
            <a:ext cx="914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latin typeface="Helvetica" charset="0"/>
                <a:cs typeface="+mn-cs"/>
              </a:rPr>
              <a:t>2</a:t>
            </a:r>
          </a:p>
        </p:txBody>
      </p:sp>
      <p:sp>
        <p:nvSpPr>
          <p:cNvPr id="91143" name="Rectangle 7"/>
          <p:cNvSpPr>
            <a:spLocks noChangeArrowheads="1"/>
          </p:cNvSpPr>
          <p:nvPr/>
        </p:nvSpPr>
        <p:spPr bwMode="auto">
          <a:xfrm>
            <a:off x="2976563" y="3914775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latin typeface="Helvetica" charset="0"/>
                <a:cs typeface="+mn-cs"/>
              </a:rPr>
              <a:t>4</a:t>
            </a:r>
          </a:p>
        </p:txBody>
      </p:sp>
      <p:grpSp>
        <p:nvGrpSpPr>
          <p:cNvPr id="46087" name="Group 24"/>
          <p:cNvGrpSpPr>
            <a:grpSpLocks/>
          </p:cNvGrpSpPr>
          <p:nvPr/>
        </p:nvGrpSpPr>
        <p:grpSpPr bwMode="auto">
          <a:xfrm>
            <a:off x="5727700" y="1879600"/>
            <a:ext cx="1054100" cy="3254375"/>
            <a:chOff x="3888" y="1056"/>
            <a:chExt cx="720" cy="2496"/>
          </a:xfrm>
        </p:grpSpPr>
        <p:grpSp>
          <p:nvGrpSpPr>
            <p:cNvPr id="46090" name="Group 11"/>
            <p:cNvGrpSpPr>
              <a:grpSpLocks/>
            </p:cNvGrpSpPr>
            <p:nvPr/>
          </p:nvGrpSpPr>
          <p:grpSpPr bwMode="auto">
            <a:xfrm>
              <a:off x="3888" y="1056"/>
              <a:ext cx="720" cy="672"/>
              <a:chOff x="3888" y="1056"/>
              <a:chExt cx="720" cy="672"/>
            </a:xfrm>
          </p:grpSpPr>
          <p:sp>
            <p:nvSpPr>
              <p:cNvPr id="91144" name="Rectangle 8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91145" name="Line 9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grpSp>
          <p:nvGrpSpPr>
            <p:cNvPr id="46091" name="Group 12"/>
            <p:cNvGrpSpPr>
              <a:grpSpLocks/>
            </p:cNvGrpSpPr>
            <p:nvPr/>
          </p:nvGrpSpPr>
          <p:grpSpPr bwMode="auto">
            <a:xfrm>
              <a:off x="3888" y="1728"/>
              <a:ext cx="720" cy="672"/>
              <a:chOff x="3888" y="1056"/>
              <a:chExt cx="720" cy="672"/>
            </a:xfrm>
          </p:grpSpPr>
          <p:sp>
            <p:nvSpPr>
              <p:cNvPr id="91149" name="Rectangle 13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91150" name="Line 14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sp>
          <p:nvSpPr>
            <p:cNvPr id="91151" name="Text Box 15"/>
            <p:cNvSpPr txBox="1">
              <a:spLocks noChangeArrowheads="1"/>
            </p:cNvSpPr>
            <p:nvPr/>
          </p:nvSpPr>
          <p:spPr bwMode="auto">
            <a:xfrm>
              <a:off x="4119" y="1108"/>
              <a:ext cx="213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>
                  <a:latin typeface="Helvetica" charset="0"/>
                  <a:cs typeface="+mn-cs"/>
                </a:rPr>
                <a:t>1</a:t>
              </a:r>
            </a:p>
          </p:txBody>
        </p:sp>
        <p:sp>
          <p:nvSpPr>
            <p:cNvPr id="91152" name="Text Box 16"/>
            <p:cNvSpPr txBox="1">
              <a:spLocks noChangeArrowheads="1"/>
            </p:cNvSpPr>
            <p:nvPr/>
          </p:nvSpPr>
          <p:spPr bwMode="auto">
            <a:xfrm>
              <a:off x="4121" y="1415"/>
              <a:ext cx="213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>
                  <a:latin typeface="Helvetica" charset="0"/>
                  <a:cs typeface="+mn-cs"/>
                </a:rPr>
                <a:t>4</a:t>
              </a:r>
            </a:p>
          </p:txBody>
        </p:sp>
        <p:sp>
          <p:nvSpPr>
            <p:cNvPr id="91153" name="Rectangle 17"/>
            <p:cNvSpPr>
              <a:spLocks noChangeArrowheads="1"/>
            </p:cNvSpPr>
            <p:nvPr/>
          </p:nvSpPr>
          <p:spPr bwMode="auto">
            <a:xfrm>
              <a:off x="3888" y="2400"/>
              <a:ext cx="720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91154" name="Rectangle 18"/>
            <p:cNvSpPr>
              <a:spLocks noChangeArrowheads="1"/>
            </p:cNvSpPr>
            <p:nvPr/>
          </p:nvSpPr>
          <p:spPr bwMode="auto"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91155" name="Line 19"/>
            <p:cNvSpPr>
              <a:spLocks noChangeShapeType="1"/>
            </p:cNvSpPr>
            <p:nvPr/>
          </p:nvSpPr>
          <p:spPr bwMode="auto">
            <a:xfrm>
              <a:off x="3888" y="26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91156" name="Text Box 20"/>
            <p:cNvSpPr txBox="1">
              <a:spLocks noChangeArrowheads="1"/>
            </p:cNvSpPr>
            <p:nvPr/>
          </p:nvSpPr>
          <p:spPr bwMode="auto">
            <a:xfrm>
              <a:off x="4121" y="2404"/>
              <a:ext cx="213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>
                  <a:latin typeface="Helvetica" charset="0"/>
                  <a:cs typeface="+mn-cs"/>
                </a:rPr>
                <a:t>2</a:t>
              </a:r>
            </a:p>
          </p:txBody>
        </p:sp>
        <p:sp>
          <p:nvSpPr>
            <p:cNvPr id="91157" name="Text Box 21"/>
            <p:cNvSpPr txBox="1">
              <a:spLocks noChangeArrowheads="1"/>
            </p:cNvSpPr>
            <p:nvPr/>
          </p:nvSpPr>
          <p:spPr bwMode="auto">
            <a:xfrm>
              <a:off x="4121" y="2864"/>
              <a:ext cx="213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>
                  <a:latin typeface="Helvetica" charset="0"/>
                  <a:cs typeface="+mn-cs"/>
                </a:rPr>
                <a:t>3</a:t>
              </a:r>
            </a:p>
          </p:txBody>
        </p:sp>
      </p:grpSp>
      <p:sp>
        <p:nvSpPr>
          <p:cNvPr id="91158" name="Text Box 22"/>
          <p:cNvSpPr txBox="1">
            <a:spLocks noChangeArrowheads="1"/>
          </p:cNvSpPr>
          <p:nvPr/>
        </p:nvSpPr>
        <p:spPr bwMode="auto">
          <a:xfrm>
            <a:off x="2022475" y="5256213"/>
            <a:ext cx="1365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latin typeface="Helvetica" charset="0"/>
                <a:cs typeface="+mn-cs"/>
              </a:rPr>
              <a:t>user space </a:t>
            </a:r>
          </a:p>
        </p:txBody>
      </p:sp>
      <p:sp>
        <p:nvSpPr>
          <p:cNvPr id="91159" name="Text Box 23"/>
          <p:cNvSpPr txBox="1">
            <a:spLocks noChangeArrowheads="1"/>
          </p:cNvSpPr>
          <p:nvPr/>
        </p:nvSpPr>
        <p:spPr bwMode="auto">
          <a:xfrm>
            <a:off x="4883150" y="5256213"/>
            <a:ext cx="2571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latin typeface="Helvetica" charset="0"/>
                <a:cs typeface="+mn-cs"/>
              </a:rPr>
              <a:t>physical memory space</a:t>
            </a:r>
          </a:p>
        </p:txBody>
      </p:sp>
      <p:sp>
        <p:nvSpPr>
          <p:cNvPr id="24" name="Slide Number Placeholder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defPPr>
              <a:defRPr lang="en-US"/>
            </a:defPPr>
            <a:lvl1pPr marL="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2pPr>
            <a:lvl3pPr marL="80010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3pPr>
            <a:lvl4pPr marL="112014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4pPr>
            <a:lvl5pPr marL="1440180" indent="-160020" algn="l" defTabSz="457200" rtl="0" eaLnBrk="1" latinLnBrk="0" hangingPunct="1"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5pPr>
            <a:lvl6pPr marL="176022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6pPr>
            <a:lvl7pPr marL="208026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7pPr>
            <a:lvl8pPr marL="240030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8pPr>
            <a:lvl9pPr marL="2720340" indent="-16002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00" kern="1200">
                <a:solidFill>
                  <a:schemeClr val="tx1"/>
                </a:solidFill>
                <a:latin typeface="Verdana" charset="0"/>
                <a:ea typeface="ＭＳ Ｐゴシック" charset="0"/>
                <a:cs typeface="+mn-cs"/>
              </a:defRPr>
            </a:lvl9pPr>
          </a:lstStyle>
          <a:p>
            <a:pPr algn="r"/>
            <a:fld id="{0C860AAC-1E45-8342-9A9B-2571D3FDD72F}" type="slidenum">
              <a:rPr lang="en-US" sz="1400" smtClean="0">
                <a:solidFill>
                  <a:srgbClr val="7F7F7F"/>
                </a:solidFill>
                <a:latin typeface="+mn-lt"/>
              </a:rPr>
              <a:pPr algn="r"/>
              <a:t>50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  <a:latin typeface="+mn-lt"/>
              </a:rPr>
              <a:t>Wrap Up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457200" y="1092200"/>
            <a:ext cx="8229600" cy="4114800"/>
          </a:xfrm>
        </p:spPr>
        <p:txBody>
          <a:bodyPr/>
          <a:lstStyle/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objectives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Memory Management</a:t>
            </a:r>
            <a:r>
              <a:rPr lang="en-US" dirty="0"/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design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guiding principles </a:t>
            </a:r>
            <a:r>
              <a:rPr lang="en-US" dirty="0"/>
              <a:t>to memory management.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Tell a </a:t>
            </a:r>
            <a:r>
              <a:rPr lang="en-US" dirty="0">
                <a:solidFill>
                  <a:srgbClr val="FF6600"/>
                </a:solidFill>
              </a:rPr>
              <a:t>story</a:t>
            </a:r>
            <a:r>
              <a:rPr lang="en-US" dirty="0"/>
              <a:t> of an </a:t>
            </a:r>
            <a:r>
              <a:rPr lang="en-US" dirty="0">
                <a:solidFill>
                  <a:srgbClr val="FF6600"/>
                </a:solidFill>
              </a:rPr>
              <a:t>illusion</a:t>
            </a:r>
            <a:r>
              <a:rPr lang="en-US" dirty="0"/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Describe, discuss and evaluate </a:t>
            </a:r>
            <a:r>
              <a:rPr lang="en-US" dirty="0">
                <a:solidFill>
                  <a:srgbClr val="FF6600"/>
                </a:solidFill>
              </a:rPr>
              <a:t>contiguous memory placement strategies</a:t>
            </a:r>
            <a:r>
              <a:rPr lang="en-US" dirty="0"/>
              <a:t>.</a:t>
            </a: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paging </a:t>
            </a:r>
            <a:r>
              <a:rPr lang="en-US" dirty="0"/>
              <a:t>and</a:t>
            </a:r>
            <a:r>
              <a:rPr lang="en-US" dirty="0">
                <a:solidFill>
                  <a:srgbClr val="FF6600"/>
                </a:solidFill>
              </a:rPr>
              <a:t> segmentation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Read Section 7.8: Summary</a:t>
            </a:r>
          </a:p>
          <a:p>
            <a:pPr marL="377190" lvl="1" indent="0">
              <a:buNone/>
            </a:pPr>
            <a:endParaRPr lang="en-US" sz="2100" dirty="0">
              <a:solidFill>
                <a:srgbClr val="7F7F7F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7850E7-7C6C-754D-81F8-C814130E13C9}" type="slidenum">
              <a:rPr lang="en-US" smtClean="0">
                <a:solidFill>
                  <a:srgbClr val="7F7F7F"/>
                </a:solidFill>
              </a:rPr>
              <a:pPr algn="r"/>
              <a:t>51</a:t>
            </a:fld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81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 bldLvl="3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50E7-7C6C-754D-81F8-C814130E13C9}" type="slidenum">
              <a:rPr lang="en-US" smtClean="0"/>
              <a:t>52</a:t>
            </a:fld>
            <a:endParaRPr lang="en-US"/>
          </a:p>
        </p:txBody>
      </p:sp>
      <p:sp>
        <p:nvSpPr>
          <p:cNvPr id="6" name="Rectangle 32"/>
          <p:cNvSpPr>
            <a:spLocks noChangeArrowheads="1"/>
          </p:cNvSpPr>
          <p:nvPr/>
        </p:nvSpPr>
        <p:spPr bwMode="auto">
          <a:xfrm>
            <a:off x="6794500" y="1576385"/>
            <a:ext cx="1143000" cy="383381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" name="Line 33"/>
          <p:cNvSpPr>
            <a:spLocks noChangeShapeType="1"/>
          </p:cNvSpPr>
          <p:nvPr/>
        </p:nvSpPr>
        <p:spPr bwMode="auto">
          <a:xfrm>
            <a:off x="6794500" y="193992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8" name="Line 34"/>
          <p:cNvSpPr>
            <a:spLocks noChangeShapeType="1"/>
          </p:cNvSpPr>
          <p:nvPr/>
        </p:nvSpPr>
        <p:spPr bwMode="auto">
          <a:xfrm>
            <a:off x="6794500" y="2351087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9" name="Line 35"/>
          <p:cNvSpPr>
            <a:spLocks noChangeShapeType="1"/>
          </p:cNvSpPr>
          <p:nvPr/>
        </p:nvSpPr>
        <p:spPr bwMode="auto">
          <a:xfrm>
            <a:off x="6794500" y="35877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" name="Text Box 36"/>
          <p:cNvSpPr txBox="1">
            <a:spLocks noChangeArrowheads="1"/>
          </p:cNvSpPr>
          <p:nvPr/>
        </p:nvSpPr>
        <p:spPr bwMode="auto">
          <a:xfrm>
            <a:off x="7099300" y="1576387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11" name="Text Box 37"/>
          <p:cNvSpPr txBox="1">
            <a:spLocks noChangeArrowheads="1"/>
          </p:cNvSpPr>
          <p:nvPr/>
        </p:nvSpPr>
        <p:spPr bwMode="auto">
          <a:xfrm>
            <a:off x="6794500" y="1906587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6794500" y="4037012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13" name="Rectangle 44"/>
          <p:cNvSpPr>
            <a:spLocks noChangeArrowheads="1"/>
          </p:cNvSpPr>
          <p:nvPr/>
        </p:nvSpPr>
        <p:spPr bwMode="auto">
          <a:xfrm>
            <a:off x="6794500" y="3364226"/>
            <a:ext cx="1143000" cy="53466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5" name="Text Box 46"/>
          <p:cNvSpPr txBox="1">
            <a:spLocks noChangeArrowheads="1"/>
          </p:cNvSpPr>
          <p:nvPr/>
        </p:nvSpPr>
        <p:spPr bwMode="auto">
          <a:xfrm>
            <a:off x="6794500" y="2884487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>
                <a:latin typeface="Helvetica" charset="0"/>
                <a:cs typeface="+mn-cs"/>
              </a:rPr>
              <a:t>process 10</a:t>
            </a:r>
          </a:p>
        </p:txBody>
      </p:sp>
      <p:sp>
        <p:nvSpPr>
          <p:cNvPr id="16" name="Rectangle 44"/>
          <p:cNvSpPr>
            <a:spLocks noChangeArrowheads="1"/>
          </p:cNvSpPr>
          <p:nvPr/>
        </p:nvSpPr>
        <p:spPr bwMode="auto">
          <a:xfrm>
            <a:off x="6794500" y="2209801"/>
            <a:ext cx="1143000" cy="674686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575300" y="4920457"/>
            <a:ext cx="1143000" cy="979485"/>
            <a:chOff x="4127500" y="5295900"/>
            <a:chExt cx="1143000" cy="794910"/>
          </a:xfrm>
        </p:grpSpPr>
        <p:sp>
          <p:nvSpPr>
            <p:cNvPr id="18" name="Text Box 46"/>
            <p:cNvSpPr txBox="1">
              <a:spLocks noChangeArrowheads="1"/>
            </p:cNvSpPr>
            <p:nvPr/>
          </p:nvSpPr>
          <p:spPr bwMode="auto">
            <a:xfrm>
              <a:off x="4178300" y="5479104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 dirty="0">
                  <a:latin typeface="Helvetica" charset="0"/>
                  <a:cs typeface="+mn-cs"/>
                </a:rPr>
                <a:t>process 11</a:t>
              </a:r>
            </a:p>
          </p:txBody>
        </p:sp>
        <p:sp>
          <p:nvSpPr>
            <p:cNvPr id="19" name="Rectangle 44"/>
            <p:cNvSpPr>
              <a:spLocks noChangeArrowheads="1"/>
            </p:cNvSpPr>
            <p:nvPr/>
          </p:nvSpPr>
          <p:spPr bwMode="auto">
            <a:xfrm>
              <a:off x="4127500" y="5295900"/>
              <a:ext cx="1143000" cy="7949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20" name="Rectangle 44"/>
          <p:cNvSpPr>
            <a:spLocks noChangeArrowheads="1"/>
          </p:cNvSpPr>
          <p:nvPr/>
        </p:nvSpPr>
        <p:spPr bwMode="auto">
          <a:xfrm>
            <a:off x="6794500" y="5283200"/>
            <a:ext cx="1143000" cy="584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85025" y="547528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4928" y="3400979"/>
            <a:ext cx="31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7531" y="2329971"/>
            <a:ext cx="348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42" name="Rectangle 32"/>
          <p:cNvSpPr>
            <a:spLocks noChangeArrowheads="1"/>
          </p:cNvSpPr>
          <p:nvPr/>
        </p:nvSpPr>
        <p:spPr bwMode="auto">
          <a:xfrm>
            <a:off x="2019300" y="1687958"/>
            <a:ext cx="1143000" cy="3833815"/>
          </a:xfrm>
          <a:prstGeom prst="rect">
            <a:avLst/>
          </a:prstGeom>
          <a:solidFill>
            <a:schemeClr val="bg1"/>
          </a:solidFill>
          <a:ln w="57150" cmpd="sng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" name="Line 33"/>
          <p:cNvSpPr>
            <a:spLocks noChangeShapeType="1"/>
          </p:cNvSpPr>
          <p:nvPr/>
        </p:nvSpPr>
        <p:spPr bwMode="auto">
          <a:xfrm>
            <a:off x="2019300" y="205149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" name="Line 34"/>
          <p:cNvSpPr>
            <a:spLocks noChangeShapeType="1"/>
          </p:cNvSpPr>
          <p:nvPr/>
        </p:nvSpPr>
        <p:spPr bwMode="auto">
          <a:xfrm>
            <a:off x="2019300" y="246266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5" name="Line 35"/>
          <p:cNvSpPr>
            <a:spLocks noChangeShapeType="1"/>
          </p:cNvSpPr>
          <p:nvPr/>
        </p:nvSpPr>
        <p:spPr bwMode="auto">
          <a:xfrm>
            <a:off x="2019300" y="369932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6" name="Text Box 36"/>
          <p:cNvSpPr txBox="1">
            <a:spLocks noChangeArrowheads="1"/>
          </p:cNvSpPr>
          <p:nvPr/>
        </p:nvSpPr>
        <p:spPr bwMode="auto">
          <a:xfrm>
            <a:off x="2324100" y="1687960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>
                <a:latin typeface="Helvetica" charset="0"/>
                <a:cs typeface="+mn-cs"/>
              </a:rPr>
              <a:t>OS</a:t>
            </a:r>
          </a:p>
        </p:txBody>
      </p:sp>
      <p:sp>
        <p:nvSpPr>
          <p:cNvPr id="49" name="Rectangle 44"/>
          <p:cNvSpPr>
            <a:spLocks noChangeArrowheads="1"/>
          </p:cNvSpPr>
          <p:nvPr/>
        </p:nvSpPr>
        <p:spPr bwMode="auto">
          <a:xfrm>
            <a:off x="2019300" y="3475799"/>
            <a:ext cx="1143000" cy="53466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" name="Rectangle 44"/>
          <p:cNvSpPr>
            <a:spLocks noChangeArrowheads="1"/>
          </p:cNvSpPr>
          <p:nvPr/>
        </p:nvSpPr>
        <p:spPr bwMode="auto">
          <a:xfrm>
            <a:off x="2019300" y="2054674"/>
            <a:ext cx="1143000" cy="674686"/>
          </a:xfrm>
          <a:prstGeom prst="rect">
            <a:avLst/>
          </a:prstGeom>
          <a:solidFill>
            <a:srgbClr val="DDDDDD"/>
          </a:solidFill>
          <a:ln w="57150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800100" y="5305869"/>
            <a:ext cx="1143000" cy="834583"/>
            <a:chOff x="4127500" y="5518076"/>
            <a:chExt cx="1143000" cy="677307"/>
          </a:xfrm>
        </p:grpSpPr>
        <p:sp>
          <p:nvSpPr>
            <p:cNvPr id="53" name="Text Box 46"/>
            <p:cNvSpPr txBox="1">
              <a:spLocks noChangeArrowheads="1"/>
            </p:cNvSpPr>
            <p:nvPr/>
          </p:nvSpPr>
          <p:spPr bwMode="auto">
            <a:xfrm>
              <a:off x="4178300" y="5726470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400" dirty="0">
                  <a:latin typeface="Helvetica" charset="0"/>
                  <a:cs typeface="+mn-cs"/>
                </a:rPr>
                <a:t>process 11</a:t>
              </a:r>
            </a:p>
          </p:txBody>
        </p:sp>
        <p:sp>
          <p:nvSpPr>
            <p:cNvPr id="54" name="Rectangle 44"/>
            <p:cNvSpPr>
              <a:spLocks noChangeArrowheads="1"/>
            </p:cNvSpPr>
            <p:nvPr/>
          </p:nvSpPr>
          <p:spPr bwMode="auto">
            <a:xfrm>
              <a:off x="4127500" y="5518076"/>
              <a:ext cx="1143000" cy="6773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55" name="Rectangle 44"/>
          <p:cNvSpPr>
            <a:spLocks noChangeArrowheads="1"/>
          </p:cNvSpPr>
          <p:nvPr/>
        </p:nvSpPr>
        <p:spPr bwMode="auto">
          <a:xfrm>
            <a:off x="2019300" y="5394773"/>
            <a:ext cx="1143000" cy="584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55350" y="560964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55350" y="4901407"/>
            <a:ext cx="31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9" name="Rectangle 44"/>
          <p:cNvSpPr>
            <a:spLocks noChangeArrowheads="1"/>
          </p:cNvSpPr>
          <p:nvPr/>
        </p:nvSpPr>
        <p:spPr bwMode="auto">
          <a:xfrm>
            <a:off x="2019300" y="2740474"/>
            <a:ext cx="1143000" cy="674686"/>
          </a:xfrm>
          <a:prstGeom prst="rect">
            <a:avLst/>
          </a:prstGeom>
          <a:solidFill>
            <a:srgbClr val="DDDDDD"/>
          </a:solidFill>
          <a:ln w="57150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0" name="Rectangle 44"/>
          <p:cNvSpPr>
            <a:spLocks noChangeArrowheads="1"/>
          </p:cNvSpPr>
          <p:nvPr/>
        </p:nvSpPr>
        <p:spPr bwMode="auto">
          <a:xfrm>
            <a:off x="2019300" y="3426274"/>
            <a:ext cx="1143000" cy="674686"/>
          </a:xfrm>
          <a:prstGeom prst="rect">
            <a:avLst/>
          </a:prstGeom>
          <a:solidFill>
            <a:srgbClr val="DDDDDD"/>
          </a:solidFill>
          <a:ln w="57150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1" name="Rectangle 44"/>
          <p:cNvSpPr>
            <a:spLocks noChangeArrowheads="1"/>
          </p:cNvSpPr>
          <p:nvPr/>
        </p:nvSpPr>
        <p:spPr bwMode="auto">
          <a:xfrm>
            <a:off x="2019300" y="4112074"/>
            <a:ext cx="1143000" cy="674686"/>
          </a:xfrm>
          <a:prstGeom prst="rect">
            <a:avLst/>
          </a:prstGeom>
          <a:solidFill>
            <a:srgbClr val="DDDDDD"/>
          </a:solidFill>
          <a:ln w="57150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2" name="Rectangle 44"/>
          <p:cNvSpPr>
            <a:spLocks noChangeArrowheads="1"/>
          </p:cNvSpPr>
          <p:nvPr/>
        </p:nvSpPr>
        <p:spPr bwMode="auto">
          <a:xfrm>
            <a:off x="2019300" y="4797874"/>
            <a:ext cx="1143000" cy="674686"/>
          </a:xfrm>
          <a:prstGeom prst="rect">
            <a:avLst/>
          </a:prstGeom>
          <a:solidFill>
            <a:srgbClr val="DDDDDD"/>
          </a:solidFill>
          <a:ln w="57150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3" name="Rectangle 44"/>
          <p:cNvSpPr>
            <a:spLocks noChangeArrowheads="1"/>
          </p:cNvSpPr>
          <p:nvPr/>
        </p:nvSpPr>
        <p:spPr bwMode="auto">
          <a:xfrm>
            <a:off x="2019300" y="5483674"/>
            <a:ext cx="1143000" cy="674686"/>
          </a:xfrm>
          <a:prstGeom prst="rect">
            <a:avLst/>
          </a:prstGeom>
          <a:solidFill>
            <a:srgbClr val="DDDDDD"/>
          </a:solidFill>
          <a:ln w="57150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255350" y="4202907"/>
            <a:ext cx="348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5350" y="3504407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55350" y="28059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5350" y="2107407"/>
            <a:ext cx="292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47" name="Text Box 37"/>
          <p:cNvSpPr txBox="1">
            <a:spLocks noChangeArrowheads="1"/>
          </p:cNvSpPr>
          <p:nvPr/>
        </p:nvSpPr>
        <p:spPr bwMode="auto">
          <a:xfrm>
            <a:off x="2032000" y="2767461"/>
            <a:ext cx="11049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>
                <a:latin typeface="Helvetica" charset="0"/>
                <a:cs typeface="+mn-cs"/>
              </a:rPr>
              <a:t>process 5</a:t>
            </a:r>
          </a:p>
        </p:txBody>
      </p:sp>
      <p:sp>
        <p:nvSpPr>
          <p:cNvPr id="48" name="Text Box 39"/>
          <p:cNvSpPr txBox="1">
            <a:spLocks noChangeArrowheads="1"/>
          </p:cNvSpPr>
          <p:nvPr/>
        </p:nvSpPr>
        <p:spPr bwMode="auto">
          <a:xfrm>
            <a:off x="2070100" y="5500241"/>
            <a:ext cx="10668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>
                <a:latin typeface="Helvetica" charset="0"/>
                <a:cs typeface="+mn-cs"/>
              </a:rPr>
              <a:t>process 2</a:t>
            </a:r>
          </a:p>
        </p:txBody>
      </p:sp>
      <p:sp>
        <p:nvSpPr>
          <p:cNvPr id="50" name="Text Box 46"/>
          <p:cNvSpPr txBox="1">
            <a:spLocks noChangeArrowheads="1"/>
          </p:cNvSpPr>
          <p:nvPr/>
        </p:nvSpPr>
        <p:spPr bwMode="auto">
          <a:xfrm>
            <a:off x="2057400" y="4128628"/>
            <a:ext cx="1066800" cy="6309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>
                <a:latin typeface="Helvetica" charset="0"/>
                <a:cs typeface="+mn-cs"/>
              </a:rPr>
              <a:t>process 10</a:t>
            </a:r>
          </a:p>
          <a:p>
            <a:pPr algn="ctr">
              <a:spcBef>
                <a:spcPct val="50000"/>
              </a:spcBef>
              <a:defRPr/>
            </a:pPr>
            <a:endParaRPr lang="en-US" sz="1400" dirty="0">
              <a:latin typeface="Helvetica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699655"/>
      </p:ext>
    </p:extLst>
  </p:cSld>
  <p:clrMapOvr>
    <a:masterClrMapping/>
  </p:clrMapOvr>
</p:sld>
</file>

<file path=ppt/theme/theme1.xml><?xml version="1.0" encoding="utf-8"?>
<a:theme xmlns:a="http://schemas.openxmlformats.org/drawingml/2006/main" name="WM_SlideTemplateA_Template">
  <a:themeElements>
    <a:clrScheme name="Custom 1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004065"/>
      </a:accent1>
      <a:accent2>
        <a:srgbClr val="9593B9"/>
      </a:accent2>
      <a:accent3>
        <a:srgbClr val="DEC258"/>
      </a:accent3>
      <a:accent4>
        <a:srgbClr val="96CBB2"/>
      </a:accent4>
      <a:accent5>
        <a:srgbClr val="88A8C2"/>
      </a:accent5>
      <a:accent6>
        <a:srgbClr val="E2BBA2"/>
      </a:accent6>
      <a:hlink>
        <a:srgbClr val="6A938A"/>
      </a:hlink>
      <a:folHlink>
        <a:srgbClr val="B2B2B2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uburn_ExampleSlides_OptionA_Demo_ML" id="{4F358B03-E485-B847-841D-66421C1D2BD5}" vid="{44E32B64-2C70-EB4E-B445-56D689BF2F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Auburn_ExampleSlides_OptionA_Template</Template>
  <TotalTime>39743</TotalTime>
  <Words>3123</Words>
  <Application>Microsoft Macintosh PowerPoint</Application>
  <PresentationFormat>On-screen Show (4:3)</PresentationFormat>
  <Paragraphs>639</Paragraphs>
  <Slides>52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5" baseType="lpstr">
      <vt:lpstr>HGｺﾞｼｯｸE</vt:lpstr>
      <vt:lpstr>ＭＳ Ｐゴシック</vt:lpstr>
      <vt:lpstr>Apple Braille</vt:lpstr>
      <vt:lpstr>Arial</vt:lpstr>
      <vt:lpstr>Calibri</vt:lpstr>
      <vt:lpstr>Century Gothic</vt:lpstr>
      <vt:lpstr>Gill Sans MT</vt:lpstr>
      <vt:lpstr>Helvetica</vt:lpstr>
      <vt:lpstr>Questrial</vt:lpstr>
      <vt:lpstr>Symbol</vt:lpstr>
      <vt:lpstr>Wingdings</vt:lpstr>
      <vt:lpstr>Wingdings 2</vt:lpstr>
      <vt:lpstr>WM_SlideTemplateA_Template</vt:lpstr>
      <vt:lpstr> Memory Management (Main Memory)</vt:lpstr>
      <vt:lpstr>PowerPoint Presentation</vt:lpstr>
      <vt:lpstr>Memory Management Objectives</vt:lpstr>
      <vt:lpstr>What Does a Programmer Want?</vt:lpstr>
      <vt:lpstr>The Illusion Starts with Two Spaces</vt:lpstr>
      <vt:lpstr>Logical and Physical addresses Relationships</vt:lpstr>
      <vt:lpstr>Example of Dynamic Translation Logical To Physical</vt:lpstr>
      <vt:lpstr>Example of Dynamic Translation Logical To Physical</vt:lpstr>
      <vt:lpstr>Lifetime of User Program </vt:lpstr>
      <vt:lpstr>Lifetime of User Program </vt:lpstr>
      <vt:lpstr>When to Bind Instructions and Data to Memory</vt:lpstr>
      <vt:lpstr>More About Logical vs. Physical Address Space</vt:lpstr>
      <vt:lpstr>Contiguous Allocation</vt:lpstr>
      <vt:lpstr>Contiguous Allocation</vt:lpstr>
      <vt:lpstr>Contiguous Allocation (Cont.)</vt:lpstr>
      <vt:lpstr>Contiguous Allocation (Cont.)</vt:lpstr>
      <vt:lpstr>Dynamic Storage-Allocation Problem</vt:lpstr>
      <vt:lpstr>Evaluating Contiguous Placement Strategies</vt:lpstr>
      <vt:lpstr>Fragmentation</vt:lpstr>
      <vt:lpstr>What Memory Management Strategy to Choose?</vt:lpstr>
      <vt:lpstr>What To Do To Have Flexibility and Avoid Compaction?</vt:lpstr>
      <vt:lpstr>How To Keep Track of the Small “Pieces”?</vt:lpstr>
      <vt:lpstr>How To Keep Track of the Small “Pieces”?</vt:lpstr>
      <vt:lpstr>Paging</vt:lpstr>
      <vt:lpstr>Paging</vt:lpstr>
      <vt:lpstr>Example 2: Paging Model of Logical and Physical Memory</vt:lpstr>
      <vt:lpstr>Address Translation Scheme: How to Translate?</vt:lpstr>
      <vt:lpstr>Address Translation Scheme: How to Translate?</vt:lpstr>
      <vt:lpstr>PowerPoint Presentation</vt:lpstr>
      <vt:lpstr>PowerPoint Presentation</vt:lpstr>
      <vt:lpstr>Implementation of Page Table</vt:lpstr>
      <vt:lpstr>Benefits and Drawbacks of Paging</vt:lpstr>
      <vt:lpstr>Paging Address Translation Example</vt:lpstr>
      <vt:lpstr>Example 1</vt:lpstr>
      <vt:lpstr>Example 1I</vt:lpstr>
      <vt:lpstr>Valid/Invalid Entry</vt:lpstr>
      <vt:lpstr>Valid (v) or Invalid (i) Bit In A Page Table</vt:lpstr>
      <vt:lpstr>Paging Time Overhead</vt:lpstr>
      <vt:lpstr>Improving Access Time for Paging</vt:lpstr>
      <vt:lpstr>Paging Hardware With TLB</vt:lpstr>
      <vt:lpstr>Paging Hardware With TLB</vt:lpstr>
      <vt:lpstr>Effective (Average) Access Time</vt:lpstr>
      <vt:lpstr>Page Table Overhead</vt:lpstr>
      <vt:lpstr>Improving Space Overhead for Paging</vt:lpstr>
      <vt:lpstr>Inverted Page Table</vt:lpstr>
      <vt:lpstr>Inverted Page Table Architecture</vt:lpstr>
      <vt:lpstr>Segmentation</vt:lpstr>
      <vt:lpstr>Segmentation</vt:lpstr>
      <vt:lpstr>User’s View of a Program</vt:lpstr>
      <vt:lpstr>Logical View of Segmentation</vt:lpstr>
      <vt:lpstr>Wrap Up</vt:lpstr>
      <vt:lpstr>PowerPoint Presentation</vt:lpstr>
    </vt:vector>
  </TitlesOfParts>
  <Company>Auburn University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 Basics: Understanding the Computer’s Language 0s and 1s  </dc:title>
  <dc:creator>Saad Biaz</dc:creator>
  <cp:lastModifiedBy>Saad Biaz</cp:lastModifiedBy>
  <cp:revision>1163</cp:revision>
  <cp:lastPrinted>2018-05-18T14:00:12Z</cp:lastPrinted>
  <dcterms:created xsi:type="dcterms:W3CDTF">2017-11-05T19:40:43Z</dcterms:created>
  <dcterms:modified xsi:type="dcterms:W3CDTF">2021-09-23T17:16:51Z</dcterms:modified>
</cp:coreProperties>
</file>